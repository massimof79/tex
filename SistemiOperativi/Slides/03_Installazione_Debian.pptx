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notesMasterIdLst>
    <p:notesMasterId r:id="rId3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-731520"/>
            <a:ext cx="3657600" cy="3657600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0" y="2286000"/>
            <a:ext cx="2286000" cy="2286000"/>
          </a:xfrm>
          <a:prstGeom prst="ellipse">
            <a:avLst/>
          </a:prstGeom>
          <a:solidFill>
            <a:srgbClr val="112233"/>
          </a:solidFill>
          <a:ln w="12700">
            <a:solidFill>
              <a:srgbClr val="1122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132320" y="548640"/>
            <a:ext cx="1645920" cy="1645920"/>
          </a:xfrm>
          <a:prstGeom prst="ellipse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78040" y="594360"/>
            <a:ext cx="16459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dirty="0">
                <a:solidFill>
                  <a:srgbClr val="000000"/>
                </a:solidFill>
              </a:rPr>
              <a:t>🐞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365760" y="91440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Installazione di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365760" y="1417320"/>
            <a:ext cx="6858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Debian GNU/Linux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365760" y="2743200"/>
            <a:ext cx="6400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Guida all'avvio del sistema d'installazione</a:t>
            </a:r>
            <a:endParaRPr lang="en-US" sz="1600" dirty="0"/>
          </a:p>
          <a:p>
            <a:pPr indent="0" marL="0">
              <a:buNone/>
            </a:pPr>
            <a:r>
              <a:rPr lang="en-US" sz="1600" i="1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all'uso dell'Installatore Debian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65760" y="4114800"/>
            <a:ext cx="2286000" cy="36576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4096512"/>
            <a:ext cx="8229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IIS Fermi Sacconi Ceci — Ascoli Piceno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411480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97280"/>
            <a:ext cx="502920" cy="77724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097280"/>
            <a:ext cx="502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41248" y="1143000"/>
            <a:ext cx="3383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Avvio del sistema d'installazione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663440" y="1097280"/>
            <a:ext cx="411480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63440" y="1097280"/>
            <a:ext cx="502920" cy="777240"/>
          </a:xfrm>
          <a:prstGeom prst="rect">
            <a:avLst/>
          </a:prstGeom>
          <a:solidFill>
            <a:srgbClr val="006064"/>
          </a:solidFill>
          <a:ln w="12700">
            <a:solidFill>
              <a:srgbClr val="00606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63440" y="1097280"/>
            <a:ext cx="502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230368" y="1143000"/>
            <a:ext cx="3383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Accessibilità e parametri di avvio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74320" y="2057400"/>
            <a:ext cx="411480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2057400"/>
            <a:ext cx="502920" cy="77724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" y="2057400"/>
            <a:ext cx="502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41248" y="2103120"/>
            <a:ext cx="3383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Risoluzione dei problemi di avvio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663440" y="2057400"/>
            <a:ext cx="411480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63440" y="2057400"/>
            <a:ext cx="502920" cy="77724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63440" y="2057400"/>
            <a:ext cx="502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230368" y="2103120"/>
            <a:ext cx="3383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 dell'Installatore Debian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274320" y="3017520"/>
            <a:ext cx="411480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74320" y="3017520"/>
            <a:ext cx="502920" cy="777240"/>
          </a:xfrm>
          <a:prstGeom prst="rect">
            <a:avLst/>
          </a:prstGeom>
          <a:solidFill>
            <a:srgbClr val="006064"/>
          </a:solidFill>
          <a:ln w="12700">
            <a:solidFill>
              <a:srgbClr val="00606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" y="3017520"/>
            <a:ext cx="502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41248" y="3063240"/>
            <a:ext cx="3383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Partizionamento e storage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663440" y="3017520"/>
            <a:ext cx="411480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663440" y="3017520"/>
            <a:ext cx="502920" cy="77724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63440" y="3017520"/>
            <a:ext cx="502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230368" y="3063240"/>
            <a:ext cx="3383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Installazione sistema base e software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274320" y="3977640"/>
            <a:ext cx="411480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274320" y="3977640"/>
            <a:ext cx="502920" cy="77724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74320" y="3977640"/>
            <a:ext cx="502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841248" y="4023360"/>
            <a:ext cx="3383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Rete, boot loader e firmware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4663440" y="3977640"/>
            <a:ext cx="411480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663440" y="3977640"/>
            <a:ext cx="502920" cy="777240"/>
          </a:xfrm>
          <a:prstGeom prst="rect">
            <a:avLst/>
          </a:prstGeom>
          <a:solidFill>
            <a:srgbClr val="006064"/>
          </a:solidFill>
          <a:ln w="12700">
            <a:solidFill>
              <a:srgbClr val="00606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663440" y="3977640"/>
            <a:ext cx="502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5230368" y="4023360"/>
            <a:ext cx="3383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Completamento e personalizzazione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Cap. 5 — Avvio del Sistema d'Installazione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5029200" cy="3566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097280"/>
            <a:ext cx="4663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Avvio dell'Installatore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1600200"/>
            <a:ext cx="46634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L'installatore Debian si avvia da supporto ottico, chiavetta USB o rete
</a:t>
            </a:r>
            <a:pPr indent="0" marL="0">
              <a:buNone/>
            </a:pPr>
            <a:r>
              <a:rPr lang="en-US" sz="13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Architettura supportata: MIPS 32-bit little endian (e molte altre)
</a:t>
            </a:r>
            <a:pPr indent="0" marL="0">
              <a:buNone/>
            </a:pPr>
            <a:r>
              <a:rPr lang="en-US" sz="13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sistema d'installazione usa componenti modulari
</a:t>
            </a:r>
            <a:pPr indent="0" marL="0">
              <a:buNone/>
            </a:pPr>
            <a:r>
              <a:rPr lang="en-US" sz="13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L'installatore fa domande prioritizzate: alta priorità → poche domande
</a:t>
            </a:r>
            <a:pPr indent="0" marL="0">
              <a:buNone/>
            </a:pPr>
            <a:r>
              <a:rPr lang="en-US" sz="13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Valore predefinito: priority=high (solo messaggi essenziali)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577840" y="1005840"/>
            <a:ext cx="3291840" cy="3566160"/>
          </a:xfrm>
          <a:prstGeom prst="rect">
            <a:avLst/>
          </a:prstGeom>
          <a:solidFill>
            <a:srgbClr val="1B2A4A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669280" y="109728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Metodi di avvio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715000" y="1645920"/>
            <a:ext cx="384048" cy="384048"/>
          </a:xfrm>
          <a:prstGeom prst="ellipse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715000" y="162763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💿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172200" y="1600200"/>
            <a:ext cx="2560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 / DVD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715000" y="2212848"/>
            <a:ext cx="384048" cy="384048"/>
          </a:xfrm>
          <a:prstGeom prst="ellipse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715000" y="21945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🖬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172200" y="2167128"/>
            <a:ext cx="2560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Chiavetta USB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715000" y="2779776"/>
            <a:ext cx="384048" cy="384048"/>
          </a:xfrm>
          <a:prstGeom prst="ellipse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715000" y="276148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🌐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172200" y="2734056"/>
            <a:ext cx="2560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(PXE)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715000" y="3346704"/>
            <a:ext cx="384048" cy="384048"/>
          </a:xfrm>
          <a:prstGeom prst="ellipse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715000" y="332841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💾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172200" y="3300984"/>
            <a:ext cx="2560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Disk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715000" y="3913632"/>
            <a:ext cx="384048" cy="384048"/>
          </a:xfrm>
          <a:prstGeom prst="ellipse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715000" y="389534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🔧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172200" y="3867912"/>
            <a:ext cx="2560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Modalità esperto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6064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Accessibilità — Funzionalità per utenti con disabilità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283464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05840"/>
            <a:ext cx="2834640" cy="4572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24128"/>
            <a:ext cx="26517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🖥️  Interfacce UI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1508760"/>
            <a:ext cx="26517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newt — riquadri di dialogo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testuali (con braille)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— solo testo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(con sintesi vocale)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gtk — interfaccia grafica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(sole architetture supportate)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246120" y="1005840"/>
            <a:ext cx="283464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46120" y="1005840"/>
            <a:ext cx="2834640" cy="457200"/>
          </a:xfrm>
          <a:prstGeom prst="rect">
            <a:avLst/>
          </a:prstGeom>
          <a:solidFill>
            <a:srgbClr val="006064"/>
          </a:solidFill>
          <a:ln w="12700">
            <a:solidFill>
              <a:srgbClr val="00606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37560" y="1024128"/>
            <a:ext cx="26517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Contrasto &amp; Zoom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337560" y="1508760"/>
            <a:ext cx="26517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Tema ad alto contrasto: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theme=dark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Tasto 'd' nel menu di avvio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Zoom: Ctrl+  /  Ctrl-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nell'installatore grafico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217920" y="1005840"/>
            <a:ext cx="283464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217920" y="1005840"/>
            <a:ext cx="2834640" cy="45720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09360" y="1024128"/>
            <a:ext cx="26517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🔊  Sintesi vocale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309360" y="1508760"/>
            <a:ext cx="26517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Disponibile in modalità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esperto (tasto 's')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BIOS: confermare con Invio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UEFI: nessuna conferma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richiesta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274320" y="2880360"/>
            <a:ext cx="283464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2880360"/>
            <a:ext cx="2834640" cy="45720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898648"/>
            <a:ext cx="26517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⌨️  Dispositivi speciali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65760" y="3383280"/>
            <a:ext cx="26517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Schede di lettura dalla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memoria video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Disabilitare framebuffer: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fb=false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Riduce lingue disponibili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3246120" y="2880360"/>
            <a:ext cx="283464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46120" y="2880360"/>
            <a:ext cx="2834640" cy="4572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37560" y="2898648"/>
            <a:ext cx="26517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Modalità avanzate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337560" y="3383280"/>
            <a:ext cx="26517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Esperto: tasto 'x'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Ripristino: tasto 'r'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Automatizzata: tasto 'a'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(preconfigurazione)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217920" y="2880360"/>
            <a:ext cx="283464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217920" y="2880360"/>
            <a:ext cx="2834640" cy="457200"/>
          </a:xfrm>
          <a:prstGeom prst="rect">
            <a:avLst/>
          </a:prstGeom>
          <a:solidFill>
            <a:srgbClr val="006064"/>
          </a:solidFill>
          <a:ln w="12700">
            <a:solidFill>
              <a:srgbClr val="00606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09360" y="2898648"/>
            <a:ext cx="26517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Navigazione tastiera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309360" y="3383280"/>
            <a:ext cx="26517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 / Shift-Tab: elementi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Frecce: selezione lista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Invio: conferma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Space: caselle di controllo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Parametri di Avvio — Panoramica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96012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parametri di avvio sono opzioni passate al kernel Linux per controllare il processo d'installazione.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74320" y="1463040"/>
            <a:ext cx="4114800" cy="621792"/>
          </a:xfrm>
          <a:prstGeom prst="rect">
            <a:avLst/>
          </a:prstGeom>
          <a:solidFill>
            <a:srgbClr val="E3F2FD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4048" y="148132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565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priority=high|medium|low|critical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84048" y="175564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Livello di interattività dell'installazione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09160" y="1463040"/>
            <a:ext cx="4114800" cy="621792"/>
          </a:xfrm>
          <a:prstGeom prst="rect">
            <a:avLst/>
          </a:prstGeom>
          <a:solidFill>
            <a:srgbClr val="E3F2FD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18888" y="148132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565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DEBIAN_FRONTEND=newt|text|gtk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818888" y="175564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 di interfaccia utente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74320" y="2167128"/>
            <a:ext cx="4114800" cy="621792"/>
          </a:xfrm>
          <a:prstGeom prst="rect">
            <a:avLst/>
          </a:prstGeom>
          <a:solidFill>
            <a:srgbClr val="ECEFF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4048" y="2185416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565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BOOT_DEBUG=0|1|2|3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84048" y="2459736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Verbosità del processo di avvio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709160" y="2167128"/>
            <a:ext cx="4114800" cy="621792"/>
          </a:xfrm>
          <a:prstGeom prst="rect">
            <a:avLst/>
          </a:prstGeom>
          <a:solidFill>
            <a:srgbClr val="ECEFF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18888" y="2185416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565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log_host / log_port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818888" y="2459736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remoto su host specificato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74320" y="2871216"/>
            <a:ext cx="4114800" cy="621792"/>
          </a:xfrm>
          <a:prstGeom prst="rect">
            <a:avLst/>
          </a:prstGeom>
          <a:solidFill>
            <a:srgbClr val="E3F2FD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84048" y="2889504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565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lowmem=1|2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84048" y="3163824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Forza modalità bassa memoria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09160" y="2871216"/>
            <a:ext cx="4114800" cy="621792"/>
          </a:xfrm>
          <a:prstGeom prst="rect">
            <a:avLst/>
          </a:prstGeom>
          <a:solidFill>
            <a:srgbClr val="E3F2FD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18888" y="2889504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565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noshell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818888" y="3163824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Disabilita shell interattive (tty2/tty3)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74320" y="3575304"/>
            <a:ext cx="4114800" cy="621792"/>
          </a:xfrm>
          <a:prstGeom prst="rect">
            <a:avLst/>
          </a:prstGeom>
          <a:solidFill>
            <a:srgbClr val="ECEFF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84048" y="359359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565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fb=false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384048" y="386791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Disabilita framebuffer del kernel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709160" y="3575304"/>
            <a:ext cx="4114800" cy="621792"/>
          </a:xfrm>
          <a:prstGeom prst="rect">
            <a:avLst/>
          </a:prstGeom>
          <a:solidFill>
            <a:srgbClr val="ECEFF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18888" y="359359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565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theme=dark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818888" y="386791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Tema scuro per utenti ipovedenti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274320" y="4279392"/>
            <a:ext cx="4114800" cy="621792"/>
          </a:xfrm>
          <a:prstGeom prst="rect">
            <a:avLst/>
          </a:prstGeom>
          <a:solidFill>
            <a:srgbClr val="E3F2FD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84048" y="429768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565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netcfg/disable_autoconfig=true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384048" y="457200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Forza configurazione rete manuale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709160" y="4279392"/>
            <a:ext cx="4114800" cy="621792"/>
          </a:xfrm>
          <a:prstGeom prst="rect">
            <a:avLst/>
          </a:prstGeom>
          <a:solidFill>
            <a:srgbClr val="E3F2FD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18888" y="429768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565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rescue/enable=true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4818888" y="457200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Avvia in modalità di ripristino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DEBIAN_FRONTEND — Interfacce dell'Installatore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859536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51560"/>
            <a:ext cx="73152" cy="86868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252728"/>
            <a:ext cx="457200" cy="45720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2527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📦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60120" y="1097280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65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DEBIAN_FRONTEND=newt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60120" y="1490472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Interfaccia predefinita con riquadri di dialogo testuali. Usata con display braille. Navigazione con tasti freccia e Tab.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852160" y="1234440"/>
            <a:ext cx="2834640" cy="502920"/>
          </a:xfrm>
          <a:prstGeom prst="rect">
            <a:avLst/>
          </a:prstGeom>
          <a:solidFill>
            <a:srgbClr val="ECEFF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0" y="1252728"/>
            <a:ext cx="265176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Quando: Default — la maggior parte delle installazioni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74320" y="2039112"/>
            <a:ext cx="859536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2039112"/>
            <a:ext cx="73152" cy="868680"/>
          </a:xfrm>
          <a:prstGeom prst="rect">
            <a:avLst/>
          </a:prstGeom>
          <a:solidFill>
            <a:srgbClr val="006064"/>
          </a:solidFill>
          <a:ln w="12700">
            <a:solidFill>
              <a:srgbClr val="00606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11480" y="2240280"/>
            <a:ext cx="457200" cy="457200"/>
          </a:xfrm>
          <a:prstGeom prst="ellipse">
            <a:avLst/>
          </a:prstGeom>
          <a:solidFill>
            <a:srgbClr val="006064"/>
          </a:solidFill>
          <a:ln w="12700">
            <a:solidFill>
              <a:srgbClr val="00606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2240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📝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60120" y="2084832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60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DEBIAN_FRONTEND=text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960120" y="2478024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Interfaccia a testo semplice. Preferita con sintesi vocale. Selezione tramite numero o frecce.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852160" y="2221992"/>
            <a:ext cx="2834640" cy="502920"/>
          </a:xfrm>
          <a:prstGeom prst="rect">
            <a:avLst/>
          </a:prstGeom>
          <a:solidFill>
            <a:srgbClr val="ECEFF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43600" y="2240280"/>
            <a:ext cx="265176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Quando: Console seriale, accessibilità vocale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274320" y="3026664"/>
            <a:ext cx="859536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74320" y="3026664"/>
            <a:ext cx="73152" cy="86868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11480" y="3227832"/>
            <a:ext cx="457200" cy="457200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1480" y="32278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🖼️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960120" y="3072384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89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DEBIAN_FRONTEND=gtk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960120" y="3465576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Interfaccia grafica completa. Disponibile solo su architetture con supporto grafico.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5852160" y="3209544"/>
            <a:ext cx="2834640" cy="502920"/>
          </a:xfrm>
          <a:prstGeom prst="rect">
            <a:avLst/>
          </a:prstGeom>
          <a:solidFill>
            <a:srgbClr val="ECEFF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43600" y="3227832"/>
            <a:ext cx="265176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Quando: Installazioni grafiche (x86, amd64)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274320" y="4014216"/>
            <a:ext cx="859536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274320" y="4014216"/>
            <a:ext cx="73152" cy="86868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11480" y="4215384"/>
            <a:ext cx="457200" cy="457200"/>
          </a:xfrm>
          <a:prstGeom prst="ellipse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11480" y="421538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🤖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960120" y="4059936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51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DEBIAN_FRONTEND=noninteractive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960120" y="4453128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Nessuna interazione utente. Usata per installazioni completamente automatizzate con preconfigurazione.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5852160" y="4197096"/>
            <a:ext cx="2834640" cy="502920"/>
          </a:xfrm>
          <a:prstGeom prst="rect">
            <a:avLst/>
          </a:prstGeom>
          <a:solidFill>
            <a:srgbClr val="ECEFF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943600" y="4215384"/>
            <a:ext cx="265176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Quando: Automazione, preconfigurazione (preseed)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6064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Avvio da Console Seriale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100584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installare su sistemi senza monitor, è possibile usare una console seriale.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463040"/>
            <a:ext cx="8412480" cy="1371600"/>
          </a:xfrm>
          <a:prstGeom prst="rect">
            <a:avLst/>
          </a:prstGeom>
          <a:solidFill>
            <a:srgbClr val="0A0E1A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508760"/>
            <a:ext cx="80467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BC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Parametro per console seriale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0BC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console=ttyS0,9600n8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0BC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Velocità comuni: 57600, 115200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0BC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console=ttyS0,115200n8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3017520"/>
            <a:ext cx="8412480" cy="566928"/>
          </a:xfrm>
          <a:prstGeom prst="rect">
            <a:avLst/>
          </a:prstGeom>
          <a:solidFill>
            <a:srgbClr val="1A2A3A"/>
          </a:solidFill>
          <a:ln w="12700">
            <a:solidFill>
              <a:srgbClr val="2A3A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3035808"/>
            <a:ext cx="20116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Tipo terminale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2651760" y="3063240"/>
            <a:ext cx="5943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Usare TERM=vt102 per compatibilità. L'installatore supporta: linux, bterm, ansi, vt102, dumb.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3675888"/>
            <a:ext cx="8412480" cy="566928"/>
          </a:xfrm>
          <a:prstGeom prst="rect">
            <a:avLst/>
          </a:prstGeom>
          <a:solidFill>
            <a:srgbClr val="1A2A3A"/>
          </a:solidFill>
          <a:ln w="12700">
            <a:solidFill>
              <a:srgbClr val="2A3A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3694176"/>
            <a:ext cx="20116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🔌  Posizione parametro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2651760" y="3721608"/>
            <a:ext cx="5943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Inserire il parametro console= DOPO '---' nella riga di avvio per copiarlo nel boot loader finale.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4334256"/>
            <a:ext cx="8412480" cy="566928"/>
          </a:xfrm>
          <a:prstGeom prst="rect">
            <a:avLst/>
          </a:prstGeom>
          <a:solidFill>
            <a:srgbClr val="1A2A3A"/>
          </a:solidFill>
          <a:ln w="12700">
            <a:solidFill>
              <a:srgbClr val="2A3A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4352544"/>
            <a:ext cx="20116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📺  QEMU/KVM e IPMI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2651760" y="4379976"/>
            <a:ext cx="5943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Potrebbero non fare conversione terminale automatica. Usare una sessione screen per tradurre il tipo terminale.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Risoluzione Problemi — Supporto Ottico e Avvio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4114800" cy="3749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05840"/>
            <a:ext cx="4114800" cy="438912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24128"/>
            <a:ext cx="3931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Problemi comuni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536192"/>
            <a:ext cx="374904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CD/DVD non riconosciuto dopo il boot
</a:t>
            </a:r>
            <a:pPr indent="0" marL="0">
              <a:buNone/>
            </a:pP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Lettori CD-ROM vecchi: problemi con DMA
</a:t>
            </a:r>
            <a:pPr indent="0" marL="0">
              <a:buNone/>
            </a:pP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CD masterizzati ad alta velocità incompatibili
</a:t>
            </a:r>
            <a:pPr indent="0" marL="0">
              <a:buNone/>
            </a:pP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Immagine ISO corrotta (checksum errato)
</a:t>
            </a:r>
            <a:pPr indent="0" marL="0">
              <a:buNone/>
            </a:pP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BIOS/UEFI non configurato per boot da ottico
</a:t>
            </a:r>
            <a:pPr indent="0" marL="0">
              <a:buNone/>
            </a:pP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Driver controller non caricato
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663440" y="1005840"/>
            <a:ext cx="4206240" cy="3749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63440" y="1005840"/>
            <a:ext cx="4206240" cy="438912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0" y="1024128"/>
            <a:ext cx="4023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Soluzioni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754880" y="1536192"/>
            <a:ext cx="320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102352" y="1536192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Verificare che il disco sia inserito e pulito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754880" y="1993392"/>
            <a:ext cx="320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102352" y="1993392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Usare 'Rilevare ed eseguire il mount' una seconda volta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754880" y="2450592"/>
            <a:ext cx="320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102352" y="2450592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Verificare checksum MD5 dell'immagine ISO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754880" y="2907792"/>
            <a:ext cx="320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102352" y="2907792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Disabilitare DMA: echo -n "using_dma:0" &gt;settings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754880" y="3364992"/>
            <a:ext cx="320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102352" y="3364992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Controllare /var/log/syslog e output dmesg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754880" y="3822192"/>
            <a:ext cx="320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102352" y="3822192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Abilitare boot da ottico nel BIOS/UEFI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754880" y="4279392"/>
            <a:ext cx="320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102352" y="4279392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Caricare driver manualmente con modprobe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 Integrità — Checksum MD5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9601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 di avviare l'installazione, verificare sempre l'integrità dell'immagine ISO scaricata.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65760" y="141732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— Verifica immagine ISO su disco: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755648"/>
            <a:ext cx="8412480" cy="658368"/>
          </a:xfrm>
          <a:prstGeom prst="rect">
            <a:avLst/>
          </a:prstGeom>
          <a:solidFill>
            <a:srgbClr val="0A0E1A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783080"/>
            <a:ext cx="80467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D6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md5sum debian-testing-i386-netinst.iso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D6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a20391b12f7ff22ef705cee4059c6b92  debian-testing-i386-netinst.iso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5760" y="2496312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— Verifica del disco masterizzato: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2834640"/>
            <a:ext cx="8412480" cy="1143000"/>
          </a:xfrm>
          <a:prstGeom prst="rect">
            <a:avLst/>
          </a:prstGeom>
          <a:solidFill>
            <a:srgbClr val="0A0E1A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862072"/>
            <a:ext cx="8046720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D6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dd if=/dev/cdrom | \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D6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head -c `stat --format=%s debian-testing-i386-netinst.iso` | \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D6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md5sum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D6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a20391b12f7ff22ef705cee4059c6b92  -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4069080"/>
            <a:ext cx="8412480" cy="594360"/>
          </a:xfrm>
          <a:prstGeom prst="rect">
            <a:avLst/>
          </a:prstGeom>
          <a:solidFill>
            <a:srgbClr val="1A3A1A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4096512"/>
            <a:ext cx="8046720" cy="539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Se i due hash MD5 coincidono, l'immagine è integra e affidabile.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Moduli del Kernel — Parametri e Blacklist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4206240" cy="3749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05840"/>
            <a:ext cx="4206240" cy="43891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024128"/>
            <a:ext cx="3931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Passaggio parametri ai moduli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57200" y="153619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Sintassi: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828800"/>
            <a:ext cx="3840480" cy="502920"/>
          </a:xfrm>
          <a:prstGeom prst="rect">
            <a:avLst/>
          </a:prstGeom>
          <a:solidFill>
            <a:srgbClr val="ECEFF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856232"/>
            <a:ext cx="365760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565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nome_modulo.nome_parametro=valore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57200" y="242316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Esempio — scheda 3Com BNC con IRQ 10: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743200"/>
            <a:ext cx="3840480" cy="502920"/>
          </a:xfrm>
          <a:prstGeom prst="rect">
            <a:avLst/>
          </a:prstGeom>
          <a:solidFill>
            <a:srgbClr val="ECEFF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2770632"/>
            <a:ext cx="365760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565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3c509.xcvr=3 3c509.irq=10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57200" y="333756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parametri vengono propagati automaticamente nella configurazione del sistema installato.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754880" y="1005840"/>
            <a:ext cx="4114800" cy="3749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54880" y="1005840"/>
            <a:ext cx="4114800" cy="438912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92040" y="1024128"/>
            <a:ext cx="3840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🚫  Blacklist moduli kernel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4846320" y="153619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Perché usare la blacklist?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846320" y="1874520"/>
            <a:ext cx="3749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Incompatibilità tra modulo e hardware
</a:t>
            </a:r>
            <a:pPr indent="0" marL="0">
              <a:buNone/>
            </a:pPr>
            <a:r>
              <a:rPr lang="en-US" sz="12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Conflitto tra due driver per lo stesso device
</a:t>
            </a:r>
            <a:pPr indent="0" marL="0">
              <a:buNone/>
            </a:pPr>
            <a:r>
              <a:rPr lang="en-US" sz="12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Caricamento del driver sbagliato per primo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846320" y="297180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Sintassi blacklist: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846320" y="3291840"/>
            <a:ext cx="3840480" cy="502920"/>
          </a:xfrm>
          <a:prstGeom prst="rect">
            <a:avLst/>
          </a:prstGeom>
          <a:solidFill>
            <a:srgbClr val="ECEFF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37760" y="3319272"/>
            <a:ext cx="365760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628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nome_modulo.blacklist=yes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846320" y="388620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Aggiunge il modulo in /etc/modprobe.d/blacklist.local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5486400" cy="5486400"/>
          </a:xfrm>
          <a:prstGeom prst="ellipse">
            <a:avLst/>
          </a:prstGeom>
          <a:solidFill>
            <a:srgbClr val="162040"/>
          </a:solidFill>
          <a:ln w="12700">
            <a:solidFill>
              <a:srgbClr val="1620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0" y="1828800"/>
            <a:ext cx="4572000" cy="4572000"/>
          </a:xfrm>
          <a:prstGeom prst="ellipse">
            <a:avLst/>
          </a:prstGeom>
          <a:solidFill>
            <a:srgbClr val="0D1830"/>
          </a:solidFill>
          <a:ln w="12700">
            <a:solidFill>
              <a:srgbClr val="0D183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3716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CAP. 6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1920240"/>
            <a:ext cx="73152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 dell'Installatore</a:t>
            </a:r>
            <a:endParaRPr lang="en-US" sz="4400" dirty="0"/>
          </a:p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Debian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1371600" y="374904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Componenti, configurazione hardware, rete, partizionamento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6064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Componenti dell'Installatore Debian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41605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47472" y="1005840"/>
            <a:ext cx="4572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📋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68680" y="1024128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565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main-menu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868680" y="1335024"/>
            <a:ext cx="3383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Mostra lista componenti e avvia quello selezionato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4320" y="1810512"/>
            <a:ext cx="4160520" cy="713232"/>
          </a:xfrm>
          <a:prstGeom prst="rect">
            <a:avLst/>
          </a:prstGeom>
          <a:solidFill>
            <a:srgbClr val="E3F2FD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7472" y="1810512"/>
            <a:ext cx="4572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🌍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68680" y="1828800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565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localechooser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868680" y="2139696"/>
            <a:ext cx="3383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Seleziona lingua, nazione e locale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2615184"/>
            <a:ext cx="41605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7472" y="2615184"/>
            <a:ext cx="4572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🔍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68680" y="2633472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565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hw-detect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868680" y="2944368"/>
            <a:ext cx="3383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Rileva automaticamente hardware (rete, dischi, PCMCIA)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4320" y="3419856"/>
            <a:ext cx="4160520" cy="713232"/>
          </a:xfrm>
          <a:prstGeom prst="rect">
            <a:avLst/>
          </a:prstGeom>
          <a:solidFill>
            <a:srgbClr val="E3F2FD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7472" y="3419856"/>
            <a:ext cx="4572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🌐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68680" y="3438144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565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netcfg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868680" y="3749040"/>
            <a:ext cx="3383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 connessioni di rete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74320" y="4224528"/>
            <a:ext cx="41605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7472" y="4224528"/>
            <a:ext cx="4572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💽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868680" y="4242816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565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partman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868680" y="4553712"/>
            <a:ext cx="3383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Partizionamento dischi e creazione filesystem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754880" y="1005840"/>
            <a:ext cx="41605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28032" y="1005840"/>
            <a:ext cx="4572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👤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5349240" y="1024128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565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user-setup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5349240" y="1335024"/>
            <a:ext cx="3383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Imposta password root e crea utente normale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754880" y="1810512"/>
            <a:ext cx="4160520" cy="713232"/>
          </a:xfrm>
          <a:prstGeom prst="rect">
            <a:avLst/>
          </a:prstGeom>
          <a:solidFill>
            <a:srgbClr val="E3F2FD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28032" y="1810512"/>
            <a:ext cx="4572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📦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5349240" y="1828800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565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apt-setup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5349240" y="2139696"/>
            <a:ext cx="3383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 apt e sorgenti dei pacchetti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754880" y="2615184"/>
            <a:ext cx="41605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28032" y="2615184"/>
            <a:ext cx="4572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🎯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5349240" y="2633472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565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pkgsel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5349240" y="2944368"/>
            <a:ext cx="3383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Selezione e installazione pacchetti con tasksel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754880" y="3419856"/>
            <a:ext cx="4160520" cy="713232"/>
          </a:xfrm>
          <a:prstGeom prst="rect">
            <a:avLst/>
          </a:prstGeom>
          <a:solidFill>
            <a:srgbClr val="E3F2FD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28032" y="3419856"/>
            <a:ext cx="4572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🚀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5349240" y="3438144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565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bootloader-installer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5349240" y="3749040"/>
            <a:ext cx="3383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Installa boot loader (GRUB/altro) sul disco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754880" y="4224528"/>
            <a:ext cx="41605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828032" y="4224528"/>
            <a:ext cx="4572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💾</a:t>
            </a:r>
            <a:endParaRPr lang="en-US" sz="1800" dirty="0"/>
          </a:p>
        </p:txBody>
      </p:sp>
      <p:sp>
        <p:nvSpPr>
          <p:cNvPr id="42" name="Text 40"/>
          <p:cNvSpPr/>
          <p:nvPr/>
        </p:nvSpPr>
        <p:spPr>
          <a:xfrm>
            <a:off x="5349240" y="4242816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565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save-logs</a:t>
            </a:r>
            <a:endParaRPr lang="en-US" sz="1150" dirty="0"/>
          </a:p>
        </p:txBody>
      </p:sp>
      <p:sp>
        <p:nvSpPr>
          <p:cNvPr id="43" name="Text 41"/>
          <p:cNvSpPr/>
          <p:nvPr/>
        </p:nvSpPr>
        <p:spPr>
          <a:xfrm>
            <a:off x="5349240" y="4553712"/>
            <a:ext cx="3383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Salva log di installazione per debug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Configurazione Localizzazione e Tastiera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859536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234440"/>
            <a:ext cx="457200" cy="457200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234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🌐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914400" y="1216152"/>
            <a:ext cx="45720" cy="493776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51560" y="1078992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1: Scelta lingua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51560" y="1453896"/>
            <a:ext cx="7680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Nomi in inglese (sx) e lingua originale (dx). Locale 'C' = solo inglese, nessun supporto localizzazione.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8595360" y="123444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274320" y="2029968"/>
            <a:ext cx="859536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2212848"/>
            <a:ext cx="457200" cy="457200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22128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🗺️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914400" y="2194560"/>
            <a:ext cx="45720" cy="493776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51560" y="205740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2: Scelta nazione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51560" y="2432304"/>
            <a:ext cx="7680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Determina fuso orario predefinito e mirror Debian. Se la lingua è ufficiale in più nazioni, viene mostrata lista.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8595360" y="2212848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274320" y="3008376"/>
            <a:ext cx="859536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65760" y="3191256"/>
            <a:ext cx="457200" cy="457200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19125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🔤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914400" y="3172968"/>
            <a:ext cx="45720" cy="493776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51560" y="3035808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3: Scelta locale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51560" y="3410712"/>
            <a:ext cx="7680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Combinazione lingua+nazione. Sempre UTF-8 in default. Con priorità bassa: possibile scegliere locale 'legacy'.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8595360" y="3191256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25" name="Shape 23"/>
          <p:cNvSpPr/>
          <p:nvPr/>
        </p:nvSpPr>
        <p:spPr>
          <a:xfrm>
            <a:off x="274320" y="3986784"/>
            <a:ext cx="859536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65760" y="4169664"/>
            <a:ext cx="457200" cy="457200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16966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⌨️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914400" y="4151376"/>
            <a:ext cx="45720" cy="493776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51560" y="4014216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4: Layout tastiera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051560" y="4389120"/>
            <a:ext cx="7680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Scegliere disposizione corrispondente alla propria tastiera. Modificabile dopo: dpkg-reconfigure keyboard-configuration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8595360" y="4169664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32" name="Shape 30"/>
          <p:cNvSpPr/>
          <p:nvPr/>
        </p:nvSpPr>
        <p:spPr>
          <a:xfrm>
            <a:off x="274320" y="4709160"/>
            <a:ext cx="8595360" cy="320040"/>
          </a:xfrm>
          <a:prstGeom prst="rect">
            <a:avLst/>
          </a:prstGeom>
          <a:solidFill>
            <a:srgbClr val="E3F2FD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7200" y="4718304"/>
            <a:ext cx="8229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i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Nota: La nazione scelta determina il fuso orario — scegliere quella in cui si vive o ci si trova.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Configurazione della Rete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4114800" cy="3749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05840"/>
            <a:ext cx="4114800" cy="475488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024128"/>
            <a:ext cx="3840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🟢  Configurazione automatica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57200" y="1572768"/>
            <a:ext cx="374904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IPv4:</a:t>
            </a:r>
            <a:pPr indent="0" marL="0">
              <a:buNone/>
            </a:pP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configurazione via DHCP
</a:t>
            </a:r>
            <a:pPr indent="0" marL="0">
              <a:buNone/>
            </a:pPr>
            <a:r>
              <a:rPr lang="en-US" sz="12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IPv6:</a:t>
            </a:r>
            <a:pPr indent="0" marL="0">
              <a:buNone/>
            </a:pP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autoconfigurazione NDP stateless
      RDNSS (server DNS ricorsivo)
</a:t>
            </a:r>
            <a:pPr indent="0" marL="0">
              <a:buNone/>
            </a:pPr>
            <a:r>
              <a:rPr lang="en-US" sz="12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DHCPv6:</a:t>
            </a:r>
            <a:pPr indent="0" marL="0">
              <a:buNone/>
            </a:pP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config. stateful
</a:t>
            </a:r>
            <a:pPr indent="0" marL="0">
              <a:buNone/>
            </a:pPr>
            <a:r>
              <a:rPr lang="en-US" sz="12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Dual-stack:</a:t>
            </a:r>
            <a:pPr indent="0" marL="0">
              <a:buNone/>
            </a:pP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IPv4 + IPv6 contemporaneamente
</a:t>
            </a:r>
            <a:pPr indent="0" marL="0">
              <a:buNone/>
            </a:pPr>
            <a:r>
              <a:rPr lang="en-US" sz="1250" i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Supportato da Debian 7.0 (Wheezy) in poi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663440" y="1005840"/>
            <a:ext cx="4206240" cy="3749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63440" y="1005840"/>
            <a:ext cx="4206240" cy="475488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00600" y="1024128"/>
            <a:ext cx="3840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 Configurazione manuale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4800600" y="1572768"/>
            <a:ext cx="3840480" cy="365760"/>
          </a:xfrm>
          <a:prstGeom prst="rect">
            <a:avLst/>
          </a:prstGeom>
          <a:solidFill>
            <a:srgbClr val="ECEFF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92040" y="1591056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 Indirizzo IP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800600" y="2011680"/>
            <a:ext cx="3840480" cy="365760"/>
          </a:xfrm>
          <a:prstGeom prst="rect">
            <a:avLst/>
          </a:prstGeom>
          <a:solidFill>
            <a:srgbClr val="ECEFF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92040" y="2029968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 Maschera di rete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800600" y="2450592"/>
            <a:ext cx="3840480" cy="365760"/>
          </a:xfrm>
          <a:prstGeom prst="rect">
            <a:avLst/>
          </a:prstGeom>
          <a:solidFill>
            <a:srgbClr val="ECEFF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92040" y="2468880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 Gateway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800600" y="2889504"/>
            <a:ext cx="3840480" cy="365760"/>
          </a:xfrm>
          <a:prstGeom prst="rect">
            <a:avLst/>
          </a:prstGeom>
          <a:solidFill>
            <a:srgbClr val="ECEFF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92040" y="2907792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 Server DNS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800600" y="3328416"/>
            <a:ext cx="3840480" cy="365760"/>
          </a:xfrm>
          <a:prstGeom prst="rect">
            <a:avLst/>
          </a:prstGeom>
          <a:solidFill>
            <a:srgbClr val="ECEFF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92040" y="3346704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 Nome host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800600" y="3767328"/>
            <a:ext cx="3840480" cy="365760"/>
          </a:xfrm>
          <a:prstGeom prst="rect">
            <a:avLst/>
          </a:prstGeom>
          <a:solidFill>
            <a:srgbClr val="ECEFF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92040" y="3785616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 ESSID (wireless)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800600" y="4206240"/>
            <a:ext cx="3840480" cy="365760"/>
          </a:xfrm>
          <a:prstGeom prst="rect">
            <a:avLst/>
          </a:prstGeom>
          <a:solidFill>
            <a:srgbClr val="ECEFF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92040" y="4224528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 Chiave WEP / Passphrase WPA2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800600" y="4617720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07D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 disabilitare autoconfig: netcfg/disable_autoconfig=true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6064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Configurazione Utenti e Password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859536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05840"/>
            <a:ext cx="73152" cy="1737360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51560"/>
            <a:ext cx="4572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 Account Root (Superutente)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1463040"/>
            <a:ext cx="8229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Aggira TUTTE le protezioni di sicurezza del sistema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Usare SOLO per amministrazione, per il minor tempo possibile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Password: min. 6 caratteri, maiuscole+minuscole+cifre+punteggiatura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 non impostata → account disabilitato, pacchetto sudo installato al suo posto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274320" y="2834640"/>
            <a:ext cx="8595360" cy="1508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2834640"/>
            <a:ext cx="73152" cy="150876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880360"/>
            <a:ext cx="4572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 Utente Normale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57200" y="3273552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Da usare per le attività quotidiane — MAI l'account root per uso comune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Richiede: nome completo, username, password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Aggiungere altri utenti dopo l'installazione con: adduser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Al primo utente viene concesso uso di sudo per diventare root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274320" y="4434840"/>
            <a:ext cx="8595360" cy="411480"/>
          </a:xfrm>
          <a:prstGeom prst="rect">
            <a:avLst/>
          </a:prstGeom>
          <a:solidFill>
            <a:srgbClr val="FFF8E1"/>
          </a:solidFill>
          <a:ln w="12700">
            <a:solidFill>
              <a:srgbClr val="FFD6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4453128"/>
            <a:ext cx="822960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Non fornire MAI la password di root a terzi, a meno che non siano amministratori del sistema.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FFD600"/>
          </a:solidFill>
          <a:ln/>
        </p:spPr>
      </p:sp>
      <p:sp>
        <p:nvSpPr>
          <p:cNvPr id="3" name="Shape 1"/>
          <p:cNvSpPr/>
          <p:nvPr/>
        </p:nvSpPr>
        <p:spPr>
          <a:xfrm>
            <a:off x="8915400" y="0"/>
            <a:ext cx="228600" cy="5143500"/>
          </a:xfrm>
          <a:prstGeom prst="rect">
            <a:avLst/>
          </a:prstGeom>
          <a:solidFill>
            <a:srgbClr val="FFD6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Partizionamento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457200" y="2468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D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gestione dello storage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3200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Partizionamento guidato • Manuale • RAID • LVM • Cifratura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Partizionamento Guidato — Schemi disponibili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2697480" cy="4572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0584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063240" y="1005840"/>
            <a:ext cx="1051560" cy="4572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154680" y="1005840"/>
            <a:ext cx="960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Spazio min.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206240" y="1005840"/>
            <a:ext cx="2514600" cy="4572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97680" y="100584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Partizioni create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812280" y="1005840"/>
            <a:ext cx="2286000" cy="4572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903720" y="100584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74320" y="1508760"/>
            <a:ext cx="26974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1527048"/>
            <a:ext cx="25603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Tutti i file in una partizione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063240" y="1508760"/>
            <a:ext cx="10515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154680" y="1527048"/>
            <a:ext cx="9144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600 MB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206240" y="1508760"/>
            <a:ext cx="25146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297680" y="1527048"/>
            <a:ext cx="23774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/, swap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812280" y="1508760"/>
            <a:ext cx="22860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903720" y="1527048"/>
            <a:ext cx="21488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più semplice — consigliato per principianti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274320" y="2258568"/>
            <a:ext cx="2697480" cy="658368"/>
          </a:xfrm>
          <a:prstGeom prst="rect">
            <a:avLst/>
          </a:prstGeom>
          <a:solidFill>
            <a:srgbClr val="E3F2FD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2276856"/>
            <a:ext cx="25603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Partizione /home separata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3063240" y="2258568"/>
            <a:ext cx="1051560" cy="658368"/>
          </a:xfrm>
          <a:prstGeom prst="rect">
            <a:avLst/>
          </a:prstGeom>
          <a:solidFill>
            <a:srgbClr val="E3F2FD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154680" y="2276856"/>
            <a:ext cx="9144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 MB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206240" y="2258568"/>
            <a:ext cx="2514600" cy="658368"/>
          </a:xfrm>
          <a:prstGeom prst="rect">
            <a:avLst/>
          </a:prstGeom>
          <a:solidFill>
            <a:srgbClr val="E3F2FD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297680" y="2276856"/>
            <a:ext cx="23774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/, /home, swap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812280" y="2258568"/>
            <a:ext cx="2286000" cy="658368"/>
          </a:xfrm>
          <a:prstGeom prst="rect">
            <a:avLst/>
          </a:prstGeom>
          <a:solidFill>
            <a:srgbClr val="E3F2FD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903720" y="2276856"/>
            <a:ext cx="21488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dati utente separati dal sistema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274320" y="3008376"/>
            <a:ext cx="26974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3026664"/>
            <a:ext cx="25603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Partizioni /home, /var e /tmp separate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3063240" y="3008376"/>
            <a:ext cx="10515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154680" y="3026664"/>
            <a:ext cx="9144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GB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4206240" y="3008376"/>
            <a:ext cx="25146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297680" y="3026664"/>
            <a:ext cx="23774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/, /home, /var, /tmp, swap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6812280" y="3008376"/>
            <a:ext cx="22860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903720" y="3026664"/>
            <a:ext cx="21488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Maggiore isolamento — consigliato per server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274320" y="3840480"/>
            <a:ext cx="8595360" cy="1005840"/>
          </a:xfrm>
          <a:prstGeom prst="rect">
            <a:avLst/>
          </a:prstGeom>
          <a:solidFill>
            <a:srgbClr val="E3F2FD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7200" y="388620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Partizionamento guidato con LVM o LVM cifrato</a:t>
            </a:r>
            <a:endParaRPr lang="en-US" sz="1350" dirty="0"/>
          </a:p>
        </p:txBody>
      </p:sp>
      <p:sp>
        <p:nvSpPr>
          <p:cNvPr id="38" name="Text 36"/>
          <p:cNvSpPr/>
          <p:nvPr/>
        </p:nvSpPr>
        <p:spPr>
          <a:xfrm>
            <a:off x="457200" y="422452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LVM viene creata una partizione /boot separata; le altre partizioni (incluso swap) sono dentro il volume LVM.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LVM cifrato: il gruppo di volumi è cifrato con AES 256-bit tramite dm-crypt. Cancellazione automatica del disco con dati casuali.</a:t>
            </a:r>
            <a:endParaRPr lang="en-US" sz="11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RAID Software — Configurazione Multidisk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8595360" cy="7132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05840"/>
            <a:ext cx="73152" cy="713232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152144"/>
            <a:ext cx="420624" cy="420624"/>
          </a:xfrm>
          <a:prstGeom prst="ellipse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152144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⚡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32688" y="1033272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RAID 0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32688" y="1408176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Min: 2  |  Spare: No  |  Fault: No  |  Spazio: N × parte più piccola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486400" y="1152144"/>
            <a:ext cx="32004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Striping — massima velocità, nessuna ridondanza. Editing video.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74320" y="1810512"/>
            <a:ext cx="8595360" cy="7132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74320" y="1810512"/>
            <a:ext cx="73152" cy="713232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11480" y="1956816"/>
            <a:ext cx="420624" cy="420624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1956816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🪞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32688" y="1837944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RAID 1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932688" y="2212848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Min: 2  |  Spare: Opz.  |  Fault: Sì  |  Spazio: Parte più piccola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486400" y="1956816"/>
            <a:ext cx="32004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Mirroring — tutti i dati duplicati. Alta affidabilità.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74320" y="2615184"/>
            <a:ext cx="8595360" cy="7132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74320" y="2615184"/>
            <a:ext cx="73152" cy="71323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11480" y="2761488"/>
            <a:ext cx="420624" cy="420624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480" y="2761488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⚖️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32688" y="2642616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RAID 5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32688" y="301752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Min: 3  |  Spare: Opz.  |  Fault: Sì  |  Spazio: (N-1) × parte min.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486400" y="2761488"/>
            <a:ext cx="32004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Striping + parità distribuita. Buon compromesso.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74320" y="3419856"/>
            <a:ext cx="8595360" cy="7132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74320" y="3419856"/>
            <a:ext cx="73152" cy="713232"/>
          </a:xfrm>
          <a:prstGeom prst="rect">
            <a:avLst/>
          </a:prstGeom>
          <a:solidFill>
            <a:srgbClr val="006064"/>
          </a:solidFill>
          <a:ln w="12700">
            <a:solidFill>
              <a:srgbClr val="006064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11480" y="3566160"/>
            <a:ext cx="420624" cy="420624"/>
          </a:xfrm>
          <a:prstGeom prst="ellipse">
            <a:avLst/>
          </a:prstGeom>
          <a:solidFill>
            <a:srgbClr val="006064"/>
          </a:solidFill>
          <a:ln w="12700">
            <a:solidFill>
              <a:srgbClr val="00606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11480" y="356616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🛡️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932688" y="3447288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60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RAID 6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932688" y="3822192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Min: 4  |  Spare: Opz.  |  Fault: Sì (2 dischi)  |  Spazio: (N-2) × parte min.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5486400" y="3566160"/>
            <a:ext cx="32004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 RAID5 con doppia parità. Resiste a 2 guasti.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274320" y="4224528"/>
            <a:ext cx="8595360" cy="7132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274320" y="4224528"/>
            <a:ext cx="73152" cy="71323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11480" y="4370832"/>
            <a:ext cx="420624" cy="420624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11480" y="4370832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🚀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932688" y="4251960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RAID 10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932688" y="4626864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Min: 2  |  Spare: Opz.  |  Fault: Sì  |  Spazio: Totale / n_copie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5486400" y="4370832"/>
            <a:ext cx="32004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Striping + mirroring. Velocità + affidabilità.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5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6064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LVM — Logical Volume Manager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5029200" cy="3749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05156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60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🏗️  Architettura LVM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1508760"/>
            <a:ext cx="4663440" cy="640080"/>
          </a:xfrm>
          <a:prstGeom prst="rect">
            <a:avLst/>
          </a:prstGeom>
          <a:solidFill>
            <a:srgbClr val="607D8B"/>
          </a:solidFill>
          <a:ln w="12700">
            <a:solidFill>
              <a:srgbClr val="607D8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52704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Volumi Fisici (PV)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182880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Partizioni reali su disco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2926080" y="1627632"/>
            <a:ext cx="2011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/dev/sda1, /dev/sdb2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" y="2286000"/>
            <a:ext cx="4297680" cy="64008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230428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Gruppo di Volumi (VG)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31520" y="260604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 virtuale unificato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2926080" y="2404872"/>
            <a:ext cx="2011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vg_principale (460 GB)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22960" y="3063240"/>
            <a:ext cx="3931920" cy="640080"/>
          </a:xfrm>
          <a:prstGeom prst="rect">
            <a:avLst/>
          </a:prstGeom>
          <a:solidFill>
            <a:srgbClr val="006064"/>
          </a:solidFill>
          <a:ln w="12700">
            <a:solidFill>
              <a:srgbClr val="00606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308152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Volumi Logici (LV)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14400" y="338328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Partizioni virtuali flessibili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2926080" y="3182112"/>
            <a:ext cx="2011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lv_home, lv_var, lv_root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1005840" y="3840480"/>
            <a:ext cx="3566160" cy="64008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97280" y="385876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Filesystem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97280" y="416052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ext4, xfs, btrfs...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2926080" y="3959352"/>
            <a:ext cx="2011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montati in /, /home, /var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486400" y="1005840"/>
            <a:ext cx="3383280" cy="3749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623560" y="105156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60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Operazioni LVM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623560" y="1600200"/>
            <a:ext cx="256032" cy="256032"/>
          </a:xfrm>
          <a:prstGeom prst="ellipse">
            <a:avLst/>
          </a:prstGeom>
          <a:solidFill>
            <a:srgbClr val="006064"/>
          </a:solidFill>
          <a:ln w="12700">
            <a:solidFill>
              <a:srgbClr val="00606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961888" y="15087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Mostra dettagli configurazione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623560" y="2112264"/>
            <a:ext cx="256032" cy="256032"/>
          </a:xfrm>
          <a:prstGeom prst="ellipse">
            <a:avLst/>
          </a:prstGeom>
          <a:solidFill>
            <a:srgbClr val="006064"/>
          </a:solidFill>
          <a:ln w="12700">
            <a:solidFill>
              <a:srgbClr val="00606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61888" y="2020824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 gruppo di volumi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623560" y="2624328"/>
            <a:ext cx="256032" cy="256032"/>
          </a:xfrm>
          <a:prstGeom prst="ellipse">
            <a:avLst/>
          </a:prstGeom>
          <a:solidFill>
            <a:srgbClr val="006064"/>
          </a:solidFill>
          <a:ln w="12700">
            <a:solidFill>
              <a:srgbClr val="00606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961888" y="2532888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 volume logico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623560" y="3136392"/>
            <a:ext cx="256032" cy="256032"/>
          </a:xfrm>
          <a:prstGeom prst="ellipse">
            <a:avLst/>
          </a:prstGeom>
          <a:solidFill>
            <a:srgbClr val="006064"/>
          </a:solidFill>
          <a:ln w="12700">
            <a:solidFill>
              <a:srgbClr val="00606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961888" y="3044952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Cancella gruppo/volume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5623560" y="3648456"/>
            <a:ext cx="256032" cy="256032"/>
          </a:xfrm>
          <a:prstGeom prst="ellipse">
            <a:avLst/>
          </a:prstGeom>
          <a:solidFill>
            <a:srgbClr val="006064"/>
          </a:solidFill>
          <a:ln w="12700">
            <a:solidFill>
              <a:srgbClr val="00606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961888" y="3557016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Estendi gruppo di volumi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5623560" y="4160520"/>
            <a:ext cx="256032" cy="256032"/>
          </a:xfrm>
          <a:prstGeom prst="ellipse">
            <a:avLst/>
          </a:prstGeom>
          <a:solidFill>
            <a:srgbClr val="006064"/>
          </a:solidFill>
          <a:ln w="12700">
            <a:solidFill>
              <a:srgbClr val="00606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961888" y="40690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Riduci gruppo di volumi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5577840" y="4206240"/>
            <a:ext cx="3200400" cy="411480"/>
          </a:xfrm>
          <a:prstGeom prst="rect">
            <a:avLst/>
          </a:prstGeom>
          <a:solidFill>
            <a:srgbClr val="FFF3E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23560" y="420624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LVM cancella TUTTI i dati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nelle partizioni marcate!</a:t>
            </a:r>
            <a:endParaRPr lang="en-US" sz="10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Cifratura delle Partizioni — dm-crypt / LUKS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96012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Protegge i dati sensibili in caso di furto del dispositivo. I dati risultano illeggibili senza la passphrase.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371600"/>
            <a:ext cx="8595360" cy="621792"/>
          </a:xfrm>
          <a:prstGeom prst="rect">
            <a:avLst/>
          </a:prstGeom>
          <a:solidFill>
            <a:srgbClr val="1A2A3A"/>
          </a:solidFill>
          <a:ln w="12700">
            <a:solidFill>
              <a:srgbClr val="2A3A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408176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Cifrario: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2148840" y="1408176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D6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AES (default), blowfish, serpent, twofish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57200" y="1700784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 scelto dal NIST nel 2000 come standard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4320" y="2084832"/>
            <a:ext cx="8595360" cy="621792"/>
          </a:xfrm>
          <a:prstGeom prst="rect">
            <a:avLst/>
          </a:prstGeom>
          <a:solidFill>
            <a:srgbClr val="1A2A3A"/>
          </a:solidFill>
          <a:ln w="12700">
            <a:solidFill>
              <a:srgbClr val="2A3A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121408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Lunghezza chiave: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2148840" y="2121408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D6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256 bit (default)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57200" y="2414016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Chiave più lunga = più sicura ma leggermente più lenta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74320" y="2798064"/>
            <a:ext cx="8595360" cy="621792"/>
          </a:xfrm>
          <a:prstGeom prst="rect">
            <a:avLst/>
          </a:prstGeom>
          <a:solidFill>
            <a:srgbClr val="1A2A3A"/>
          </a:solidFill>
          <a:ln w="12700">
            <a:solidFill>
              <a:srgbClr val="2A3A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834640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 Algorithm: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2148840" y="2834640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D6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xts-plain64 (default)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57200" y="312724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Vettore di Inizializzazione — impedisce deduzioni da pattern ripetuti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74320" y="3511296"/>
            <a:ext cx="8595360" cy="621792"/>
          </a:xfrm>
          <a:prstGeom prst="rect">
            <a:avLst/>
          </a:prstGeom>
          <a:solidFill>
            <a:srgbClr val="1A2A3A"/>
          </a:solidFill>
          <a:ln w="12700">
            <a:solidFill>
              <a:srgbClr val="2A3A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354787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Chiave: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2148840" y="3547872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D6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Passphrase o Chiave casuale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57200" y="384048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Casuale: ottima per swap (non ricordabile, dati persi al riavvio)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74320" y="4224528"/>
            <a:ext cx="8595360" cy="621792"/>
          </a:xfrm>
          <a:prstGeom prst="rect">
            <a:avLst/>
          </a:prstGeom>
          <a:solidFill>
            <a:srgbClr val="1A2A3A"/>
          </a:solidFill>
          <a:ln w="12700">
            <a:solidFill>
              <a:srgbClr val="2A3A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4261104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Cancella dati: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2148840" y="4261104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D6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Sì (consigliato)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57200" y="455371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Sovrascrive con dati casuali prima di cifrare — impedisce recupero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74320" y="4937760"/>
            <a:ext cx="8595360" cy="365760"/>
          </a:xfrm>
          <a:prstGeom prst="rect">
            <a:avLst/>
          </a:prstGeom>
          <a:solidFill>
            <a:srgbClr val="1A1A2A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Prestazioni inferiori rispetto a partizioni normali — il costo dipende da CPU, cifrario e lunghezza chiave.</a:t>
            </a:r>
            <a:endParaRPr lang="en-US" sz="11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5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Filesystem Supportati dall'Installatore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420624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05840"/>
            <a:ext cx="73152" cy="86868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207008"/>
            <a:ext cx="457200" cy="45720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2070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🐧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60120" y="1051560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65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ext4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60120" y="1444752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Uso: / , /home, /var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960120" y="155448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per la maggior parte delle partizioni. Journaling, stabile, maturo.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709160" y="1005840"/>
            <a:ext cx="420624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09160" y="1005840"/>
            <a:ext cx="73152" cy="868680"/>
          </a:xfrm>
          <a:prstGeom prst="rect">
            <a:avLst/>
          </a:prstGeom>
          <a:solidFill>
            <a:srgbClr val="607D8B"/>
          </a:solidFill>
          <a:ln w="12700">
            <a:solidFill>
              <a:srgbClr val="607D8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846320" y="1207008"/>
            <a:ext cx="457200" cy="457200"/>
          </a:xfrm>
          <a:prstGeom prst="ellipse">
            <a:avLst/>
          </a:prstGeom>
          <a:solidFill>
            <a:srgbClr val="607D8B"/>
          </a:solidFill>
          <a:ln w="12700">
            <a:solidFill>
              <a:srgbClr val="607D8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46320" y="12070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📁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394960" y="1051560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07D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ext2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394960" y="1444752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Uso: /boot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394960" y="155448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Senza journaling. Usato per /boot nel partizionamento guidato.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74320" y="1993392"/>
            <a:ext cx="420624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74320" y="1993392"/>
            <a:ext cx="73152" cy="868680"/>
          </a:xfrm>
          <a:prstGeom prst="rect">
            <a:avLst/>
          </a:prstGeom>
          <a:solidFill>
            <a:srgbClr val="006064"/>
          </a:solidFill>
          <a:ln w="12700">
            <a:solidFill>
              <a:srgbClr val="00606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11480" y="2194560"/>
            <a:ext cx="457200" cy="457200"/>
          </a:xfrm>
          <a:prstGeom prst="ellipse">
            <a:avLst/>
          </a:prstGeom>
          <a:solidFill>
            <a:srgbClr val="006064"/>
          </a:solidFill>
          <a:ln w="12700">
            <a:solidFill>
              <a:srgbClr val="00606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480" y="21945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📁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60120" y="2039112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60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ext3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60120" y="2432304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Uso: Uso generale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960120" y="2542032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Versione con journaling di ext2. Compatibile e stabile.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709160" y="1993392"/>
            <a:ext cx="420624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09160" y="1993392"/>
            <a:ext cx="73152" cy="86868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846320" y="2194560"/>
            <a:ext cx="457200" cy="457200"/>
          </a:xfrm>
          <a:prstGeom prst="ellipse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46320" y="21945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⚡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5394960" y="2039112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51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xfs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394960" y="2432304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Uso: Server, grandi file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5394960" y="2542032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 prestazioni su file grandi. Non disponibile su tutte le architetture.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274320" y="2980944"/>
            <a:ext cx="420624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274320" y="2980944"/>
            <a:ext cx="73152" cy="86868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11480" y="3182112"/>
            <a:ext cx="457200" cy="457200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11480" y="31821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💾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960120" y="3026664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jfs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960120" y="3419856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Uso: Specifiche architetture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960120" y="3529584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Journaling File System IBM. Non disponibile su tutte le architetture.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4709160" y="2980944"/>
            <a:ext cx="420624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709160" y="2980944"/>
            <a:ext cx="73152" cy="868680"/>
          </a:xfrm>
          <a:prstGeom prst="rect">
            <a:avLst/>
          </a:prstGeom>
          <a:solidFill>
            <a:srgbClr val="607D8B"/>
          </a:solidFill>
          <a:ln w="12700">
            <a:solidFill>
              <a:srgbClr val="607D8B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846320" y="3182112"/>
            <a:ext cx="457200" cy="457200"/>
          </a:xfrm>
          <a:prstGeom prst="ellipse">
            <a:avLst/>
          </a:prstGeom>
          <a:solidFill>
            <a:srgbClr val="607D8B"/>
          </a:solidFill>
          <a:ln w="12700">
            <a:solidFill>
              <a:srgbClr val="607D8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846320" y="31821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🪟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5394960" y="3026664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07D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FAT16/32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5394960" y="3419856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Uso: EFI System Partition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5394960" y="3529584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Compatibilità con Windows. Usato per partizioni EFI.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274320" y="3968496"/>
            <a:ext cx="420624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274320" y="3968496"/>
            <a:ext cx="73152" cy="868680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11480" y="4169664"/>
            <a:ext cx="457200" cy="457200"/>
          </a:xfrm>
          <a:prstGeom prst="ellipse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11480" y="416966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🔄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960120" y="4014216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628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swap</a:t>
            </a:r>
            <a:endParaRPr lang="en-US" sz="1400" dirty="0"/>
          </a:p>
        </p:txBody>
      </p:sp>
      <p:sp>
        <p:nvSpPr>
          <p:cNvPr id="51" name="Text 49"/>
          <p:cNvSpPr/>
          <p:nvPr/>
        </p:nvSpPr>
        <p:spPr>
          <a:xfrm>
            <a:off x="960120" y="4407408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Uso: Memoria virtuale</a:t>
            </a:r>
            <a:endParaRPr lang="en-US" sz="1050" dirty="0"/>
          </a:p>
        </p:txBody>
      </p:sp>
      <p:sp>
        <p:nvSpPr>
          <p:cNvPr id="52" name="Text 50"/>
          <p:cNvSpPr/>
          <p:nvPr/>
        </p:nvSpPr>
        <p:spPr>
          <a:xfrm>
            <a:off x="960120" y="4517136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 di scambio virtuale. Obbligatoria. Raccomandata 64-128 MB in low memory.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4709160" y="3968496"/>
            <a:ext cx="420624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4709160" y="3968496"/>
            <a:ext cx="73152" cy="868680"/>
          </a:xfrm>
          <a:prstGeom prst="rect">
            <a:avLst/>
          </a:prstGeom>
          <a:solidFill>
            <a:srgbClr val="607D8B"/>
          </a:solidFill>
          <a:ln w="12700">
            <a:solidFill>
              <a:srgbClr val="607D8B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4846320" y="4169664"/>
            <a:ext cx="457200" cy="457200"/>
          </a:xfrm>
          <a:prstGeom prst="ellipse">
            <a:avLst/>
          </a:prstGeom>
          <a:solidFill>
            <a:srgbClr val="607D8B"/>
          </a:solidFill>
          <a:ln w="12700">
            <a:solidFill>
              <a:srgbClr val="607D8B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846320" y="416966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🔧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5394960" y="4014216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07D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reiserfs</a:t>
            </a:r>
            <a:endParaRPr lang="en-US" sz="1400" dirty="0"/>
          </a:p>
        </p:txBody>
      </p:sp>
      <p:sp>
        <p:nvSpPr>
          <p:cNvPr id="58" name="Text 56"/>
          <p:cNvSpPr/>
          <p:nvPr/>
        </p:nvSpPr>
        <p:spPr>
          <a:xfrm>
            <a:off x="5394960" y="4407408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Uso: Legacy (v3 only)</a:t>
            </a:r>
            <a:endParaRPr lang="en-US" sz="1050" dirty="0"/>
          </a:p>
        </p:txBody>
      </p:sp>
      <p:sp>
        <p:nvSpPr>
          <p:cNvPr id="59" name="Text 57"/>
          <p:cNvSpPr/>
          <p:nvPr/>
        </p:nvSpPr>
        <p:spPr>
          <a:xfrm>
            <a:off x="5394960" y="4517136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Supporto non più predefinito. Attivare con priorità media/bassa.</a:t>
            </a:r>
            <a:endParaRPr lang="en-US" sz="10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5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Installazione del Sistema Base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51560"/>
            <a:ext cx="685800" cy="685800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05156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⬇️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463040" y="1389888"/>
            <a:ext cx="804672" cy="0"/>
          </a:xfrm>
          <a:prstGeom prst="line">
            <a:avLst/>
          </a:prstGeom>
          <a:noFill/>
          <a:ln w="25400">
            <a:solidFill>
              <a:srgbClr val="00BC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828800"/>
            <a:ext cx="1143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5760" y="2176272"/>
            <a:ext cx="1508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Scaricamento pacchetti dal mirror o dal supporto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496312" y="1051560"/>
            <a:ext cx="685800" cy="685800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496312" y="105156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🔐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3182112" y="1389888"/>
            <a:ext cx="804672" cy="0"/>
          </a:xfrm>
          <a:prstGeom prst="line">
            <a:avLst/>
          </a:prstGeom>
          <a:noFill/>
          <a:ln w="25400">
            <a:solidFill>
              <a:srgbClr val="00BCD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67712" y="1828800"/>
            <a:ext cx="1143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084832" y="2176272"/>
            <a:ext cx="1508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Controllo integrità e firma GPG dei pacchetti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215384" y="1051560"/>
            <a:ext cx="685800" cy="685800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215384" y="105156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📦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4901184" y="1389888"/>
            <a:ext cx="804672" cy="0"/>
          </a:xfrm>
          <a:prstGeom prst="line">
            <a:avLst/>
          </a:prstGeom>
          <a:noFill/>
          <a:ln w="25400">
            <a:solidFill>
              <a:srgbClr val="00BCD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986784" y="1828800"/>
            <a:ext cx="1143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Unpacking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803904" y="2176272"/>
            <a:ext cx="1508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Estrazione archivi nella directory target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934456" y="1051560"/>
            <a:ext cx="685800" cy="685800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34456" y="105156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⚙️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6620256" y="1389888"/>
            <a:ext cx="804672" cy="0"/>
          </a:xfrm>
          <a:prstGeom prst="line">
            <a:avLst/>
          </a:prstGeom>
          <a:noFill/>
          <a:ln w="25400">
            <a:solidFill>
              <a:srgbClr val="00BCD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705856" y="1828800"/>
            <a:ext cx="1143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Configurazione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522976" y="2176272"/>
            <a:ext cx="1508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Configurazione post-installazione dei pacchetti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7653528" y="1051560"/>
            <a:ext cx="685800" cy="685800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653528" y="105156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🐧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7424928" y="1828800"/>
            <a:ext cx="1143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Kernel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242048" y="2176272"/>
            <a:ext cx="1508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Selezione e installazione kernel Linux ottimale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274320" y="2834640"/>
            <a:ext cx="8595360" cy="658368"/>
          </a:xfrm>
          <a:prstGeom prst="rect">
            <a:avLst/>
          </a:prstGeom>
          <a:solidFill>
            <a:srgbClr val="E3F2FD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28803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Log di installazione sistema base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57200" y="320040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messaggi sono reindirizzati su tty4 (Alt+F4) e salvati in /var/log/syslog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274320" y="3566160"/>
            <a:ext cx="859536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274320" y="3566160"/>
            <a:ext cx="73152" cy="658368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7200" y="3602736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Pacchetti Raccomandati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457200" y="39136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Durante l'installazione del sistema base i pacchetti 'Raccomandati' NON vengono installati. Questa regola vale SOLO dopo questo punto.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274320" y="4315968"/>
            <a:ext cx="8595360" cy="658368"/>
          </a:xfrm>
          <a:prstGeom prst="rect">
            <a:avLst/>
          </a:prstGeom>
          <a:solidFill>
            <a:srgbClr val="FFF3E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7200" y="4352544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 Modalità Low Memory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L'installatore riconosce sistemi con poca RAM e disabilita le traduzioni + limita i componenti. Creare swap da 64–128 MB.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5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Configurazione APT e Mirror di Rete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8595360" cy="685800"/>
          </a:xfrm>
          <a:prstGeom prst="rect">
            <a:avLst/>
          </a:prstGeom>
          <a:solidFill>
            <a:srgbClr val="E3F2FD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42416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 APT (Advanced Package Tool)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37160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Strumento principale Debian per la gestione pacchetti. Configurazione: /etc/apt/sources.list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Frontend: apt, aptitude, synaptic. Il programma di basso livello è dpkg.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365760" y="1801368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usare un mirror di rete?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74320" y="2212848"/>
            <a:ext cx="2560320" cy="38404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2212848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Supporto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2926080" y="2212848"/>
            <a:ext cx="2011680" cy="38404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017520" y="2212848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Mirror di rete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029200" y="2212848"/>
            <a:ext cx="3794760" cy="38404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120640" y="2212848"/>
            <a:ext cx="3703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274320" y="2633472"/>
            <a:ext cx="25603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651760"/>
            <a:ext cx="2423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Netinst (piccola)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2926080" y="2633472"/>
            <a:ext cx="20116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017520" y="2651760"/>
            <a:ext cx="18745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Sempre consigliato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029200" y="2633472"/>
            <a:ext cx="37947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120640" y="2651760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 pochi pacchetti — il mirror è quasi obbligatorio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274320" y="3182112"/>
            <a:ext cx="2560320" cy="475488"/>
          </a:xfrm>
          <a:prstGeom prst="rect">
            <a:avLst/>
          </a:prstGeom>
          <a:solidFill>
            <a:srgbClr val="E3F2FD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3200400"/>
            <a:ext cx="2423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 singolo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2926080" y="3182112"/>
            <a:ext cx="2011680" cy="475488"/>
          </a:xfrm>
          <a:prstGeom prst="rect">
            <a:avLst/>
          </a:prstGeom>
          <a:solidFill>
            <a:srgbClr val="E3F2FD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017520" y="3200400"/>
            <a:ext cx="18745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Fortemente consigliato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029200" y="3182112"/>
            <a:ext cx="3794760" cy="475488"/>
          </a:xfrm>
          <a:prstGeom prst="rect">
            <a:avLst/>
          </a:prstGeom>
          <a:solidFill>
            <a:srgbClr val="E3F2FD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120640" y="3200400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Pacchetti limitati sul CD, mirror riempie i gap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274320" y="3730752"/>
            <a:ext cx="25603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3749040"/>
            <a:ext cx="2423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DVD primo disco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2926080" y="3730752"/>
            <a:ext cx="20116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017520" y="3749040"/>
            <a:ext cx="18745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Opzionale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5029200" y="3730752"/>
            <a:ext cx="37947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120640" y="3749040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DVD contiene quasi tutto il necessario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274320" y="4279392"/>
            <a:ext cx="2560320" cy="475488"/>
          </a:xfrm>
          <a:prstGeom prst="rect">
            <a:avLst/>
          </a:prstGeom>
          <a:solidFill>
            <a:srgbClr val="E3F2FD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4297680"/>
            <a:ext cx="2423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Connessione lenta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2926080" y="4279392"/>
            <a:ext cx="2011680" cy="475488"/>
          </a:xfrm>
          <a:prstGeom prst="rect">
            <a:avLst/>
          </a:prstGeom>
          <a:solidFill>
            <a:srgbClr val="E3F2FD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017520" y="4297680"/>
            <a:ext cx="18745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Sconsigliato per desktop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5029200" y="4279392"/>
            <a:ext cx="3794760" cy="475488"/>
          </a:xfrm>
          <a:prstGeom prst="rect">
            <a:avLst/>
          </a:prstGeom>
          <a:solidFill>
            <a:srgbClr val="E3F2FD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120640" y="4297680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Evitare task 'desktop' se la banda è limitata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274320" y="4846320"/>
            <a:ext cx="8595360" cy="347472"/>
          </a:xfrm>
          <a:prstGeom prst="rect">
            <a:avLst/>
          </a:prstGeom>
          <a:solidFill>
            <a:srgbClr val="ECEFF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57200" y="484632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Mirror predefinito: deb.debian.org — redirect automatico al mirror più veloce, supporta HTTPS e IPv6.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5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6064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Selezione Software — Task di Installazione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365760" y="969264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Invece dei singoli pacchetti (93.000+), si installano 'task' — raccolte di programmi per uno scopo specifico.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417320"/>
            <a:ext cx="859536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417320"/>
            <a:ext cx="73152" cy="65836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1536192"/>
            <a:ext cx="420624" cy="420624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536192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🖥️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32688" y="1453896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Ambiente Desktop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932688" y="1783080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Installazione ambiente grafico. Default configurato nel sistema. Possibile scegliere GNOME, KDE, XFCE, ecc.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274320" y="2167128"/>
            <a:ext cx="859536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74320" y="2167128"/>
            <a:ext cx="73152" cy="658368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11480" y="2286000"/>
            <a:ext cx="420624" cy="420624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228600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🌐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32688" y="2203704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Web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932688" y="2532888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Installa apache2 e dipendenze per un web server funzionante.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274320" y="2916936"/>
            <a:ext cx="859536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74320" y="2916936"/>
            <a:ext cx="73152" cy="658368"/>
          </a:xfrm>
          <a:prstGeom prst="rect">
            <a:avLst/>
          </a:prstGeom>
          <a:solidFill>
            <a:srgbClr val="006064"/>
          </a:solidFill>
          <a:ln w="12700">
            <a:solidFill>
              <a:srgbClr val="00606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11480" y="3035808"/>
            <a:ext cx="420624" cy="420624"/>
          </a:xfrm>
          <a:prstGeom prst="ellipse">
            <a:avLst/>
          </a:prstGeom>
          <a:solidFill>
            <a:srgbClr val="006064"/>
          </a:solidFill>
          <a:ln w="12700">
            <a:solidFill>
              <a:srgbClr val="00606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1480" y="3035808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🔐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932688" y="2953512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60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SSH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932688" y="3282696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Installa openssh-server per accesso remoto sicuro.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274320" y="3666744"/>
            <a:ext cx="859536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274320" y="3666744"/>
            <a:ext cx="73152" cy="6583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11480" y="3785616"/>
            <a:ext cx="420624" cy="420624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11480" y="3785616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⚙️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932688" y="37033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standard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932688" y="4032504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Pacchetti priorità 'standard' — utilità comuni su tutti i sistemi Linux/Unix. Mantenerlo sempre selezionato.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274320" y="4416552"/>
            <a:ext cx="859536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74320" y="4416552"/>
            <a:ext cx="73152" cy="658368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11480" y="4535424"/>
            <a:ext cx="420624" cy="420624"/>
          </a:xfrm>
          <a:prstGeom prst="ellipse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11480" y="4535424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🌍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932688" y="4453128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di localizzazione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932688" y="4782312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Pacchetti lingua: dizionari, font speciali, localizzazione ambiente desktop.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274320" y="5166360"/>
            <a:ext cx="8595360" cy="320040"/>
          </a:xfrm>
          <a:prstGeom prst="rect">
            <a:avLst/>
          </a:prstGeom>
          <a:solidFill>
            <a:srgbClr val="E3F2FD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7200" y="51663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Usare la barra spaziatrice per selezionare/deselezionare i task. Dopo l'installazione: tasksel o aptitude.</a:t>
            </a:r>
            <a:endParaRPr lang="en-US" sz="11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5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 Loader e Rilevamento OS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5212080" cy="3749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05840"/>
            <a:ext cx="5212080" cy="4572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024128"/>
            <a:ext cx="49377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GRUB — Boot Loader principale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536192"/>
            <a:ext cx="484632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Installato automaticamente sul disco principale
</a:t>
            </a:r>
            <a:pPr indent="0" marL="0">
              <a:buNone/>
            </a:pP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Supporta dual-boot con altri OS (Windows, altri Linux)
</a:t>
            </a:r>
            <a:pPr indent="0" marL="0">
              <a:buNone/>
            </a:pP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Rilevamento automatico OS con os-prober
</a:t>
            </a:r>
            <a:pPr indent="0" marL="0">
              <a:buNone/>
            </a:pP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Aggiunge OS rilevati al menu di avvio
</a:t>
            </a:r>
            <a:pPr indent="0" marL="0">
              <a:buNone/>
            </a:pPr>
            <a:r>
              <a:rPr lang="en-US" sz="12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Senza boot loader:
</a:t>
            </a:r>
            <a:pPr indent="0" marL="0">
              <a:buNone/>
            </a:pP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Selezionare 'Continua senza boot loader'
</a:t>
            </a:r>
            <a:pPr indent="0" marL="0">
              <a:buNone/>
            </a:pP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Verificare in /target/boot il nome del kernel
</a:t>
            </a:r>
            <a:pPr indent="0" marL="0">
              <a:buNone/>
            </a:pP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Controllare presenza di initrd
</a:t>
            </a:r>
            <a:pPr indent="0" marL="0">
              <a:buNone/>
            </a:pP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Configurare manualmente il boot manager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669280" y="1005840"/>
            <a:ext cx="3200400" cy="3749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669280" y="1005840"/>
            <a:ext cx="3200400" cy="457200"/>
          </a:xfrm>
          <a:prstGeom prst="rect">
            <a:avLst/>
          </a:prstGeom>
          <a:solidFill>
            <a:srgbClr val="006064"/>
          </a:solidFill>
          <a:ln w="12700">
            <a:solidFill>
              <a:srgbClr val="00606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806440" y="1024128"/>
            <a:ext cx="29260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⏰  Orologio sistema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806440" y="1554480"/>
            <a:ext cx="29260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L'installatore determina se l'orologio HW è impostato in UTC o ora locale analizzando gli altri OS.
Modalità esperto: scelta manuale UTC/locale.
Per modificare dopo:
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806440" y="3154680"/>
            <a:ext cx="2926080" cy="457200"/>
          </a:xfrm>
          <a:prstGeom prst="rect">
            <a:avLst/>
          </a:prstGeom>
          <a:solidFill>
            <a:srgbClr val="ECEFF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897880" y="3182112"/>
            <a:ext cx="2743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565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dpkg-reconfigure tzdata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5806440" y="370332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Oppure passare all'avvio: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time/zone=Europe/Rome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806440" y="4224528"/>
            <a:ext cx="2926080" cy="384048"/>
          </a:xfrm>
          <a:prstGeom prst="rect">
            <a:avLst/>
          </a:prstGeom>
          <a:solidFill>
            <a:srgbClr val="ECEFF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897880" y="4242816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565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time/zone=Europe/Rome</a:t>
            </a:r>
            <a:endParaRPr lang="en-US" sz="11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5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Firmware Mancanti — Caricamento e Gestione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969264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Debian 12 (Bookworm), le immagini ufficiali includono firmware non-free. Ma alcuni potrebbero ancora mancare.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417320"/>
            <a:ext cx="8595360" cy="7498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417320"/>
            <a:ext cx="475488" cy="749808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417320"/>
            <a:ext cx="47548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841248" y="1453896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Rilevamento automatico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41248" y="1819656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L'installatore mostra una finestra di dialogo se manca firmware. Cerca in tutti i dispositivi disponibili file .fw o pacchetti firmware.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4320" y="2304288"/>
            <a:ext cx="8595360" cy="7498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74320" y="2304288"/>
            <a:ext cx="475488" cy="74980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2304288"/>
            <a:ext cx="47548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841248" y="2340864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Preparazione chiavetta USB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41248" y="2706624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Copiare i file firmware in / o /firmware del filesystem FAT. Tarball disponibili su: cdimage.debian.org/cdimage/firmware/bookworm/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74320" y="3191256"/>
            <a:ext cx="8595360" cy="7498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3191256"/>
            <a:ext cx="475488" cy="749808"/>
          </a:xfrm>
          <a:prstGeom prst="rect">
            <a:avLst/>
          </a:prstGeom>
          <a:solidFill>
            <a:srgbClr val="006064"/>
          </a:solidFill>
          <a:ln w="12700">
            <a:solidFill>
              <a:srgbClr val="00606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3191256"/>
            <a:ext cx="47548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841248" y="3227832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60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Caricamento durante installazione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41248" y="3593592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firmware viene copiato in /lib/firmware e il modulo driver viene ricaricato automaticamente.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74320" y="4078224"/>
            <a:ext cx="8595360" cy="7498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74320" y="4078224"/>
            <a:ext cx="475488" cy="749808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" y="4078224"/>
            <a:ext cx="47548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841248" y="411480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Permanenza nel sistema installato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41248" y="448056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firmware caricati da pacchetti vengono installati nel sistema finale. APT aggiorna automaticamente con sezione non-free-firmware.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74320" y="5029200"/>
            <a:ext cx="8595360" cy="347472"/>
          </a:xfrm>
          <a:prstGeom prst="rect">
            <a:avLst/>
          </a:prstGeom>
          <a:solidFill>
            <a:srgbClr val="FFF3E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502920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Se il firmware è da file singolo (non pacchetto) non verrà aggiornato automaticamente — installare il pacchetto manualmente.</a:t>
            </a:r>
            <a:endParaRPr lang="en-US" sz="11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6064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Installazione Remota via SSH — network-console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8595360" cy="438912"/>
          </a:xfrm>
          <a:prstGeom prst="rect">
            <a:avLst/>
          </a:prstGeom>
          <a:solidFill>
            <a:srgbClr val="1A2A3A"/>
          </a:solidFill>
          <a:ln w="12700">
            <a:solidFill>
              <a:srgbClr val="2A3A4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47472" y="1069848"/>
            <a:ext cx="310896" cy="310896"/>
          </a:xfrm>
          <a:prstGeom prst="ellipse">
            <a:avLst/>
          </a:prstGeom>
          <a:solidFill>
            <a:srgbClr val="006064"/>
          </a:solidFill>
          <a:ln w="12700">
            <a:solidFill>
              <a:srgbClr val="00606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7472" y="106984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49808" y="1060704"/>
            <a:ext cx="7955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Avviare l'installatore con priorità media o meno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274320" y="1517904"/>
            <a:ext cx="8595360" cy="438912"/>
          </a:xfrm>
          <a:prstGeom prst="rect">
            <a:avLst/>
          </a:prstGeom>
          <a:solidFill>
            <a:srgbClr val="1A2A3A"/>
          </a:solidFill>
          <a:ln w="12700">
            <a:solidFill>
              <a:srgbClr val="2A3A4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7472" y="1581912"/>
            <a:ext cx="310896" cy="310896"/>
          </a:xfrm>
          <a:prstGeom prst="ellipse">
            <a:avLst/>
          </a:prstGeom>
          <a:solidFill>
            <a:srgbClr val="006064"/>
          </a:solidFill>
          <a:ln w="12700">
            <a:solidFill>
              <a:srgbClr val="00606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7472" y="158191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49808" y="1572768"/>
            <a:ext cx="7955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Caricare componente network-console dal menu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274320" y="2029968"/>
            <a:ext cx="8595360" cy="438912"/>
          </a:xfrm>
          <a:prstGeom prst="rect">
            <a:avLst/>
          </a:prstGeom>
          <a:solidFill>
            <a:srgbClr val="1A2A3A"/>
          </a:solidFill>
          <a:ln w="12700">
            <a:solidFill>
              <a:srgbClr val="2A3A4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47472" y="2093976"/>
            <a:ext cx="310896" cy="310896"/>
          </a:xfrm>
          <a:prstGeom prst="ellipse">
            <a:avLst/>
          </a:prstGeom>
          <a:solidFill>
            <a:srgbClr val="006064"/>
          </a:solidFill>
          <a:ln w="12700">
            <a:solidFill>
              <a:srgbClr val="00606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7472" y="209397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49808" y="2084832"/>
            <a:ext cx="7955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Configurare la rete tramite console locale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274320" y="2542032"/>
            <a:ext cx="8595360" cy="438912"/>
          </a:xfrm>
          <a:prstGeom prst="rect">
            <a:avLst/>
          </a:prstGeom>
          <a:solidFill>
            <a:srgbClr val="1A2A3A"/>
          </a:solidFill>
          <a:ln w="12700">
            <a:solidFill>
              <a:srgbClr val="2A3A4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47472" y="2606040"/>
            <a:ext cx="310896" cy="310896"/>
          </a:xfrm>
          <a:prstGeom prst="ellipse">
            <a:avLst/>
          </a:prstGeom>
          <a:solidFill>
            <a:srgbClr val="006064"/>
          </a:solidFill>
          <a:ln w="12700">
            <a:solidFill>
              <a:srgbClr val="00606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7472" y="260604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49808" y="2596896"/>
            <a:ext cx="7955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Scegliere 'Proseguire installazione in remoto via SSH'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274320" y="3054096"/>
            <a:ext cx="8595360" cy="438912"/>
          </a:xfrm>
          <a:prstGeom prst="rect">
            <a:avLst/>
          </a:prstGeom>
          <a:solidFill>
            <a:srgbClr val="1A2A3A"/>
          </a:solidFill>
          <a:ln w="12700">
            <a:solidFill>
              <a:srgbClr val="2A3A4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47472" y="3118104"/>
            <a:ext cx="310896" cy="310896"/>
          </a:xfrm>
          <a:prstGeom prst="ellipse">
            <a:avLst/>
          </a:prstGeom>
          <a:solidFill>
            <a:srgbClr val="006064"/>
          </a:solidFill>
          <a:ln w="12700">
            <a:solidFill>
              <a:srgbClr val="00606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" y="311810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5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49808" y="3108960"/>
            <a:ext cx="7955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Impostare password per l'utente installer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274320" y="3566160"/>
            <a:ext cx="8595360" cy="438912"/>
          </a:xfrm>
          <a:prstGeom prst="rect">
            <a:avLst/>
          </a:prstGeom>
          <a:solidFill>
            <a:srgbClr val="1A2A3A"/>
          </a:solidFill>
          <a:ln w="12700">
            <a:solidFill>
              <a:srgbClr val="2A3A4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47472" y="3630168"/>
            <a:ext cx="310896" cy="310896"/>
          </a:xfrm>
          <a:prstGeom prst="ellipse">
            <a:avLst/>
          </a:prstGeom>
          <a:solidFill>
            <a:srgbClr val="006064"/>
          </a:solidFill>
          <a:ln w="12700">
            <a:solidFill>
              <a:srgbClr val="00606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7472" y="363016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6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49808" y="3621024"/>
            <a:ext cx="5029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Connettersi da remoto con SSH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5943600" y="3621024"/>
            <a:ext cx="2788920" cy="329184"/>
          </a:xfrm>
          <a:prstGeom prst="rect">
            <a:avLst/>
          </a:prstGeom>
          <a:solidFill>
            <a:srgbClr val="0A0E1A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989320" y="3621024"/>
            <a:ext cx="2697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BC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ssh -l installer install_host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274320" y="4078224"/>
            <a:ext cx="8595360" cy="438912"/>
          </a:xfrm>
          <a:prstGeom prst="rect">
            <a:avLst/>
          </a:prstGeom>
          <a:solidFill>
            <a:srgbClr val="1A2A3A"/>
          </a:solidFill>
          <a:ln w="12700">
            <a:solidFill>
              <a:srgbClr val="2A3A4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47472" y="4142232"/>
            <a:ext cx="310896" cy="310896"/>
          </a:xfrm>
          <a:prstGeom prst="ellipse">
            <a:avLst/>
          </a:prstGeom>
          <a:solidFill>
            <a:srgbClr val="006064"/>
          </a:solidFill>
          <a:ln w="12700">
            <a:solidFill>
              <a:srgbClr val="00606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47472" y="414223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7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49808" y="4133088"/>
            <a:ext cx="7955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Verificare il fingerprint del sistema remoto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274320" y="4590288"/>
            <a:ext cx="8595360" cy="438912"/>
          </a:xfrm>
          <a:prstGeom prst="rect">
            <a:avLst/>
          </a:prstGeom>
          <a:solidFill>
            <a:srgbClr val="1A2A3A"/>
          </a:solidFill>
          <a:ln w="12700">
            <a:solidFill>
              <a:srgbClr val="2A3A4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47472" y="4654296"/>
            <a:ext cx="310896" cy="310896"/>
          </a:xfrm>
          <a:prstGeom prst="ellipse">
            <a:avLst/>
          </a:prstGeom>
          <a:solidFill>
            <a:srgbClr val="006064"/>
          </a:solidFill>
          <a:ln w="12700">
            <a:solidFill>
              <a:srgbClr val="00606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47472" y="465429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8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749808" y="4645152"/>
            <a:ext cx="7955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Continuare l'installazione dal menu remoto</a:t>
            </a:r>
            <a:endParaRPr lang="en-US" sz="1250" dirty="0"/>
          </a:p>
        </p:txBody>
      </p:sp>
      <p:sp>
        <p:nvSpPr>
          <p:cNvPr id="38" name="Shape 36"/>
          <p:cNvSpPr/>
          <p:nvPr/>
        </p:nvSpPr>
        <p:spPr>
          <a:xfrm>
            <a:off x="274320" y="5120640"/>
            <a:ext cx="8595360" cy="365760"/>
          </a:xfrm>
          <a:prstGeom prst="rect">
            <a:avLst/>
          </a:prstGeom>
          <a:solidFill>
            <a:srgbClr val="3A1A1A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57200" y="5120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Non tornare alla console locale dopo aver avviato l'installazione SSH — rischio corruzione database configurazione!</a:t>
            </a:r>
            <a:endParaRPr lang="en-US" sz="11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5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Debug, Shell e Segnalazione Problemi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411480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05840"/>
            <a:ext cx="4114800" cy="43891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024128"/>
            <a:ext cx="3840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⌨️  Scorciatoie console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411480" y="1508760"/>
            <a:ext cx="914400" cy="310896"/>
          </a:xfrm>
          <a:prstGeom prst="rect">
            <a:avLst/>
          </a:prstGeom>
          <a:solidFill>
            <a:srgbClr val="E3F2FD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508760"/>
            <a:ext cx="914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565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Alt+F1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417320" y="1527048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Console principale installatore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11480" y="1874520"/>
            <a:ext cx="914400" cy="310896"/>
          </a:xfrm>
          <a:prstGeom prst="rect">
            <a:avLst/>
          </a:prstGeom>
          <a:solidFill>
            <a:srgbClr val="E3F2FD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1874520"/>
            <a:ext cx="914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565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Alt+F2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417320" y="1892808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Shell interattiva secondaria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11480" y="2240280"/>
            <a:ext cx="914400" cy="310896"/>
          </a:xfrm>
          <a:prstGeom prst="rect">
            <a:avLst/>
          </a:prstGeom>
          <a:solidFill>
            <a:srgbClr val="E3F2FD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2240280"/>
            <a:ext cx="914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565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Alt+F4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417320" y="2258568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e messaggi di errore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11480" y="2606040"/>
            <a:ext cx="914400" cy="310896"/>
          </a:xfrm>
          <a:prstGeom prst="rect">
            <a:avLst/>
          </a:prstGeom>
          <a:solidFill>
            <a:srgbClr val="E3F2FD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2606040"/>
            <a:ext cx="914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565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Alt+F3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417320" y="2624328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Console shell aggiuntiva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572000" y="1005840"/>
            <a:ext cx="429768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0" y="1005840"/>
            <a:ext cx="4297680" cy="43891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09160" y="1024128"/>
            <a:ext cx="4023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 File di log importanti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4709160" y="1508760"/>
            <a:ext cx="2286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565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/var/log/syslog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709160" y="1746504"/>
            <a:ext cx="4023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sistema durante installazione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709160" y="2002536"/>
            <a:ext cx="2286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565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/var/log/installer/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709160" y="2240280"/>
            <a:ext cx="4023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nel sistema installato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709160" y="2496312"/>
            <a:ext cx="2286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565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/var/log/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709160" y="2734056"/>
            <a:ext cx="4023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Directory principale log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274320" y="3108960"/>
            <a:ext cx="8595360" cy="38404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312724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Template rapporto di installazione (installation-reports)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274320" y="3566160"/>
            <a:ext cx="4206240" cy="411480"/>
          </a:xfrm>
          <a:prstGeom prst="rect">
            <a:avLst/>
          </a:prstGeom>
          <a:solidFill>
            <a:srgbClr val="E3F2FD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3584448"/>
            <a:ext cx="164592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 method: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2057400" y="3584448"/>
            <a:ext cx="228600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CD/DVD, USB, rete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709160" y="3566160"/>
            <a:ext cx="4206240" cy="411480"/>
          </a:xfrm>
          <a:prstGeom prst="rect">
            <a:avLst/>
          </a:prstGeom>
          <a:solidFill>
            <a:srgbClr val="E3F2FD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00600" y="3584448"/>
            <a:ext cx="164592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Machine: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492240" y="3584448"/>
            <a:ext cx="228600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Modello e marca del computer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274320" y="4041648"/>
            <a:ext cx="420624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059936"/>
            <a:ext cx="164592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Processor: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2057400" y="4059936"/>
            <a:ext cx="228600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 di CPU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709160" y="4041648"/>
            <a:ext cx="420624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00600" y="4059936"/>
            <a:ext cx="164592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Memory: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6492240" y="4059936"/>
            <a:ext cx="228600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Quantità RAM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274320" y="4517136"/>
            <a:ext cx="4206240" cy="411480"/>
          </a:xfrm>
          <a:prstGeom prst="rect">
            <a:avLst/>
          </a:prstGeom>
          <a:solidFill>
            <a:srgbClr val="E3F2FD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65760" y="4535424"/>
            <a:ext cx="164592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Partitions: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2057400" y="4535424"/>
            <a:ext cx="228600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df -Tl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4709160" y="4517136"/>
            <a:ext cx="4206240" cy="411480"/>
          </a:xfrm>
          <a:prstGeom prst="rect">
            <a:avLst/>
          </a:prstGeom>
          <a:solidFill>
            <a:srgbClr val="E3F2FD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800600" y="4535424"/>
            <a:ext cx="164592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lspci -knn: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6492240" y="4535424"/>
            <a:ext cx="228600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Elenco hardware PCI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274320" y="5029200"/>
            <a:ext cx="8595360" cy="320040"/>
          </a:xfrm>
          <a:prstGeom prst="rect">
            <a:avLst/>
          </a:prstGeom>
          <a:solidFill>
            <a:srgbClr val="E3F2FD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57200" y="50292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📧  Inviare a: submit@bugs.debian.org — Comando: reportbug installation-reports</a:t>
            </a:r>
            <a:endParaRPr lang="en-US" sz="12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5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Personalizzazione — Init e Completamento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859536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05840"/>
            <a:ext cx="8595360" cy="438912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24128"/>
            <a:ext cx="8046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Sistema Init — Installazione alternativa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536192"/>
            <a:ext cx="2651760" cy="685800"/>
          </a:xfrm>
          <a:prstGeom prst="rect">
            <a:avLst/>
          </a:prstGeom>
          <a:solidFill>
            <a:srgbClr val="ECEFF1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55448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systemd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1847088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in Debian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337560" y="1536192"/>
            <a:ext cx="2651760" cy="685800"/>
          </a:xfrm>
          <a:prstGeom prst="rect">
            <a:avLst/>
          </a:prstGeom>
          <a:solidFill>
            <a:srgbClr val="ECEFF1"/>
          </a:solidFill>
          <a:ln w="12700">
            <a:solidFill>
              <a:srgbClr val="607D8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37560" y="155448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sysvinit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337560" y="1847088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 classico Unix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217920" y="1536192"/>
            <a:ext cx="2651760" cy="685800"/>
          </a:xfrm>
          <a:prstGeom prst="rect">
            <a:avLst/>
          </a:prstGeom>
          <a:solidFill>
            <a:srgbClr val="ECEFF1"/>
          </a:solidFill>
          <a:ln w="12700">
            <a:solidFill>
              <a:srgbClr val="00606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0" y="155448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60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OpenRC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217920" y="1847088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Alternativa moderna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274320" y="2487168"/>
            <a:ext cx="8595360" cy="2423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2487168"/>
            <a:ext cx="8595360" cy="43891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2505456"/>
            <a:ext cx="8046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Passi finali dell'installazione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65760" y="2999232"/>
            <a:ext cx="8412480" cy="393192"/>
          </a:xfrm>
          <a:prstGeom prst="rect">
            <a:avLst/>
          </a:prstGeom>
          <a:solidFill>
            <a:srgbClr val="E3F2FD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3026664"/>
            <a:ext cx="237744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🕐  Orologio sistema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971800" y="3026664"/>
            <a:ext cx="566928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Determinazione UTC/locale. Riavvio su sistema completato.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65760" y="3456432"/>
            <a:ext cx="8412480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3483864"/>
            <a:ext cx="237744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💿  Espulsione supporto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2971800" y="3483864"/>
            <a:ext cx="566928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Rimozione automatica CD/DVD/USB. Parametro cdrom-detect/eject=false per disabilitare.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65760" y="3913632"/>
            <a:ext cx="8412480" cy="393192"/>
          </a:xfrm>
          <a:prstGeom prst="rect">
            <a:avLst/>
          </a:prstGeom>
          <a:solidFill>
            <a:srgbClr val="E3F2FD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" y="3941064"/>
            <a:ext cx="237744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 Riavvio finale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2971800" y="3941064"/>
            <a:ext cx="566928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sistema si riavvia nel nuovo Debian installato. Rimuovere il supporto di installazione.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65760" y="4370832"/>
            <a:ext cx="8412480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2920" y="4398264"/>
            <a:ext cx="237744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📂  Log disponibili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2971800" y="4398264"/>
            <a:ext cx="566928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Tutti i log salvati in /var/log/installer/ sul sistema installato.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274320" y="4983480"/>
            <a:ext cx="8595360" cy="384048"/>
          </a:xfrm>
          <a:prstGeom prst="rect">
            <a:avLst/>
          </a:prstGeom>
          <a:solidFill>
            <a:srgbClr val="ECEFF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" y="498348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Shell durante installazione: nano per file, ash per comandi. ls /bin /sbin per programmi disponibili.</a:t>
            </a:r>
            <a:endParaRPr lang="en-US" sz="12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Riepilogo — Processo di Installazione Debian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914400"/>
            <a:ext cx="4206240" cy="804672"/>
          </a:xfrm>
          <a:prstGeom prst="rect">
            <a:avLst/>
          </a:prstGeom>
          <a:solidFill>
            <a:srgbClr val="1A2A3A"/>
          </a:solidFill>
          <a:ln w="12700">
            <a:solidFill>
              <a:srgbClr val="2A3A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914400"/>
            <a:ext cx="5029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932688" y="969264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Avvio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32688" y="1316736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Supporto ottico, USB, rete. Parametri kernel personalizzabili.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709160" y="914400"/>
            <a:ext cx="4206240" cy="804672"/>
          </a:xfrm>
          <a:prstGeom prst="rect">
            <a:avLst/>
          </a:prstGeom>
          <a:solidFill>
            <a:srgbClr val="1A2A3A"/>
          </a:solidFill>
          <a:ln w="12700">
            <a:solidFill>
              <a:srgbClr val="2A3A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00600" y="914400"/>
            <a:ext cx="5029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5367528" y="969264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Accessibilità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367528" y="1316736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newt, text, gtk, sintesi vocale, contrasto elevato.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274320" y="1847088"/>
            <a:ext cx="4206240" cy="804672"/>
          </a:xfrm>
          <a:prstGeom prst="rect">
            <a:avLst/>
          </a:prstGeom>
          <a:solidFill>
            <a:srgbClr val="1A2A3A"/>
          </a:solidFill>
          <a:ln w="12700">
            <a:solidFill>
              <a:srgbClr val="2A3A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847088"/>
            <a:ext cx="5029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932688" y="1901952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Localizzazione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932688" y="2249424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Lingua → Nazione → Locale → Layout tastiera.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709160" y="1847088"/>
            <a:ext cx="4206240" cy="804672"/>
          </a:xfrm>
          <a:prstGeom prst="rect">
            <a:avLst/>
          </a:prstGeom>
          <a:solidFill>
            <a:srgbClr val="1A2A3A"/>
          </a:solidFill>
          <a:ln w="12700">
            <a:solidFill>
              <a:srgbClr val="2A3A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00600" y="1847088"/>
            <a:ext cx="5029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5367528" y="1901952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367528" y="2249424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Automatica (DHCP/IPv6) o manuale con tutti i parametri.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274320" y="2779776"/>
            <a:ext cx="4206240" cy="804672"/>
          </a:xfrm>
          <a:prstGeom prst="rect">
            <a:avLst/>
          </a:prstGeom>
          <a:solidFill>
            <a:srgbClr val="1A2A3A"/>
          </a:solidFill>
          <a:ln w="12700">
            <a:solidFill>
              <a:srgbClr val="2A3A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2779776"/>
            <a:ext cx="5029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⑤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932688" y="2834640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Partizionamento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932688" y="3182112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Guidato / Manuale. RAID, LVM, cifratura dm-crypt.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709160" y="2779776"/>
            <a:ext cx="4206240" cy="804672"/>
          </a:xfrm>
          <a:prstGeom prst="rect">
            <a:avLst/>
          </a:prstGeom>
          <a:solidFill>
            <a:srgbClr val="1A2A3A"/>
          </a:solidFill>
          <a:ln w="12700">
            <a:solidFill>
              <a:srgbClr val="2A3A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00600" y="2779776"/>
            <a:ext cx="5029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⑥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5367528" y="2834640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base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367528" y="3182112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Download, verifica, installazione kernel Linux.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274320" y="3712464"/>
            <a:ext cx="4206240" cy="804672"/>
          </a:xfrm>
          <a:prstGeom prst="rect">
            <a:avLst/>
          </a:prstGeom>
          <a:solidFill>
            <a:srgbClr val="1A2A3A"/>
          </a:solidFill>
          <a:ln w="12700">
            <a:solidFill>
              <a:srgbClr val="2A3A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3712464"/>
            <a:ext cx="5029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⑦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932688" y="3767328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932688" y="4114800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APT, mirror, task (desktop, server, standard).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4709160" y="3712464"/>
            <a:ext cx="4206240" cy="804672"/>
          </a:xfrm>
          <a:prstGeom prst="rect">
            <a:avLst/>
          </a:prstGeom>
          <a:solidFill>
            <a:srgbClr val="1A2A3A"/>
          </a:solidFill>
          <a:ln w="12700">
            <a:solidFill>
              <a:srgbClr val="2A3A4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00600" y="3712464"/>
            <a:ext cx="5029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⑧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5367528" y="3767328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 + Riavvio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5367528" y="4114800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GRUB, rilevamento OS, orologio, espulsione.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457200" y="477316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Debian GNU/Linux — Il sistema operativo universale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Installazione di Debian GNU/Linux</dc:title>
  <dc:subject>PptxGenJS Presentation</dc:subject>
  <dc:creator>PptxGenJS</dc:creator>
  <cp:lastModifiedBy>PptxGenJS</cp:lastModifiedBy>
  <cp:revision>1</cp:revision>
  <dcterms:created xsi:type="dcterms:W3CDTF">2026-03-13T14:20:15Z</dcterms:created>
  <dcterms:modified xsi:type="dcterms:W3CDTF">2026-03-13T14:20:15Z</dcterms:modified>
</cp:coreProperties>
</file>