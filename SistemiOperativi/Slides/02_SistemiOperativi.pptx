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21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it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545BB5D-247F-46EF-A6BC-237CB3358187}" type="slidenum"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AB8C1C-8BE9-48C0-A2EE-7B3FA78EC68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03A2832-7DA0-42F7-BA48-D8A2567C002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18B2377-DC7E-49CB-8DC3-03F81C3FACE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1BEE7CE-9116-428B-A45A-CC826B9CCE6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B4EC999-2691-4AAE-931B-5C07886B895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ED933FA-9954-44A7-9CCD-1B9524F3DC2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F881F8D-8D30-456A-9D6E-2A01AFA652F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06D024C-3AD9-49B1-B204-D806AB179FF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3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D817DBA-9DC7-4031-922A-C63E126C895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6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B94EEB6-F5AF-4BAC-AA76-3D1E422D35F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9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073E081-3B05-442C-89B1-1A7349E1647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2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12B5722-83CA-4F97-AD10-1B28E769E86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5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B78B5DF-429B-4BCD-96ED-08F854E6725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8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DD55AA6-208B-4DE8-9B11-0DD8B77BF2E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1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D3D3B43-494F-4F66-B8A2-D8658608B99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4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5C8D1A9-3751-4339-B496-4EC34C5F06A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7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175B42E-BCAD-44C4-A926-8360D5C07E4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0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CECC765-141B-4981-A80B-958AF92B6F8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3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6BAC415-E625-4D0B-98D5-0F4D611534D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6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20CD21F-DE47-47B4-9CCB-948921B3361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9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8F05478-69E4-4F91-A582-476BBA43A3B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it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it-IT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it-IT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it-IT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it-IT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it-IT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it-IT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it-IT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4114440" cy="5143320"/>
          </a:xfrm>
          <a:prstGeom prst="rect">
            <a:avLst/>
          </a:prstGeom>
          <a:solidFill>
            <a:srgbClr val="2c3e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0" y="0"/>
            <a:ext cx="136800" cy="5143320"/>
          </a:xfrm>
          <a:prstGeom prst="rect">
            <a:avLst/>
          </a:prstGeo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4114800" y="3474720"/>
            <a:ext cx="5028840" cy="1645560"/>
          </a:xfrm>
          <a:prstGeom prst="rect">
            <a:avLst/>
          </a:prstGeom>
          <a:solidFill>
            <a:srgbClr val="028090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" name="Image 0" descr="preencoded.png"/>
          <p:cNvPicPr/>
          <p:nvPr/>
        </p:nvPicPr>
        <p:blipFill>
          <a:blip r:embed="rId1"/>
          <a:stretch/>
        </p:blipFill>
        <p:spPr>
          <a:xfrm>
            <a:off x="1097280" y="822960"/>
            <a:ext cx="1828440" cy="1828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" name="Image 1" descr="preencoded.png"/>
          <p:cNvPicPr/>
          <p:nvPr/>
        </p:nvPicPr>
        <p:blipFill>
          <a:blip r:embed="rId2"/>
          <a:stretch/>
        </p:blipFill>
        <p:spPr>
          <a:xfrm>
            <a:off x="274320" y="2743200"/>
            <a:ext cx="1005480" cy="1005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" name="Image 2" descr="preencoded.png"/>
          <p:cNvPicPr/>
          <p:nvPr/>
        </p:nvPicPr>
        <p:blipFill>
          <a:blip r:embed="rId3"/>
          <a:stretch/>
        </p:blipFill>
        <p:spPr>
          <a:xfrm>
            <a:off x="1463040" y="2926080"/>
            <a:ext cx="1005480" cy="1005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" name="Image 3" descr="preencoded.png"/>
          <p:cNvPicPr/>
          <p:nvPr/>
        </p:nvPicPr>
        <p:blipFill>
          <a:blip r:embed="rId4"/>
          <a:stretch/>
        </p:blipFill>
        <p:spPr>
          <a:xfrm>
            <a:off x="2743200" y="2743200"/>
            <a:ext cx="1005480" cy="100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" name="Text 3"/>
          <p:cNvSpPr/>
          <p:nvPr/>
        </p:nvSpPr>
        <p:spPr>
          <a:xfrm>
            <a:off x="4297680" y="1005840"/>
            <a:ext cx="45716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Sistemi Operativi</a:t>
            </a:r>
            <a:endParaRPr lang="it-IT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4"/>
          <p:cNvSpPr/>
          <p:nvPr/>
        </p:nvSpPr>
        <p:spPr>
          <a:xfrm>
            <a:off x="4297680" y="201168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i="1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Concetti base e architettura</a:t>
            </a: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5"/>
          <p:cNvSpPr/>
          <p:nvPr/>
        </p:nvSpPr>
        <p:spPr>
          <a:xfrm>
            <a:off x="4297680" y="260604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8fa4d4"/>
                </a:solidFill>
                <a:effectLst/>
                <a:uFillTx/>
                <a:latin typeface="Calibri"/>
                <a:ea typeface="Calibri"/>
              </a:rPr>
              <a:t>Prof. Fedeli Massimo — Fabbrica Digitale</a:t>
            </a:r>
            <a:endParaRPr lang="it-IT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6"/>
          <p:cNvSpPr/>
          <p:nvPr/>
        </p:nvSpPr>
        <p:spPr>
          <a:xfrm>
            <a:off x="4343400" y="3200400"/>
            <a:ext cx="2102760" cy="29232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7"/>
          <p:cNvSpPr/>
          <p:nvPr/>
        </p:nvSpPr>
        <p:spPr>
          <a:xfrm>
            <a:off x="4343400" y="3227760"/>
            <a:ext cx="2102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Architettura HW</a:t>
            </a:r>
            <a:endParaRPr lang="it-IT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8"/>
          <p:cNvSpPr/>
          <p:nvPr/>
        </p:nvSpPr>
        <p:spPr>
          <a:xfrm>
            <a:off x="6675120" y="3200400"/>
            <a:ext cx="2102760" cy="29232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9"/>
          <p:cNvSpPr/>
          <p:nvPr/>
        </p:nvSpPr>
        <p:spPr>
          <a:xfrm>
            <a:off x="6675120" y="3227760"/>
            <a:ext cx="2102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Obiettivi SO</a:t>
            </a:r>
            <a:endParaRPr lang="it-IT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10"/>
          <p:cNvSpPr/>
          <p:nvPr/>
        </p:nvSpPr>
        <p:spPr>
          <a:xfrm>
            <a:off x="4343400" y="3611880"/>
            <a:ext cx="2102760" cy="29232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1"/>
          <p:cNvSpPr/>
          <p:nvPr/>
        </p:nvSpPr>
        <p:spPr>
          <a:xfrm>
            <a:off x="4343400" y="3639240"/>
            <a:ext cx="2102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Processi</a:t>
            </a:r>
            <a:endParaRPr lang="it-IT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2"/>
          <p:cNvSpPr/>
          <p:nvPr/>
        </p:nvSpPr>
        <p:spPr>
          <a:xfrm>
            <a:off x="6675120" y="3611880"/>
            <a:ext cx="2102760" cy="29232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3"/>
          <p:cNvSpPr/>
          <p:nvPr/>
        </p:nvSpPr>
        <p:spPr>
          <a:xfrm>
            <a:off x="6675120" y="3639240"/>
            <a:ext cx="2102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Memoria</a:t>
            </a:r>
            <a:endParaRPr lang="it-IT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14"/>
          <p:cNvSpPr/>
          <p:nvPr/>
        </p:nvSpPr>
        <p:spPr>
          <a:xfrm>
            <a:off x="4343400" y="4023360"/>
            <a:ext cx="2102760" cy="29232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5"/>
          <p:cNvSpPr/>
          <p:nvPr/>
        </p:nvSpPr>
        <p:spPr>
          <a:xfrm>
            <a:off x="4343400" y="4050720"/>
            <a:ext cx="2102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File System</a:t>
            </a:r>
            <a:endParaRPr lang="it-IT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6"/>
          <p:cNvSpPr/>
          <p:nvPr/>
        </p:nvSpPr>
        <p:spPr>
          <a:xfrm>
            <a:off x="6675120" y="4023360"/>
            <a:ext cx="2102760" cy="29232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7"/>
          <p:cNvSpPr/>
          <p:nvPr/>
        </p:nvSpPr>
        <p:spPr>
          <a:xfrm>
            <a:off x="6675120" y="4050720"/>
            <a:ext cx="2102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System Call</a:t>
            </a:r>
            <a:endParaRPr lang="it-IT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18"/>
          <p:cNvSpPr/>
          <p:nvPr/>
        </p:nvSpPr>
        <p:spPr>
          <a:xfrm>
            <a:off x="4343400" y="4434840"/>
            <a:ext cx="2102760" cy="29232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9"/>
          <p:cNvSpPr/>
          <p:nvPr/>
        </p:nvSpPr>
        <p:spPr>
          <a:xfrm>
            <a:off x="4343400" y="4462200"/>
            <a:ext cx="2102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Strutture</a:t>
            </a:r>
            <a:endParaRPr lang="it-IT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20"/>
          <p:cNvSpPr/>
          <p:nvPr/>
        </p:nvSpPr>
        <p:spPr>
          <a:xfrm>
            <a:off x="6675120" y="4434840"/>
            <a:ext cx="2102760" cy="29232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21"/>
          <p:cNvSpPr/>
          <p:nvPr/>
        </p:nvSpPr>
        <p:spPr>
          <a:xfrm>
            <a:off x="6675120" y="4462200"/>
            <a:ext cx="2102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Sicurezza</a:t>
            </a:r>
            <a:endParaRPr lang="it-IT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0"/>
          <p:cNvSpPr/>
          <p:nvPr/>
        </p:nvSpPr>
        <p:spPr>
          <a:xfrm>
            <a:off x="0" y="0"/>
            <a:ext cx="9143640" cy="74952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"/>
          <p:cNvSpPr/>
          <p:nvPr/>
        </p:nvSpPr>
        <p:spPr>
          <a:xfrm>
            <a:off x="0" y="0"/>
            <a:ext cx="109440" cy="514332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2"/>
          <p:cNvSpPr/>
          <p:nvPr/>
        </p:nvSpPr>
        <p:spPr>
          <a:xfrm>
            <a:off x="228600" y="73080"/>
            <a:ext cx="73148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Sommario del Corso</a:t>
            </a:r>
            <a:endParaRPr lang="it-IT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3"/>
          <p:cNvSpPr/>
          <p:nvPr/>
        </p:nvSpPr>
        <p:spPr>
          <a:xfrm>
            <a:off x="201240" y="960120"/>
            <a:ext cx="2057040" cy="1691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4"/>
          <p:cNvSpPr/>
          <p:nvPr/>
        </p:nvSpPr>
        <p:spPr>
          <a:xfrm>
            <a:off x="201240" y="960120"/>
            <a:ext cx="2057040" cy="41112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5"/>
          <p:cNvSpPr/>
          <p:nvPr/>
        </p:nvSpPr>
        <p:spPr>
          <a:xfrm>
            <a:off x="274320" y="996840"/>
            <a:ext cx="456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01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6"/>
          <p:cNvSpPr/>
          <p:nvPr/>
        </p:nvSpPr>
        <p:spPr>
          <a:xfrm>
            <a:off x="704160" y="1005840"/>
            <a:ext cx="1462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Architettura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7"/>
          <p:cNvSpPr/>
          <p:nvPr/>
        </p:nvSpPr>
        <p:spPr>
          <a:xfrm>
            <a:off x="292680" y="1435680"/>
            <a:ext cx="187416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CPU, bus, memoria, DMA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8"/>
          <p:cNvSpPr/>
          <p:nvPr/>
        </p:nvSpPr>
        <p:spPr>
          <a:xfrm>
            <a:off x="2423160" y="960120"/>
            <a:ext cx="2057040" cy="1691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9"/>
          <p:cNvSpPr/>
          <p:nvPr/>
        </p:nvSpPr>
        <p:spPr>
          <a:xfrm>
            <a:off x="2423160" y="960120"/>
            <a:ext cx="2057040" cy="41112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0"/>
          <p:cNvSpPr/>
          <p:nvPr/>
        </p:nvSpPr>
        <p:spPr>
          <a:xfrm>
            <a:off x="2496240" y="996840"/>
            <a:ext cx="456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02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1"/>
          <p:cNvSpPr/>
          <p:nvPr/>
        </p:nvSpPr>
        <p:spPr>
          <a:xfrm>
            <a:off x="2926080" y="1005840"/>
            <a:ext cx="1462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Obiettivi SO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2"/>
          <p:cNvSpPr/>
          <p:nvPr/>
        </p:nvSpPr>
        <p:spPr>
          <a:xfrm>
            <a:off x="2514600" y="1435680"/>
            <a:ext cx="187416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Astrazione e virtualizzazione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13"/>
          <p:cNvSpPr/>
          <p:nvPr/>
        </p:nvSpPr>
        <p:spPr>
          <a:xfrm>
            <a:off x="4645080" y="960120"/>
            <a:ext cx="2057040" cy="1691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14"/>
          <p:cNvSpPr/>
          <p:nvPr/>
        </p:nvSpPr>
        <p:spPr>
          <a:xfrm>
            <a:off x="4645080" y="960120"/>
            <a:ext cx="2057040" cy="41112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5"/>
          <p:cNvSpPr/>
          <p:nvPr/>
        </p:nvSpPr>
        <p:spPr>
          <a:xfrm>
            <a:off x="4718160" y="996840"/>
            <a:ext cx="456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03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6"/>
          <p:cNvSpPr/>
          <p:nvPr/>
        </p:nvSpPr>
        <p:spPr>
          <a:xfrm>
            <a:off x="5148000" y="1005840"/>
            <a:ext cx="1462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Funzioni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7"/>
          <p:cNvSpPr/>
          <p:nvPr/>
        </p:nvSpPr>
        <p:spPr>
          <a:xfrm>
            <a:off x="4736520" y="1435680"/>
            <a:ext cx="187416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Processi, memoria, periferiche, FS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18"/>
          <p:cNvSpPr/>
          <p:nvPr/>
        </p:nvSpPr>
        <p:spPr>
          <a:xfrm>
            <a:off x="6867000" y="960120"/>
            <a:ext cx="2057040" cy="1691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19"/>
          <p:cNvSpPr/>
          <p:nvPr/>
        </p:nvSpPr>
        <p:spPr>
          <a:xfrm>
            <a:off x="6867000" y="960120"/>
            <a:ext cx="2057040" cy="41112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20"/>
          <p:cNvSpPr/>
          <p:nvPr/>
        </p:nvSpPr>
        <p:spPr>
          <a:xfrm>
            <a:off x="6940440" y="996840"/>
            <a:ext cx="456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04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21"/>
          <p:cNvSpPr/>
          <p:nvPr/>
        </p:nvSpPr>
        <p:spPr>
          <a:xfrm>
            <a:off x="7369920" y="1005840"/>
            <a:ext cx="1462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Boot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22"/>
          <p:cNvSpPr/>
          <p:nvPr/>
        </p:nvSpPr>
        <p:spPr>
          <a:xfrm>
            <a:off x="6958440" y="1435680"/>
            <a:ext cx="187416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BIOS, bootloader, GRUB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23"/>
          <p:cNvSpPr/>
          <p:nvPr/>
        </p:nvSpPr>
        <p:spPr>
          <a:xfrm>
            <a:off x="201240" y="2880360"/>
            <a:ext cx="2057040" cy="1691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24"/>
          <p:cNvSpPr/>
          <p:nvPr/>
        </p:nvSpPr>
        <p:spPr>
          <a:xfrm>
            <a:off x="201240" y="2880360"/>
            <a:ext cx="2057040" cy="41112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25"/>
          <p:cNvSpPr/>
          <p:nvPr/>
        </p:nvSpPr>
        <p:spPr>
          <a:xfrm>
            <a:off x="274320" y="2917080"/>
            <a:ext cx="456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05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26"/>
          <p:cNvSpPr/>
          <p:nvPr/>
        </p:nvSpPr>
        <p:spPr>
          <a:xfrm>
            <a:off x="704160" y="2926080"/>
            <a:ext cx="1462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Dual Mode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27"/>
          <p:cNvSpPr/>
          <p:nvPr/>
        </p:nvSpPr>
        <p:spPr>
          <a:xfrm>
            <a:off x="292680" y="3355920"/>
            <a:ext cx="187416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User mode vs Kernel mode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28"/>
          <p:cNvSpPr/>
          <p:nvPr/>
        </p:nvSpPr>
        <p:spPr>
          <a:xfrm>
            <a:off x="2423160" y="2880360"/>
            <a:ext cx="2057040" cy="1691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29"/>
          <p:cNvSpPr/>
          <p:nvPr/>
        </p:nvSpPr>
        <p:spPr>
          <a:xfrm>
            <a:off x="2423160" y="2880360"/>
            <a:ext cx="2057040" cy="41112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30"/>
          <p:cNvSpPr/>
          <p:nvPr/>
        </p:nvSpPr>
        <p:spPr>
          <a:xfrm>
            <a:off x="2496240" y="2917080"/>
            <a:ext cx="456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06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31"/>
          <p:cNvSpPr/>
          <p:nvPr/>
        </p:nvSpPr>
        <p:spPr>
          <a:xfrm>
            <a:off x="2926080" y="2926080"/>
            <a:ext cx="1462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Interrupt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32"/>
          <p:cNvSpPr/>
          <p:nvPr/>
        </p:nvSpPr>
        <p:spPr>
          <a:xfrm>
            <a:off x="2514600" y="3355920"/>
            <a:ext cx="187416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HW, trap, system call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33"/>
          <p:cNvSpPr/>
          <p:nvPr/>
        </p:nvSpPr>
        <p:spPr>
          <a:xfrm>
            <a:off x="4645080" y="2880360"/>
            <a:ext cx="2057040" cy="1691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34"/>
          <p:cNvSpPr/>
          <p:nvPr/>
        </p:nvSpPr>
        <p:spPr>
          <a:xfrm>
            <a:off x="4645080" y="2880360"/>
            <a:ext cx="2057040" cy="41112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35"/>
          <p:cNvSpPr/>
          <p:nvPr/>
        </p:nvSpPr>
        <p:spPr>
          <a:xfrm>
            <a:off x="4718160" y="2917080"/>
            <a:ext cx="456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07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36"/>
          <p:cNvSpPr/>
          <p:nvPr/>
        </p:nvSpPr>
        <p:spPr>
          <a:xfrm>
            <a:off x="5148000" y="2926080"/>
            <a:ext cx="1462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System Call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37"/>
          <p:cNvSpPr/>
          <p:nvPr/>
        </p:nvSpPr>
        <p:spPr>
          <a:xfrm>
            <a:off x="4736520" y="3355920"/>
            <a:ext cx="187416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Interfaccia con il kernel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38"/>
          <p:cNvSpPr/>
          <p:nvPr/>
        </p:nvSpPr>
        <p:spPr>
          <a:xfrm>
            <a:off x="6867000" y="2880360"/>
            <a:ext cx="2057040" cy="1691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39"/>
          <p:cNvSpPr/>
          <p:nvPr/>
        </p:nvSpPr>
        <p:spPr>
          <a:xfrm>
            <a:off x="6867000" y="2880360"/>
            <a:ext cx="2057040" cy="41112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40"/>
          <p:cNvSpPr/>
          <p:nvPr/>
        </p:nvSpPr>
        <p:spPr>
          <a:xfrm>
            <a:off x="6940440" y="2917080"/>
            <a:ext cx="456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08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41"/>
          <p:cNvSpPr/>
          <p:nvPr/>
        </p:nvSpPr>
        <p:spPr>
          <a:xfrm>
            <a:off x="7369920" y="2926080"/>
            <a:ext cx="1462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Strutture SO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42"/>
          <p:cNvSpPr/>
          <p:nvPr/>
        </p:nvSpPr>
        <p:spPr>
          <a:xfrm>
            <a:off x="6958440" y="3355920"/>
            <a:ext cx="187416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Monolitico, microkernel, VM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43"/>
          <p:cNvSpPr/>
          <p:nvPr/>
        </p:nvSpPr>
        <p:spPr>
          <a:xfrm>
            <a:off x="0" y="4937760"/>
            <a:ext cx="9143640" cy="20556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44"/>
          <p:cNvSpPr/>
          <p:nvPr/>
        </p:nvSpPr>
        <p:spPr>
          <a:xfrm>
            <a:off x="182880" y="4946760"/>
            <a:ext cx="87778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Sistemi Operativi — Prof. Fedeli Massimo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0"/>
          <p:cNvSpPr/>
          <p:nvPr/>
        </p:nvSpPr>
        <p:spPr>
          <a:xfrm>
            <a:off x="0" y="0"/>
            <a:ext cx="9143640" cy="74952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1"/>
          <p:cNvSpPr/>
          <p:nvPr/>
        </p:nvSpPr>
        <p:spPr>
          <a:xfrm>
            <a:off x="0" y="0"/>
            <a:ext cx="109440" cy="514332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2"/>
          <p:cNvSpPr/>
          <p:nvPr/>
        </p:nvSpPr>
        <p:spPr>
          <a:xfrm>
            <a:off x="228600" y="73080"/>
            <a:ext cx="73148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Funzionamento di un Calcolatore</a:t>
            </a:r>
            <a:endParaRPr lang="it-IT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3"/>
          <p:cNvSpPr/>
          <p:nvPr/>
        </p:nvSpPr>
        <p:spPr>
          <a:xfrm>
            <a:off x="228600" y="71316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i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Componenti hardware fondamentali e loro interazione</a:t>
            </a:r>
            <a:endParaRPr lang="it-IT" sz="12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4"/>
          <p:cNvSpPr/>
          <p:nvPr/>
        </p:nvSpPr>
        <p:spPr>
          <a:xfrm>
            <a:off x="201240" y="1078560"/>
            <a:ext cx="3758760" cy="367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La CPU (Central Processing Unit) esegue le istruzioni dei programmi e coordina tutte le operazioni del sistema.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I controllori di dispositivo (device controller) gestiscono periferiche specifiche: disco, rete, tastiera, video.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Il bus di sistema è il canale di comunicazione condiviso che collega tutti i componenti.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CPU e controllori operano in modo concorrente: competono per l'accesso alla memoria centrale.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Ogni controller dispone di un buffer locale in cui accumula i dati prima di trasferirli in memoria.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5"/>
          <p:cNvSpPr/>
          <p:nvPr/>
        </p:nvSpPr>
        <p:spPr>
          <a:xfrm>
            <a:off x="4572000" y="960120"/>
            <a:ext cx="4114440" cy="50256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6"/>
          <p:cNvSpPr/>
          <p:nvPr/>
        </p:nvSpPr>
        <p:spPr>
          <a:xfrm>
            <a:off x="4572000" y="960120"/>
            <a:ext cx="4114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MEMORIA CENTRALE (RAM)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7"/>
          <p:cNvSpPr/>
          <p:nvPr/>
        </p:nvSpPr>
        <p:spPr>
          <a:xfrm>
            <a:off x="4572000" y="1627560"/>
            <a:ext cx="4114440" cy="27396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8"/>
          <p:cNvSpPr/>
          <p:nvPr/>
        </p:nvSpPr>
        <p:spPr>
          <a:xfrm>
            <a:off x="4572000" y="162756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BUS DI SISTEMA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9"/>
          <p:cNvSpPr/>
          <p:nvPr/>
        </p:nvSpPr>
        <p:spPr>
          <a:xfrm>
            <a:off x="5669280" y="1463040"/>
            <a:ext cx="91080" cy="18252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10"/>
          <p:cNvSpPr/>
          <p:nvPr/>
        </p:nvSpPr>
        <p:spPr>
          <a:xfrm>
            <a:off x="7223760" y="1463040"/>
            <a:ext cx="91080" cy="18252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11"/>
          <p:cNvSpPr/>
          <p:nvPr/>
        </p:nvSpPr>
        <p:spPr>
          <a:xfrm>
            <a:off x="4617720" y="1993320"/>
            <a:ext cx="1325520" cy="2377080"/>
          </a:xfrm>
          <a:prstGeom prst="rect">
            <a:avLst/>
          </a:prstGeom>
          <a:solidFill>
            <a:srgbClr val="1e2761"/>
          </a:solidFill>
          <a:ln w="635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3" name="Image 0" descr="preencoded.png"/>
          <p:cNvPicPr/>
          <p:nvPr/>
        </p:nvPicPr>
        <p:blipFill>
          <a:blip r:embed="rId1"/>
          <a:stretch/>
        </p:blipFill>
        <p:spPr>
          <a:xfrm>
            <a:off x="5001840" y="2084760"/>
            <a:ext cx="548280" cy="54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" name="Text 12"/>
          <p:cNvSpPr/>
          <p:nvPr/>
        </p:nvSpPr>
        <p:spPr>
          <a:xfrm>
            <a:off x="4617720" y="2743200"/>
            <a:ext cx="1325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CPU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3"/>
          <p:cNvSpPr/>
          <p:nvPr/>
        </p:nvSpPr>
        <p:spPr>
          <a:xfrm>
            <a:off x="4617720" y="3090600"/>
            <a:ext cx="1325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Unità di Elaborazione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14"/>
          <p:cNvSpPr/>
          <p:nvPr/>
        </p:nvSpPr>
        <p:spPr>
          <a:xfrm>
            <a:off x="5230440" y="1901880"/>
            <a:ext cx="91080" cy="10944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15"/>
          <p:cNvSpPr/>
          <p:nvPr/>
        </p:nvSpPr>
        <p:spPr>
          <a:xfrm>
            <a:off x="4709160" y="3657600"/>
            <a:ext cx="1142640" cy="319680"/>
          </a:xfrm>
          <a:prstGeom prst="rect">
            <a:avLst/>
          </a:prstGeom>
          <a:solidFill>
            <a:srgbClr val="02809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6"/>
          <p:cNvSpPr/>
          <p:nvPr/>
        </p:nvSpPr>
        <p:spPr>
          <a:xfrm>
            <a:off x="4709160" y="3657600"/>
            <a:ext cx="1142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Buffer locale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17"/>
          <p:cNvSpPr/>
          <p:nvPr/>
        </p:nvSpPr>
        <p:spPr>
          <a:xfrm>
            <a:off x="6080760" y="1993320"/>
            <a:ext cx="1325520" cy="2377080"/>
          </a:xfrm>
          <a:prstGeom prst="rect">
            <a:avLst/>
          </a:prstGeom>
          <a:solidFill>
            <a:srgbClr val="028090"/>
          </a:solidFill>
          <a:ln w="635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0" name="Image 1" descr="preencoded.png"/>
          <p:cNvPicPr/>
          <p:nvPr/>
        </p:nvPicPr>
        <p:blipFill>
          <a:blip r:embed="rId2"/>
          <a:stretch/>
        </p:blipFill>
        <p:spPr>
          <a:xfrm>
            <a:off x="6464880" y="2084760"/>
            <a:ext cx="548280" cy="54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" name="Text 18"/>
          <p:cNvSpPr/>
          <p:nvPr/>
        </p:nvSpPr>
        <p:spPr>
          <a:xfrm>
            <a:off x="6080760" y="2743200"/>
            <a:ext cx="1325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CTRL Disco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9"/>
          <p:cNvSpPr/>
          <p:nvPr/>
        </p:nvSpPr>
        <p:spPr>
          <a:xfrm>
            <a:off x="6080760" y="3090600"/>
            <a:ext cx="1325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Hard Disk / SSD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20"/>
          <p:cNvSpPr/>
          <p:nvPr/>
        </p:nvSpPr>
        <p:spPr>
          <a:xfrm>
            <a:off x="6693480" y="1901880"/>
            <a:ext cx="91080" cy="10944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21"/>
          <p:cNvSpPr/>
          <p:nvPr/>
        </p:nvSpPr>
        <p:spPr>
          <a:xfrm>
            <a:off x="6172200" y="3657600"/>
            <a:ext cx="1142640" cy="319680"/>
          </a:xfrm>
          <a:prstGeom prst="rect">
            <a:avLst/>
          </a:prstGeom>
          <a:solidFill>
            <a:srgbClr val="02809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22"/>
          <p:cNvSpPr/>
          <p:nvPr/>
        </p:nvSpPr>
        <p:spPr>
          <a:xfrm>
            <a:off x="6172200" y="3657600"/>
            <a:ext cx="1142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Buffer locale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23"/>
          <p:cNvSpPr/>
          <p:nvPr/>
        </p:nvSpPr>
        <p:spPr>
          <a:xfrm>
            <a:off x="7543800" y="1993320"/>
            <a:ext cx="1325520" cy="2377080"/>
          </a:xfrm>
          <a:prstGeom prst="rect">
            <a:avLst/>
          </a:prstGeom>
          <a:solidFill>
            <a:srgbClr val="2c3e6b"/>
          </a:solidFill>
          <a:ln w="635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7" name="Image 2" descr="preencoded.png"/>
          <p:cNvPicPr/>
          <p:nvPr/>
        </p:nvPicPr>
        <p:blipFill>
          <a:blip r:embed="rId3"/>
          <a:stretch/>
        </p:blipFill>
        <p:spPr>
          <a:xfrm>
            <a:off x="7927920" y="2084760"/>
            <a:ext cx="548280" cy="54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Text 24"/>
          <p:cNvSpPr/>
          <p:nvPr/>
        </p:nvSpPr>
        <p:spPr>
          <a:xfrm>
            <a:off x="7543800" y="2743200"/>
            <a:ext cx="1325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CTRL Video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25"/>
          <p:cNvSpPr/>
          <p:nvPr/>
        </p:nvSpPr>
        <p:spPr>
          <a:xfrm>
            <a:off x="7543800" y="3090600"/>
            <a:ext cx="1325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Scheda Grafica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26"/>
          <p:cNvSpPr/>
          <p:nvPr/>
        </p:nvSpPr>
        <p:spPr>
          <a:xfrm>
            <a:off x="8156520" y="1901880"/>
            <a:ext cx="91080" cy="10944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27"/>
          <p:cNvSpPr/>
          <p:nvPr/>
        </p:nvSpPr>
        <p:spPr>
          <a:xfrm>
            <a:off x="7635240" y="3657600"/>
            <a:ext cx="1142640" cy="319680"/>
          </a:xfrm>
          <a:prstGeom prst="rect">
            <a:avLst/>
          </a:prstGeom>
          <a:solidFill>
            <a:srgbClr val="02809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28"/>
          <p:cNvSpPr/>
          <p:nvPr/>
        </p:nvSpPr>
        <p:spPr>
          <a:xfrm>
            <a:off x="7635240" y="3657600"/>
            <a:ext cx="1142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Buffer locale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29"/>
          <p:cNvSpPr/>
          <p:nvPr/>
        </p:nvSpPr>
        <p:spPr>
          <a:xfrm>
            <a:off x="0" y="4937760"/>
            <a:ext cx="9143640" cy="20556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30"/>
          <p:cNvSpPr/>
          <p:nvPr/>
        </p:nvSpPr>
        <p:spPr>
          <a:xfrm>
            <a:off x="182880" y="4946760"/>
            <a:ext cx="87778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Sistemi Operativi — Prof. Fedeli Massimo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0"/>
          <p:cNvSpPr/>
          <p:nvPr/>
        </p:nvSpPr>
        <p:spPr>
          <a:xfrm>
            <a:off x="0" y="0"/>
            <a:ext cx="9143640" cy="74952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1"/>
          <p:cNvSpPr/>
          <p:nvPr/>
        </p:nvSpPr>
        <p:spPr>
          <a:xfrm>
            <a:off x="0" y="0"/>
            <a:ext cx="109440" cy="514332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2"/>
          <p:cNvSpPr/>
          <p:nvPr/>
        </p:nvSpPr>
        <p:spPr>
          <a:xfrm>
            <a:off x="228600" y="73080"/>
            <a:ext cx="73148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I/O e Trasferimento Dati</a:t>
            </a:r>
            <a:endParaRPr lang="it-IT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3"/>
          <p:cNvSpPr/>
          <p:nvPr/>
        </p:nvSpPr>
        <p:spPr>
          <a:xfrm>
            <a:off x="228600" y="71316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i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Come avviene la comunicazione tra periferiche e memoria</a:t>
            </a:r>
            <a:endParaRPr lang="it-IT" sz="12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4"/>
          <p:cNvSpPr/>
          <p:nvPr/>
        </p:nvSpPr>
        <p:spPr>
          <a:xfrm>
            <a:off x="182880" y="987480"/>
            <a:ext cx="502560" cy="502560"/>
          </a:xfr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5"/>
          <p:cNvSpPr/>
          <p:nvPr/>
        </p:nvSpPr>
        <p:spPr>
          <a:xfrm>
            <a:off x="182880" y="1024200"/>
            <a:ext cx="50256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6"/>
          <p:cNvSpPr/>
          <p:nvPr/>
        </p:nvSpPr>
        <p:spPr>
          <a:xfrm>
            <a:off x="384120" y="1490400"/>
            <a:ext cx="91080" cy="255600"/>
          </a:xfrm>
          <a:prstGeom prst="rect">
            <a:avLst/>
          </a:prstGeom>
          <a:solidFill>
            <a:srgbClr val="8fa4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7"/>
          <p:cNvSpPr/>
          <p:nvPr/>
        </p:nvSpPr>
        <p:spPr>
          <a:xfrm>
            <a:off x="822960" y="987480"/>
            <a:ext cx="3565800" cy="50256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8"/>
          <p:cNvSpPr/>
          <p:nvPr/>
        </p:nvSpPr>
        <p:spPr>
          <a:xfrm>
            <a:off x="914400" y="1005840"/>
            <a:ext cx="33829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Richiesta I/O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9"/>
          <p:cNvSpPr/>
          <p:nvPr/>
        </p:nvSpPr>
        <p:spPr>
          <a:xfrm>
            <a:off x="914400" y="1234440"/>
            <a:ext cx="33829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Il processo utente richiede un'operazione di I/O tramite system call.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10"/>
          <p:cNvSpPr/>
          <p:nvPr/>
        </p:nvSpPr>
        <p:spPr>
          <a:xfrm>
            <a:off x="182880" y="1737360"/>
            <a:ext cx="502560" cy="502560"/>
          </a:xfr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1"/>
          <p:cNvSpPr/>
          <p:nvPr/>
        </p:nvSpPr>
        <p:spPr>
          <a:xfrm>
            <a:off x="182880" y="1774080"/>
            <a:ext cx="50256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12"/>
          <p:cNvSpPr/>
          <p:nvPr/>
        </p:nvSpPr>
        <p:spPr>
          <a:xfrm>
            <a:off x="384120" y="2240280"/>
            <a:ext cx="91080" cy="255600"/>
          </a:xfrm>
          <a:prstGeom prst="rect">
            <a:avLst/>
          </a:prstGeom>
          <a:solidFill>
            <a:srgbClr val="8fa4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13"/>
          <p:cNvSpPr/>
          <p:nvPr/>
        </p:nvSpPr>
        <p:spPr>
          <a:xfrm>
            <a:off x="822960" y="1737360"/>
            <a:ext cx="3565800" cy="50256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4"/>
          <p:cNvSpPr/>
          <p:nvPr/>
        </p:nvSpPr>
        <p:spPr>
          <a:xfrm>
            <a:off x="914400" y="1755720"/>
            <a:ext cx="33829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Controller attivo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5"/>
          <p:cNvSpPr/>
          <p:nvPr/>
        </p:nvSpPr>
        <p:spPr>
          <a:xfrm>
            <a:off x="914400" y="1984320"/>
            <a:ext cx="33829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Il controller del dispositivo inizia il trasferimento dati nel proprio buffer locale.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16"/>
          <p:cNvSpPr/>
          <p:nvPr/>
        </p:nvSpPr>
        <p:spPr>
          <a:xfrm>
            <a:off x="182880" y="2487240"/>
            <a:ext cx="502560" cy="502560"/>
          </a:xfr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7"/>
          <p:cNvSpPr/>
          <p:nvPr/>
        </p:nvSpPr>
        <p:spPr>
          <a:xfrm>
            <a:off x="182880" y="2523600"/>
            <a:ext cx="50256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18"/>
          <p:cNvSpPr/>
          <p:nvPr/>
        </p:nvSpPr>
        <p:spPr>
          <a:xfrm>
            <a:off x="384120" y="2990160"/>
            <a:ext cx="91080" cy="255600"/>
          </a:xfrm>
          <a:prstGeom prst="rect">
            <a:avLst/>
          </a:prstGeom>
          <a:solidFill>
            <a:srgbClr val="8fa4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19"/>
          <p:cNvSpPr/>
          <p:nvPr/>
        </p:nvSpPr>
        <p:spPr>
          <a:xfrm>
            <a:off x="822960" y="2487240"/>
            <a:ext cx="3565800" cy="50256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20"/>
          <p:cNvSpPr/>
          <p:nvPr/>
        </p:nvSpPr>
        <p:spPr>
          <a:xfrm>
            <a:off x="914400" y="2505600"/>
            <a:ext cx="33829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CPU libera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21"/>
          <p:cNvSpPr/>
          <p:nvPr/>
        </p:nvSpPr>
        <p:spPr>
          <a:xfrm>
            <a:off x="914400" y="2734200"/>
            <a:ext cx="33829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Nel frattempo la CPU può eseguire altri processi (I/O asincrono).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22"/>
          <p:cNvSpPr/>
          <p:nvPr/>
        </p:nvSpPr>
        <p:spPr>
          <a:xfrm>
            <a:off x="182880" y="3237120"/>
            <a:ext cx="502560" cy="502560"/>
          </a:xfr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23"/>
          <p:cNvSpPr/>
          <p:nvPr/>
        </p:nvSpPr>
        <p:spPr>
          <a:xfrm>
            <a:off x="182880" y="3273480"/>
            <a:ext cx="50256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24"/>
          <p:cNvSpPr/>
          <p:nvPr/>
        </p:nvSpPr>
        <p:spPr>
          <a:xfrm>
            <a:off x="384120" y="3740040"/>
            <a:ext cx="91080" cy="255600"/>
          </a:xfrm>
          <a:prstGeom prst="rect">
            <a:avLst/>
          </a:prstGeom>
          <a:solidFill>
            <a:srgbClr val="8fa4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25"/>
          <p:cNvSpPr/>
          <p:nvPr/>
        </p:nvSpPr>
        <p:spPr>
          <a:xfrm>
            <a:off x="822960" y="3237120"/>
            <a:ext cx="3565800" cy="50256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26"/>
          <p:cNvSpPr/>
          <p:nvPr/>
        </p:nvSpPr>
        <p:spPr>
          <a:xfrm>
            <a:off x="914400" y="3255120"/>
            <a:ext cx="33829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Interrupt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27"/>
          <p:cNvSpPr/>
          <p:nvPr/>
        </p:nvSpPr>
        <p:spPr>
          <a:xfrm>
            <a:off x="914400" y="3483720"/>
            <a:ext cx="33829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Al termine, il controller invia un segnale di interrupt alla CPU.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28"/>
          <p:cNvSpPr/>
          <p:nvPr/>
        </p:nvSpPr>
        <p:spPr>
          <a:xfrm>
            <a:off x="182880" y="3986640"/>
            <a:ext cx="502560" cy="502560"/>
          </a:xfr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29"/>
          <p:cNvSpPr/>
          <p:nvPr/>
        </p:nvSpPr>
        <p:spPr>
          <a:xfrm>
            <a:off x="182880" y="4023360"/>
            <a:ext cx="50256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30"/>
          <p:cNvSpPr/>
          <p:nvPr/>
        </p:nvSpPr>
        <p:spPr>
          <a:xfrm>
            <a:off x="822960" y="3986640"/>
            <a:ext cx="3565800" cy="50256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31"/>
          <p:cNvSpPr/>
          <p:nvPr/>
        </p:nvSpPr>
        <p:spPr>
          <a:xfrm>
            <a:off x="914400" y="4005000"/>
            <a:ext cx="33829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Trasferimento RAM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32"/>
          <p:cNvSpPr/>
          <p:nvPr/>
        </p:nvSpPr>
        <p:spPr>
          <a:xfrm>
            <a:off x="914400" y="4233600"/>
            <a:ext cx="33829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La CPU (o il DMA) copia i dati dal buffer del controller alla memoria centrale.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33"/>
          <p:cNvSpPr/>
          <p:nvPr/>
        </p:nvSpPr>
        <p:spPr>
          <a:xfrm>
            <a:off x="5029200" y="960120"/>
            <a:ext cx="3748680" cy="3931560"/>
          </a:xfrm>
          <a:prstGeom prst="rect">
            <a:avLst/>
          </a:prstGeom>
          <a:solidFill>
            <a:srgbClr val="1e2761"/>
          </a:solidFill>
          <a:ln w="1905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34"/>
          <p:cNvSpPr/>
          <p:nvPr/>
        </p:nvSpPr>
        <p:spPr>
          <a:xfrm>
            <a:off x="5029200" y="960120"/>
            <a:ext cx="3748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DMA — Direct Memory Access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35"/>
          <p:cNvSpPr/>
          <p:nvPr/>
        </p:nvSpPr>
        <p:spPr>
          <a:xfrm>
            <a:off x="5120640" y="1426320"/>
            <a:ext cx="3565800" cy="33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Il DMA (Direct Memory Access) è un componente hardware che permette ai controller di periferiche di trasferire dati direttamente in memoria centrale 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SENZA coinvolgere la CPU per ogni byte.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Vantaggi: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▸ Libera la CPU da operazioni di I/O ripetitive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▸ Aumenta drasticamente le prestazioni di I/O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▸ Permette il parallelismo CPU / I/O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Funzionamento: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Il DMA controller riceve indirizzo, dimensione e direzione dal SO, esegue il trasferimento autonomamente e invia un interrupt al completamento.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36"/>
          <p:cNvSpPr/>
          <p:nvPr/>
        </p:nvSpPr>
        <p:spPr>
          <a:xfrm>
            <a:off x="0" y="4937760"/>
            <a:ext cx="9143640" cy="20556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37"/>
          <p:cNvSpPr/>
          <p:nvPr/>
        </p:nvSpPr>
        <p:spPr>
          <a:xfrm>
            <a:off x="182880" y="4946760"/>
            <a:ext cx="87778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Sistemi Operativi — Prof. Fedeli Massimo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hape 0"/>
          <p:cNvSpPr/>
          <p:nvPr/>
        </p:nvSpPr>
        <p:spPr>
          <a:xfrm>
            <a:off x="0" y="0"/>
            <a:ext cx="9143640" cy="74952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1"/>
          <p:cNvSpPr/>
          <p:nvPr/>
        </p:nvSpPr>
        <p:spPr>
          <a:xfrm>
            <a:off x="0" y="0"/>
            <a:ext cx="109440" cy="514332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2"/>
          <p:cNvSpPr/>
          <p:nvPr/>
        </p:nvSpPr>
        <p:spPr>
          <a:xfrm>
            <a:off x="228600" y="73080"/>
            <a:ext cx="73148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Gerarchia della Memoria</a:t>
            </a:r>
            <a:endParaRPr lang="it-IT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3"/>
          <p:cNvSpPr/>
          <p:nvPr/>
        </p:nvSpPr>
        <p:spPr>
          <a:xfrm>
            <a:off x="228600" y="71316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i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Trade-off tra velocità, capacità e costo</a:t>
            </a:r>
            <a:endParaRPr lang="it-IT" sz="12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4"/>
          <p:cNvSpPr/>
          <p:nvPr/>
        </p:nvSpPr>
        <p:spPr>
          <a:xfrm>
            <a:off x="4023360" y="960120"/>
            <a:ext cx="1096920" cy="548280"/>
          </a:xfrm>
          <a:prstGeom prst="rect">
            <a:avLst/>
          </a:prstGeom>
          <a:solidFill>
            <a:srgbClr val="e03b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5"/>
          <p:cNvSpPr/>
          <p:nvPr/>
        </p:nvSpPr>
        <p:spPr>
          <a:xfrm>
            <a:off x="4114800" y="996840"/>
            <a:ext cx="4384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Registri CPU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6"/>
          <p:cNvSpPr/>
          <p:nvPr/>
        </p:nvSpPr>
        <p:spPr>
          <a:xfrm>
            <a:off x="4462200" y="1051560"/>
            <a:ext cx="636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&lt; 1 KB  |  &lt; 1 ns  |  Altissimo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7"/>
          <p:cNvSpPr/>
          <p:nvPr/>
        </p:nvSpPr>
        <p:spPr>
          <a:xfrm>
            <a:off x="3474720" y="1691640"/>
            <a:ext cx="2194200" cy="548280"/>
          </a:xfrm>
          <a:prstGeom prst="rect">
            <a:avLst/>
          </a:prstGeom>
          <a:solidFill>
            <a:srgbClr val="f47b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8"/>
          <p:cNvSpPr/>
          <p:nvPr/>
        </p:nvSpPr>
        <p:spPr>
          <a:xfrm>
            <a:off x="3566160" y="1728360"/>
            <a:ext cx="8773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Cache L1/L2/L3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9"/>
          <p:cNvSpPr/>
          <p:nvPr/>
        </p:nvSpPr>
        <p:spPr>
          <a:xfrm>
            <a:off x="4352400" y="1783080"/>
            <a:ext cx="1272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KB–MB  |  1–10 ns  |  Alto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10"/>
          <p:cNvSpPr/>
          <p:nvPr/>
        </p:nvSpPr>
        <p:spPr>
          <a:xfrm>
            <a:off x="2834640" y="2423160"/>
            <a:ext cx="3474360" cy="54828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1"/>
          <p:cNvSpPr/>
          <p:nvPr/>
        </p:nvSpPr>
        <p:spPr>
          <a:xfrm>
            <a:off x="2926080" y="2459880"/>
            <a:ext cx="13896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RAM (DRAM)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2"/>
          <p:cNvSpPr/>
          <p:nvPr/>
        </p:nvSpPr>
        <p:spPr>
          <a:xfrm>
            <a:off x="4224600" y="2514600"/>
            <a:ext cx="2014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GB  |  10–100 ns  |  Medio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13"/>
          <p:cNvSpPr/>
          <p:nvPr/>
        </p:nvSpPr>
        <p:spPr>
          <a:xfrm>
            <a:off x="2057400" y="3154680"/>
            <a:ext cx="5028840" cy="548280"/>
          </a:xfrm>
          <a:prstGeom prst="rect">
            <a:avLst/>
          </a:prstGeom>
          <a:solidFill>
            <a:srgbClr val="2c3e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4"/>
          <p:cNvSpPr/>
          <p:nvPr/>
        </p:nvSpPr>
        <p:spPr>
          <a:xfrm>
            <a:off x="2148840" y="3191400"/>
            <a:ext cx="20113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SSD / NVMe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15"/>
          <p:cNvSpPr/>
          <p:nvPr/>
        </p:nvSpPr>
        <p:spPr>
          <a:xfrm>
            <a:off x="4069080" y="3246120"/>
            <a:ext cx="2916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100s GB  |  µs  |  Basso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16"/>
          <p:cNvSpPr/>
          <p:nvPr/>
        </p:nvSpPr>
        <p:spPr>
          <a:xfrm>
            <a:off x="1143000" y="3886200"/>
            <a:ext cx="6857640" cy="548280"/>
          </a:xfrm>
          <a:prstGeom prst="rect">
            <a:avLst/>
          </a:prstGeom>
          <a:solidFill>
            <a:srgbClr val="4a556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17"/>
          <p:cNvSpPr/>
          <p:nvPr/>
        </p:nvSpPr>
        <p:spPr>
          <a:xfrm>
            <a:off x="1234440" y="3922920"/>
            <a:ext cx="27428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HDD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18"/>
          <p:cNvSpPr/>
          <p:nvPr/>
        </p:nvSpPr>
        <p:spPr>
          <a:xfrm>
            <a:off x="3886200" y="3977640"/>
            <a:ext cx="3977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TB  |  ms  |  Bassissimo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9"/>
          <p:cNvSpPr/>
          <p:nvPr/>
        </p:nvSpPr>
        <p:spPr>
          <a:xfrm rot="16200000">
            <a:off x="91440" y="1189080"/>
            <a:ext cx="82260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↑ Velocità / Costo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20"/>
          <p:cNvSpPr/>
          <p:nvPr/>
        </p:nvSpPr>
        <p:spPr>
          <a:xfrm rot="5400000">
            <a:off x="8275680" y="1462680"/>
            <a:ext cx="82260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↓ Capacità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21"/>
          <p:cNvSpPr/>
          <p:nvPr/>
        </p:nvSpPr>
        <p:spPr>
          <a:xfrm>
            <a:off x="201240" y="4590360"/>
            <a:ext cx="8741160" cy="273960"/>
          </a:xfrm>
          <a:prstGeom prst="rect">
            <a:avLst/>
          </a:prstGeom>
          <a:solidFill>
            <a:srgbClr val="1e2761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22"/>
          <p:cNvSpPr/>
          <p:nvPr/>
        </p:nvSpPr>
        <p:spPr>
          <a:xfrm>
            <a:off x="274320" y="4599360"/>
            <a:ext cx="85950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💡 Il SO gestisce automaticamente la gerarchia: i dati usati di frequente vengono mantenuti nei livelli più veloci (caching/prefetching).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23"/>
          <p:cNvSpPr/>
          <p:nvPr/>
        </p:nvSpPr>
        <p:spPr>
          <a:xfrm>
            <a:off x="0" y="4937760"/>
            <a:ext cx="9143640" cy="20556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24"/>
          <p:cNvSpPr/>
          <p:nvPr/>
        </p:nvSpPr>
        <p:spPr>
          <a:xfrm>
            <a:off x="182880" y="4946760"/>
            <a:ext cx="87778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Sistemi Operativi — Prof. Fedeli Massimo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0"/>
          <p:cNvSpPr/>
          <p:nvPr/>
        </p:nvSpPr>
        <p:spPr>
          <a:xfrm>
            <a:off x="0" y="0"/>
            <a:ext cx="9143640" cy="74952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1"/>
          <p:cNvSpPr/>
          <p:nvPr/>
        </p:nvSpPr>
        <p:spPr>
          <a:xfrm>
            <a:off x="0" y="0"/>
            <a:ext cx="109440" cy="514332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2"/>
          <p:cNvSpPr/>
          <p:nvPr/>
        </p:nvSpPr>
        <p:spPr>
          <a:xfrm>
            <a:off x="228600" y="73080"/>
            <a:ext cx="73148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Tecniche di I/O</a:t>
            </a:r>
            <a:endParaRPr lang="it-IT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3"/>
          <p:cNvSpPr/>
          <p:nvPr/>
        </p:nvSpPr>
        <p:spPr>
          <a:xfrm>
            <a:off x="228600" y="71316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i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Quattro approcci per gestire la comunicazione con le periferiche</a:t>
            </a:r>
            <a:endParaRPr lang="it-IT" sz="12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4"/>
          <p:cNvSpPr/>
          <p:nvPr/>
        </p:nvSpPr>
        <p:spPr>
          <a:xfrm>
            <a:off x="201240" y="960120"/>
            <a:ext cx="4205880" cy="1828440"/>
          </a:xfrm>
          <a:prstGeom prst="rect">
            <a:avLst/>
          </a:prstGeom>
          <a:solidFill>
            <a:srgbClr val="ffffff"/>
          </a:solidFill>
          <a:ln w="10160">
            <a:solidFill>
              <a:srgbClr val="cadcfc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5"/>
          <p:cNvSpPr/>
          <p:nvPr/>
        </p:nvSpPr>
        <p:spPr>
          <a:xfrm>
            <a:off x="201240" y="960120"/>
            <a:ext cx="4205880" cy="365400"/>
          </a:xfrm>
          <a:prstGeom prst="rect">
            <a:avLst/>
          </a:prstGeom>
          <a:solidFill>
            <a:srgbClr val="e03b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6"/>
          <p:cNvSpPr/>
          <p:nvPr/>
        </p:nvSpPr>
        <p:spPr>
          <a:xfrm>
            <a:off x="292680" y="996840"/>
            <a:ext cx="4023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1. I/O Programmato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7"/>
          <p:cNvSpPr/>
          <p:nvPr/>
        </p:nvSpPr>
        <p:spPr>
          <a:xfrm>
            <a:off x="311040" y="1398960"/>
            <a:ext cx="3986280" cy="131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La CPU interroga in modo continuo il controller (polling). Semplice ma spreca cicli CPU. Usato per dispositivi lenti o ad alta priorità.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8"/>
          <p:cNvSpPr/>
          <p:nvPr/>
        </p:nvSpPr>
        <p:spPr>
          <a:xfrm>
            <a:off x="4663440" y="960120"/>
            <a:ext cx="4205880" cy="1828440"/>
          </a:xfrm>
          <a:prstGeom prst="rect">
            <a:avLst/>
          </a:prstGeom>
          <a:solidFill>
            <a:srgbClr val="ffffff"/>
          </a:solidFill>
          <a:ln w="10160">
            <a:solidFill>
              <a:srgbClr val="cadcfc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9"/>
          <p:cNvSpPr/>
          <p:nvPr/>
        </p:nvSpPr>
        <p:spPr>
          <a:xfrm>
            <a:off x="4663440" y="960120"/>
            <a:ext cx="4205880" cy="365400"/>
          </a:xfrm>
          <a:prstGeom prst="rect">
            <a:avLst/>
          </a:prstGeom>
          <a:solidFill>
            <a:srgbClr val="f47b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10"/>
          <p:cNvSpPr/>
          <p:nvPr/>
        </p:nvSpPr>
        <p:spPr>
          <a:xfrm>
            <a:off x="4754880" y="996840"/>
            <a:ext cx="4023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2. I/O con Interrupt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11"/>
          <p:cNvSpPr/>
          <p:nvPr/>
        </p:nvSpPr>
        <p:spPr>
          <a:xfrm>
            <a:off x="4773240" y="1398960"/>
            <a:ext cx="3986280" cy="131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La CPU avvia l'operazione e torna ad eseguire altri task. Quando il controller finisce, invia un interrupt. Più efficiente del polling.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12"/>
          <p:cNvSpPr/>
          <p:nvPr/>
        </p:nvSpPr>
        <p:spPr>
          <a:xfrm>
            <a:off x="201240" y="2953440"/>
            <a:ext cx="4205880" cy="1828440"/>
          </a:xfrm>
          <a:prstGeom prst="rect">
            <a:avLst/>
          </a:prstGeom>
          <a:solidFill>
            <a:srgbClr val="ffffff"/>
          </a:solidFill>
          <a:ln w="10160">
            <a:solidFill>
              <a:srgbClr val="cadcfc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13"/>
          <p:cNvSpPr/>
          <p:nvPr/>
        </p:nvSpPr>
        <p:spPr>
          <a:xfrm>
            <a:off x="201240" y="2953440"/>
            <a:ext cx="4205880" cy="36540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14"/>
          <p:cNvSpPr/>
          <p:nvPr/>
        </p:nvSpPr>
        <p:spPr>
          <a:xfrm>
            <a:off x="292680" y="2990160"/>
            <a:ext cx="4023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3. I/O con DMA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15"/>
          <p:cNvSpPr/>
          <p:nvPr/>
        </p:nvSpPr>
        <p:spPr>
          <a:xfrm>
            <a:off x="311040" y="3392280"/>
            <a:ext cx="3986280" cy="131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Il DMA controller trasferisce blocchi di dati in RAM senza occupare la CPU. Ideale per dischi, reti, audio/video. Massimizza il parallelismo.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16"/>
          <p:cNvSpPr/>
          <p:nvPr/>
        </p:nvSpPr>
        <p:spPr>
          <a:xfrm>
            <a:off x="4663440" y="2953440"/>
            <a:ext cx="4205880" cy="1828440"/>
          </a:xfrm>
          <a:prstGeom prst="rect">
            <a:avLst/>
          </a:prstGeom>
          <a:solidFill>
            <a:srgbClr val="ffffff"/>
          </a:solidFill>
          <a:ln w="10160">
            <a:solidFill>
              <a:srgbClr val="cadcfc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17"/>
          <p:cNvSpPr/>
          <p:nvPr/>
        </p:nvSpPr>
        <p:spPr>
          <a:xfrm>
            <a:off x="4663440" y="2953440"/>
            <a:ext cx="4205880" cy="36540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18"/>
          <p:cNvSpPr/>
          <p:nvPr/>
        </p:nvSpPr>
        <p:spPr>
          <a:xfrm>
            <a:off x="4754880" y="2990160"/>
            <a:ext cx="4023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4. I/O con Canali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19"/>
          <p:cNvSpPr/>
          <p:nvPr/>
        </p:nvSpPr>
        <p:spPr>
          <a:xfrm>
            <a:off x="4773240" y="3392280"/>
            <a:ext cx="3986280" cy="131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Processori specializzati (canali I/O) eseguono sequenze di operazioni autonomamente. Usato in mainframe IBM. Massima separazione CPU/IO.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20"/>
          <p:cNvSpPr/>
          <p:nvPr/>
        </p:nvSpPr>
        <p:spPr>
          <a:xfrm>
            <a:off x="0" y="4937760"/>
            <a:ext cx="9143640" cy="20556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21"/>
          <p:cNvSpPr/>
          <p:nvPr/>
        </p:nvSpPr>
        <p:spPr>
          <a:xfrm>
            <a:off x="182880" y="4946760"/>
            <a:ext cx="87778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Sistemi Operativi — Prof. Fedeli Massimo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0"/>
          <p:cNvSpPr/>
          <p:nvPr/>
        </p:nvSpPr>
        <p:spPr>
          <a:xfrm>
            <a:off x="0" y="0"/>
            <a:ext cx="9143640" cy="74952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1"/>
          <p:cNvSpPr/>
          <p:nvPr/>
        </p:nvSpPr>
        <p:spPr>
          <a:xfrm>
            <a:off x="0" y="0"/>
            <a:ext cx="109440" cy="514332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2"/>
          <p:cNvSpPr/>
          <p:nvPr/>
        </p:nvSpPr>
        <p:spPr>
          <a:xfrm>
            <a:off x="228600" y="73080"/>
            <a:ext cx="73148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Obiettivi di un Sistema Operativo</a:t>
            </a:r>
            <a:endParaRPr lang="it-IT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3"/>
          <p:cNvSpPr/>
          <p:nvPr/>
        </p:nvSpPr>
        <p:spPr>
          <a:xfrm>
            <a:off x="228600" y="71316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i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Astrazione, virtualizzazione e gestione delle risorse</a:t>
            </a:r>
            <a:endParaRPr lang="it-IT" sz="12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4"/>
          <p:cNvSpPr/>
          <p:nvPr/>
        </p:nvSpPr>
        <p:spPr>
          <a:xfrm>
            <a:off x="201240" y="932760"/>
            <a:ext cx="2788560" cy="3858480"/>
          </a:xfrm>
          <a:prstGeom prst="rect">
            <a:avLst/>
          </a:prstGeom>
          <a:solidFill>
            <a:srgbClr val="ffffff"/>
          </a:solidFill>
          <a:ln w="10160">
            <a:solidFill>
              <a:srgbClr val="cadcfc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5"/>
          <p:cNvSpPr/>
          <p:nvPr/>
        </p:nvSpPr>
        <p:spPr>
          <a:xfrm>
            <a:off x="201240" y="932760"/>
            <a:ext cx="2788560" cy="63972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6" name="Image 0" descr="preencoded.png"/>
          <p:cNvPicPr/>
          <p:nvPr/>
        </p:nvPicPr>
        <p:blipFill>
          <a:blip r:embed="rId1"/>
          <a:stretch/>
        </p:blipFill>
        <p:spPr>
          <a:xfrm>
            <a:off x="274320" y="98748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7" name="Text 6"/>
          <p:cNvSpPr/>
          <p:nvPr/>
        </p:nvSpPr>
        <p:spPr>
          <a:xfrm>
            <a:off x="795600" y="1005840"/>
            <a:ext cx="21027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Astrazione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7"/>
          <p:cNvSpPr/>
          <p:nvPr/>
        </p:nvSpPr>
        <p:spPr>
          <a:xfrm>
            <a:off x="292680" y="1664280"/>
            <a:ext cx="2605680" cy="30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Nasconde la complessità dell'hardware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Fornisce interfacce uniformi ai programmi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Permette di ignorare i dettagli fisici dei dispositivi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Facilita la portabilità del software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8"/>
          <p:cNvSpPr/>
          <p:nvPr/>
        </p:nvSpPr>
        <p:spPr>
          <a:xfrm>
            <a:off x="3173040" y="932760"/>
            <a:ext cx="2788560" cy="3858480"/>
          </a:xfrm>
          <a:prstGeom prst="rect">
            <a:avLst/>
          </a:prstGeom>
          <a:solidFill>
            <a:srgbClr val="ffffff"/>
          </a:solidFill>
          <a:ln w="10160">
            <a:solidFill>
              <a:srgbClr val="cadcfc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9"/>
          <p:cNvSpPr/>
          <p:nvPr/>
        </p:nvSpPr>
        <p:spPr>
          <a:xfrm>
            <a:off x="3173040" y="932760"/>
            <a:ext cx="2788560" cy="63972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1" name="Image 1" descr="preencoded.png"/>
          <p:cNvPicPr/>
          <p:nvPr/>
        </p:nvPicPr>
        <p:blipFill>
          <a:blip r:embed="rId2"/>
          <a:stretch/>
        </p:blipFill>
        <p:spPr>
          <a:xfrm>
            <a:off x="3246120" y="98748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2" name="Text 10"/>
          <p:cNvSpPr/>
          <p:nvPr/>
        </p:nvSpPr>
        <p:spPr>
          <a:xfrm>
            <a:off x="3767400" y="1005840"/>
            <a:ext cx="21027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Virtualizzazione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11"/>
          <p:cNvSpPr/>
          <p:nvPr/>
        </p:nvSpPr>
        <p:spPr>
          <a:xfrm>
            <a:off x="3264480" y="1664280"/>
            <a:ext cx="2605680" cy="30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Ogni processo 'crede' di avere la macchina per sé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La memoria fisica viene mappata in indirizzi virtuali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Più programmi coesistono senza interferenze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Isola i processi per sicurezza e stabilità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12"/>
          <p:cNvSpPr/>
          <p:nvPr/>
        </p:nvSpPr>
        <p:spPr>
          <a:xfrm>
            <a:off x="6144840" y="932760"/>
            <a:ext cx="2788560" cy="3858480"/>
          </a:xfrm>
          <a:prstGeom prst="rect">
            <a:avLst/>
          </a:prstGeom>
          <a:solidFill>
            <a:srgbClr val="ffffff"/>
          </a:solidFill>
          <a:ln w="10160">
            <a:solidFill>
              <a:srgbClr val="cadcfc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13"/>
          <p:cNvSpPr/>
          <p:nvPr/>
        </p:nvSpPr>
        <p:spPr>
          <a:xfrm>
            <a:off x="6144840" y="932760"/>
            <a:ext cx="2788560" cy="639720"/>
          </a:xfrm>
          <a:prstGeom prst="rect">
            <a:avLst/>
          </a:prstGeom>
          <a:solidFill>
            <a:srgbClr val="f47b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6" name="Image 2" descr="preencoded.png"/>
          <p:cNvPicPr/>
          <p:nvPr/>
        </p:nvPicPr>
        <p:blipFill>
          <a:blip r:embed="rId3"/>
          <a:stretch/>
        </p:blipFill>
        <p:spPr>
          <a:xfrm>
            <a:off x="6217920" y="98748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7" name="Text 14"/>
          <p:cNvSpPr/>
          <p:nvPr/>
        </p:nvSpPr>
        <p:spPr>
          <a:xfrm>
            <a:off x="6739200" y="1005840"/>
            <a:ext cx="21027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Gestione Risorse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15"/>
          <p:cNvSpPr/>
          <p:nvPr/>
        </p:nvSpPr>
        <p:spPr>
          <a:xfrm>
            <a:off x="6236280" y="1664280"/>
            <a:ext cx="2605680" cy="30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Allocazione ottimizzata di CPU, memoria, I/O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Condivisione equa tra processi concorrenti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Protezione dell'accesso alle risorse condivise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Massimizzazione del throughput del sistema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16"/>
          <p:cNvSpPr/>
          <p:nvPr/>
        </p:nvSpPr>
        <p:spPr>
          <a:xfrm>
            <a:off x="0" y="4937760"/>
            <a:ext cx="9143640" cy="20556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17"/>
          <p:cNvSpPr/>
          <p:nvPr/>
        </p:nvSpPr>
        <p:spPr>
          <a:xfrm>
            <a:off x="182880" y="4946760"/>
            <a:ext cx="87778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Sistemi Operativi — Prof. Fedeli Massimo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Shape 0"/>
          <p:cNvSpPr/>
          <p:nvPr/>
        </p:nvSpPr>
        <p:spPr>
          <a:xfrm>
            <a:off x="0" y="0"/>
            <a:ext cx="9143640" cy="74952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1"/>
          <p:cNvSpPr/>
          <p:nvPr/>
        </p:nvSpPr>
        <p:spPr>
          <a:xfrm>
            <a:off x="0" y="0"/>
            <a:ext cx="109440" cy="514332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2"/>
          <p:cNvSpPr/>
          <p:nvPr/>
        </p:nvSpPr>
        <p:spPr>
          <a:xfrm>
            <a:off x="228600" y="73080"/>
            <a:ext cx="73148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Virtualizzazione</a:t>
            </a:r>
            <a:endParaRPr lang="it-IT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3"/>
          <p:cNvSpPr/>
          <p:nvPr/>
        </p:nvSpPr>
        <p:spPr>
          <a:xfrm>
            <a:off x="228600" y="71316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i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Come il SO crea un'illusione dedicata per ogni programma</a:t>
            </a:r>
            <a:endParaRPr lang="it-IT" sz="12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4"/>
          <p:cNvSpPr/>
          <p:nvPr/>
        </p:nvSpPr>
        <p:spPr>
          <a:xfrm>
            <a:off x="201240" y="960120"/>
            <a:ext cx="411444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Il SO crea per ogni processo un'immagine virtuale dell'intera macchina.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Ogni programma vede uno spazio di indirizzamento privato (memoria virtuale).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La CPU virtuale è ottenuta dallo scheduling: ogni processo ottiene la CPU a turno.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I dispositivi virtuali sono accessibili tramite interfacce uniformi (driver).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Il processo non sa (e non deve sapere) che condivide le risorse con altri.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5"/>
          <p:cNvSpPr/>
          <p:nvPr/>
        </p:nvSpPr>
        <p:spPr>
          <a:xfrm>
            <a:off x="4572000" y="960120"/>
            <a:ext cx="1279800" cy="456840"/>
          </a:xfrm>
          <a:prstGeom prst="rect">
            <a:avLst/>
          </a:prstGeom>
          <a:solidFill>
            <a:srgbClr val="f47b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6"/>
          <p:cNvSpPr/>
          <p:nvPr/>
        </p:nvSpPr>
        <p:spPr>
          <a:xfrm>
            <a:off x="4572000" y="960120"/>
            <a:ext cx="1279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App A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7"/>
          <p:cNvSpPr/>
          <p:nvPr/>
        </p:nvSpPr>
        <p:spPr>
          <a:xfrm>
            <a:off x="5166360" y="1417320"/>
            <a:ext cx="91080" cy="31968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8"/>
          <p:cNvSpPr/>
          <p:nvPr/>
        </p:nvSpPr>
        <p:spPr>
          <a:xfrm>
            <a:off x="4572000" y="1737360"/>
            <a:ext cx="1279800" cy="731160"/>
          </a:xfrm>
          <a:prstGeom prst="rect">
            <a:avLst/>
          </a:prstGeom>
          <a:solidFill>
            <a:srgbClr val="028090">
              <a:alpha val="80000"/>
            </a:srgbClr>
          </a:solidFill>
          <a:ln w="635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9"/>
          <p:cNvSpPr/>
          <p:nvPr/>
        </p:nvSpPr>
        <p:spPr>
          <a:xfrm>
            <a:off x="4572000" y="1755720"/>
            <a:ext cx="127980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CPU virtuale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MEM virtuale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I/O virtuale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10"/>
          <p:cNvSpPr/>
          <p:nvPr/>
        </p:nvSpPr>
        <p:spPr>
          <a:xfrm>
            <a:off x="5166360" y="2468880"/>
            <a:ext cx="91080" cy="27396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11"/>
          <p:cNvSpPr/>
          <p:nvPr/>
        </p:nvSpPr>
        <p:spPr>
          <a:xfrm>
            <a:off x="6016680" y="960120"/>
            <a:ext cx="1279800" cy="456840"/>
          </a:xfrm>
          <a:prstGeom prst="rect">
            <a:avLst/>
          </a:prstGeom>
          <a:solidFill>
            <a:srgbClr val="f47b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12"/>
          <p:cNvSpPr/>
          <p:nvPr/>
        </p:nvSpPr>
        <p:spPr>
          <a:xfrm>
            <a:off x="6016680" y="960120"/>
            <a:ext cx="1279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App B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13"/>
          <p:cNvSpPr/>
          <p:nvPr/>
        </p:nvSpPr>
        <p:spPr>
          <a:xfrm>
            <a:off x="6611040" y="1417320"/>
            <a:ext cx="91080" cy="31968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14"/>
          <p:cNvSpPr/>
          <p:nvPr/>
        </p:nvSpPr>
        <p:spPr>
          <a:xfrm>
            <a:off x="6016680" y="1737360"/>
            <a:ext cx="1279800" cy="731160"/>
          </a:xfrm>
          <a:prstGeom prst="rect">
            <a:avLst/>
          </a:prstGeom>
          <a:solidFill>
            <a:srgbClr val="028090">
              <a:alpha val="80000"/>
            </a:srgbClr>
          </a:solidFill>
          <a:ln w="635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15"/>
          <p:cNvSpPr/>
          <p:nvPr/>
        </p:nvSpPr>
        <p:spPr>
          <a:xfrm>
            <a:off x="6016680" y="1755720"/>
            <a:ext cx="127980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CPU virtuale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MEM virtuale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I/O virtuale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16"/>
          <p:cNvSpPr/>
          <p:nvPr/>
        </p:nvSpPr>
        <p:spPr>
          <a:xfrm>
            <a:off x="6611040" y="2468880"/>
            <a:ext cx="91080" cy="27396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17"/>
          <p:cNvSpPr/>
          <p:nvPr/>
        </p:nvSpPr>
        <p:spPr>
          <a:xfrm>
            <a:off x="7461360" y="960120"/>
            <a:ext cx="1279800" cy="456840"/>
          </a:xfrm>
          <a:prstGeom prst="rect">
            <a:avLst/>
          </a:prstGeom>
          <a:solidFill>
            <a:srgbClr val="f47b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18"/>
          <p:cNvSpPr/>
          <p:nvPr/>
        </p:nvSpPr>
        <p:spPr>
          <a:xfrm>
            <a:off x="7461360" y="960120"/>
            <a:ext cx="1279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App C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19"/>
          <p:cNvSpPr/>
          <p:nvPr/>
        </p:nvSpPr>
        <p:spPr>
          <a:xfrm>
            <a:off x="8055720" y="1417320"/>
            <a:ext cx="91080" cy="31968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20"/>
          <p:cNvSpPr/>
          <p:nvPr/>
        </p:nvSpPr>
        <p:spPr>
          <a:xfrm>
            <a:off x="7461360" y="1737360"/>
            <a:ext cx="1279800" cy="731160"/>
          </a:xfrm>
          <a:prstGeom prst="rect">
            <a:avLst/>
          </a:prstGeom>
          <a:solidFill>
            <a:srgbClr val="028090">
              <a:alpha val="80000"/>
            </a:srgbClr>
          </a:solidFill>
          <a:ln w="635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21"/>
          <p:cNvSpPr/>
          <p:nvPr/>
        </p:nvSpPr>
        <p:spPr>
          <a:xfrm>
            <a:off x="7461360" y="1755720"/>
            <a:ext cx="127980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CPU virtuale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MEM virtuale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I/O virtuale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22"/>
          <p:cNvSpPr/>
          <p:nvPr/>
        </p:nvSpPr>
        <p:spPr>
          <a:xfrm>
            <a:off x="8055720" y="2468880"/>
            <a:ext cx="91080" cy="27396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23"/>
          <p:cNvSpPr/>
          <p:nvPr/>
        </p:nvSpPr>
        <p:spPr>
          <a:xfrm>
            <a:off x="4434840" y="2743200"/>
            <a:ext cx="4343040" cy="54828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24"/>
          <p:cNvSpPr/>
          <p:nvPr/>
        </p:nvSpPr>
        <p:spPr>
          <a:xfrm>
            <a:off x="4434840" y="2743200"/>
            <a:ext cx="4343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SISTEMA OPERATIVO — Gestore delle Risorse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25"/>
          <p:cNvSpPr/>
          <p:nvPr/>
        </p:nvSpPr>
        <p:spPr>
          <a:xfrm>
            <a:off x="4434840" y="3456360"/>
            <a:ext cx="4343040" cy="548280"/>
          </a:xfrm>
          <a:prstGeom prst="rect">
            <a:avLst/>
          </a:prstGeom>
          <a:solidFill>
            <a:srgbClr val="2c3e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26"/>
          <p:cNvSpPr/>
          <p:nvPr/>
        </p:nvSpPr>
        <p:spPr>
          <a:xfrm>
            <a:off x="4434840" y="3456360"/>
            <a:ext cx="4343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HARDWARE FISICO (CPU, RAM, Disco, Rete…)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27"/>
          <p:cNvSpPr/>
          <p:nvPr/>
        </p:nvSpPr>
        <p:spPr>
          <a:xfrm>
            <a:off x="6574680" y="3291840"/>
            <a:ext cx="109440" cy="182520"/>
          </a:xfrm>
          <a:prstGeom prst="rect">
            <a:avLst/>
          </a:prstGeom>
          <a:solidFill>
            <a:srgbClr val="8fa4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28"/>
          <p:cNvSpPr/>
          <p:nvPr/>
        </p:nvSpPr>
        <p:spPr>
          <a:xfrm>
            <a:off x="0" y="4937760"/>
            <a:ext cx="9143640" cy="20556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29"/>
          <p:cNvSpPr/>
          <p:nvPr/>
        </p:nvSpPr>
        <p:spPr>
          <a:xfrm>
            <a:off x="182880" y="4946760"/>
            <a:ext cx="87778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Sistemi Operativi — Prof. Fedeli Massimo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Shape 0"/>
          <p:cNvSpPr/>
          <p:nvPr/>
        </p:nvSpPr>
        <p:spPr>
          <a:xfrm>
            <a:off x="0" y="0"/>
            <a:ext cx="9143640" cy="74952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1"/>
          <p:cNvSpPr/>
          <p:nvPr/>
        </p:nvSpPr>
        <p:spPr>
          <a:xfrm>
            <a:off x="0" y="0"/>
            <a:ext cx="109440" cy="514332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2"/>
          <p:cNvSpPr/>
          <p:nvPr/>
        </p:nvSpPr>
        <p:spPr>
          <a:xfrm>
            <a:off x="228600" y="73080"/>
            <a:ext cx="73148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Gestione dei Processi</a:t>
            </a:r>
            <a:endParaRPr lang="it-IT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3"/>
          <p:cNvSpPr/>
          <p:nvPr/>
        </p:nvSpPr>
        <p:spPr>
          <a:xfrm>
            <a:off x="228600" y="71316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i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Il cuore del sistema operativo</a:t>
            </a:r>
            <a:endParaRPr lang="it-IT" sz="12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4"/>
          <p:cNvSpPr/>
          <p:nvPr/>
        </p:nvSpPr>
        <p:spPr>
          <a:xfrm>
            <a:off x="201240" y="914400"/>
            <a:ext cx="411444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Un processo è un programma in esecuzione, con il suo spazio di memoria, stato e risorse.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Il SO gestisce l'intero ciclo di vita: creazione, esecuzione, sospensione e terminazione.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Lo scheduler della CPU decide quale processo eseguire e per quanto tempo (quantum).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La comunicazione tra processi (IPC) avviene via pipe, socket, memoria condivisa.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I deadlock si verificano quando processi si bloccano a vicenda aspettando risorse.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5"/>
          <p:cNvSpPr/>
          <p:nvPr/>
        </p:nvSpPr>
        <p:spPr>
          <a:xfrm>
            <a:off x="5943600" y="1051560"/>
            <a:ext cx="1096920" cy="502560"/>
          </a:xfr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6"/>
          <p:cNvSpPr/>
          <p:nvPr/>
        </p:nvSpPr>
        <p:spPr>
          <a:xfrm>
            <a:off x="5943600" y="1124640"/>
            <a:ext cx="1096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Nuovo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7"/>
          <p:cNvSpPr/>
          <p:nvPr/>
        </p:nvSpPr>
        <p:spPr>
          <a:xfrm>
            <a:off x="4754880" y="1965960"/>
            <a:ext cx="1096920" cy="502560"/>
          </a:xfr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8"/>
          <p:cNvSpPr/>
          <p:nvPr/>
        </p:nvSpPr>
        <p:spPr>
          <a:xfrm>
            <a:off x="4754880" y="2039040"/>
            <a:ext cx="1096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Pronto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9"/>
          <p:cNvSpPr/>
          <p:nvPr/>
        </p:nvSpPr>
        <p:spPr>
          <a:xfrm>
            <a:off x="5943600" y="1965960"/>
            <a:ext cx="1096920" cy="502560"/>
          </a:xfrm>
          <a:solidFill>
            <a:srgbClr val="f47b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10"/>
          <p:cNvSpPr/>
          <p:nvPr/>
        </p:nvSpPr>
        <p:spPr>
          <a:xfrm>
            <a:off x="5943600" y="2039040"/>
            <a:ext cx="1096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 esec.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11"/>
          <p:cNvSpPr/>
          <p:nvPr/>
        </p:nvSpPr>
        <p:spPr>
          <a:xfrm>
            <a:off x="7132320" y="1965960"/>
            <a:ext cx="1096920" cy="502560"/>
          </a:xfrm>
          <a:solidFill>
            <a:srgbClr val="e03b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12"/>
          <p:cNvSpPr/>
          <p:nvPr/>
        </p:nvSpPr>
        <p:spPr>
          <a:xfrm>
            <a:off x="7132320" y="2039040"/>
            <a:ext cx="1096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Bloccato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13"/>
          <p:cNvSpPr/>
          <p:nvPr/>
        </p:nvSpPr>
        <p:spPr>
          <a:xfrm>
            <a:off x="5943600" y="2971800"/>
            <a:ext cx="1096920" cy="502560"/>
          </a:xfrm>
          <a:solidFill>
            <a:srgbClr val="2c3e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14"/>
          <p:cNvSpPr/>
          <p:nvPr/>
        </p:nvSpPr>
        <p:spPr>
          <a:xfrm>
            <a:off x="5943600" y="3044880"/>
            <a:ext cx="1096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Terminato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15"/>
          <p:cNvSpPr/>
          <p:nvPr/>
        </p:nvSpPr>
        <p:spPr>
          <a:xfrm>
            <a:off x="5303520" y="1472040"/>
            <a:ext cx="11883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i="1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Ammissione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16"/>
          <p:cNvSpPr/>
          <p:nvPr/>
        </p:nvSpPr>
        <p:spPr>
          <a:xfrm>
            <a:off x="5029200" y="1892880"/>
            <a:ext cx="11883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i="1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Scheduling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17"/>
          <p:cNvSpPr/>
          <p:nvPr/>
        </p:nvSpPr>
        <p:spPr>
          <a:xfrm>
            <a:off x="5029200" y="2148840"/>
            <a:ext cx="11883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i="1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Prelazione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18"/>
          <p:cNvSpPr/>
          <p:nvPr/>
        </p:nvSpPr>
        <p:spPr>
          <a:xfrm>
            <a:off x="6565320" y="1874520"/>
            <a:ext cx="11883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i="1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I/O wait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19"/>
          <p:cNvSpPr/>
          <p:nvPr/>
        </p:nvSpPr>
        <p:spPr>
          <a:xfrm>
            <a:off x="6565320" y="2194560"/>
            <a:ext cx="11883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i="1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I/O done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20"/>
          <p:cNvSpPr/>
          <p:nvPr/>
        </p:nvSpPr>
        <p:spPr>
          <a:xfrm>
            <a:off x="6263640" y="2697480"/>
            <a:ext cx="11883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i="1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Exit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21"/>
          <p:cNvSpPr/>
          <p:nvPr/>
        </p:nvSpPr>
        <p:spPr>
          <a:xfrm>
            <a:off x="4572000" y="3703320"/>
            <a:ext cx="4114440" cy="959760"/>
          </a:xfrm>
          <a:prstGeom prst="rect">
            <a:avLst/>
          </a:prstGeom>
          <a:solidFill>
            <a:srgbClr val="1e2761">
              <a:alpha val="10000"/>
            </a:srgbClr>
          </a:solidFill>
          <a:ln w="635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22"/>
          <p:cNvSpPr/>
          <p:nvPr/>
        </p:nvSpPr>
        <p:spPr>
          <a:xfrm>
            <a:off x="4663440" y="3703320"/>
            <a:ext cx="3931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📋 PCB — Process Control Block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23"/>
          <p:cNvSpPr/>
          <p:nvPr/>
        </p:nvSpPr>
        <p:spPr>
          <a:xfrm>
            <a:off x="4663440" y="3977640"/>
            <a:ext cx="3931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Struttura dati del kernel che contiene: PID, stato, program counter, registri CPU, info di scheduling, memoria e I/O.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24"/>
          <p:cNvSpPr/>
          <p:nvPr/>
        </p:nvSpPr>
        <p:spPr>
          <a:xfrm>
            <a:off x="0" y="4937760"/>
            <a:ext cx="9143640" cy="20556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25"/>
          <p:cNvSpPr/>
          <p:nvPr/>
        </p:nvSpPr>
        <p:spPr>
          <a:xfrm>
            <a:off x="182880" y="4946760"/>
            <a:ext cx="87778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Sistemi Operativi — Prof. Fedeli Massimo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Shape 0"/>
          <p:cNvSpPr/>
          <p:nvPr/>
        </p:nvSpPr>
        <p:spPr>
          <a:xfrm>
            <a:off x="0" y="0"/>
            <a:ext cx="9143640" cy="74952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1"/>
          <p:cNvSpPr/>
          <p:nvPr/>
        </p:nvSpPr>
        <p:spPr>
          <a:xfrm>
            <a:off x="0" y="0"/>
            <a:ext cx="109440" cy="514332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2"/>
          <p:cNvSpPr/>
          <p:nvPr/>
        </p:nvSpPr>
        <p:spPr>
          <a:xfrm>
            <a:off x="228600" y="73080"/>
            <a:ext cx="73148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Gestione della Memoria</a:t>
            </a:r>
            <a:endParaRPr lang="it-IT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3"/>
          <p:cNvSpPr/>
          <p:nvPr/>
        </p:nvSpPr>
        <p:spPr>
          <a:xfrm>
            <a:off x="228600" y="71316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i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Allocazione, protezione e memoria virtuale</a:t>
            </a:r>
            <a:endParaRPr lang="it-IT" sz="12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4"/>
          <p:cNvSpPr/>
          <p:nvPr/>
        </p:nvSpPr>
        <p:spPr>
          <a:xfrm>
            <a:off x="201240" y="914400"/>
            <a:ext cx="411444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Il SO alloca e dealloca la memoria per ogni processo in modo dinamico.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La multiprogrammazione permette a più processi di risiedere contemporaneamente in RAM.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La protezione della memoria impedisce che un processo acceda allo spazio di un altro.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La memoria virtuale permette di eseguire processi più grandi della RAM fisica (paginazione).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5"/>
          <p:cNvSpPr/>
          <p:nvPr/>
        </p:nvSpPr>
        <p:spPr>
          <a:xfrm>
            <a:off x="4754880" y="960120"/>
            <a:ext cx="1645560" cy="384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6"/>
          <p:cNvSpPr/>
          <p:nvPr/>
        </p:nvSpPr>
        <p:spPr>
          <a:xfrm>
            <a:off x="4754880" y="594360"/>
            <a:ext cx="1645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Memoria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Fisica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Shape 7"/>
          <p:cNvSpPr/>
          <p:nvPr/>
        </p:nvSpPr>
        <p:spPr>
          <a:xfrm>
            <a:off x="4754880" y="960120"/>
            <a:ext cx="1645560" cy="639720"/>
          </a:xfrm>
          <a:prstGeom prst="rect">
            <a:avLst/>
          </a:prstGeom>
          <a:solidFill>
            <a:srgbClr val="1e2761"/>
          </a:solidFill>
          <a:ln w="381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8"/>
          <p:cNvSpPr/>
          <p:nvPr/>
        </p:nvSpPr>
        <p:spPr>
          <a:xfrm>
            <a:off x="4754880" y="1170360"/>
            <a:ext cx="16455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 Kernel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9"/>
          <p:cNvSpPr/>
          <p:nvPr/>
        </p:nvSpPr>
        <p:spPr>
          <a:xfrm>
            <a:off x="4754880" y="1600200"/>
            <a:ext cx="1645560" cy="731160"/>
          </a:xfrm>
          <a:prstGeom prst="rect">
            <a:avLst/>
          </a:prstGeom>
          <a:solidFill>
            <a:srgbClr val="028090"/>
          </a:solidFill>
          <a:ln w="381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10"/>
          <p:cNvSpPr/>
          <p:nvPr/>
        </p:nvSpPr>
        <p:spPr>
          <a:xfrm>
            <a:off x="4754880" y="1856160"/>
            <a:ext cx="16455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Processo A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Shape 11"/>
          <p:cNvSpPr/>
          <p:nvPr/>
        </p:nvSpPr>
        <p:spPr>
          <a:xfrm>
            <a:off x="4754880" y="2331720"/>
            <a:ext cx="1645560" cy="639720"/>
          </a:xfrm>
          <a:prstGeom prst="rect">
            <a:avLst/>
          </a:prstGeom>
          <a:solidFill>
            <a:srgbClr val="f47b20"/>
          </a:solidFill>
          <a:ln w="381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12"/>
          <p:cNvSpPr/>
          <p:nvPr/>
        </p:nvSpPr>
        <p:spPr>
          <a:xfrm>
            <a:off x="4754880" y="2541960"/>
            <a:ext cx="16455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Processo B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13"/>
          <p:cNvSpPr/>
          <p:nvPr/>
        </p:nvSpPr>
        <p:spPr>
          <a:xfrm>
            <a:off x="4754880" y="2971800"/>
            <a:ext cx="1645560" cy="548280"/>
          </a:xfrm>
          <a:prstGeom prst="rect">
            <a:avLst/>
          </a:prstGeom>
          <a:solidFill>
            <a:srgbClr val="e03b3b"/>
          </a:solidFill>
          <a:ln w="381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14"/>
          <p:cNvSpPr/>
          <p:nvPr/>
        </p:nvSpPr>
        <p:spPr>
          <a:xfrm>
            <a:off x="4754880" y="3136320"/>
            <a:ext cx="16455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Processo C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15"/>
          <p:cNvSpPr/>
          <p:nvPr/>
        </p:nvSpPr>
        <p:spPr>
          <a:xfrm>
            <a:off x="4754880" y="3520440"/>
            <a:ext cx="1645560" cy="548280"/>
          </a:xfrm>
          <a:prstGeom prst="rect">
            <a:avLst/>
          </a:prstGeom>
          <a:solidFill>
            <a:srgbClr val="aaaaaa"/>
          </a:solidFill>
          <a:ln w="381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16"/>
          <p:cNvSpPr/>
          <p:nvPr/>
        </p:nvSpPr>
        <p:spPr>
          <a:xfrm>
            <a:off x="4754880" y="3684960"/>
            <a:ext cx="16455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Libera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17"/>
          <p:cNvSpPr/>
          <p:nvPr/>
        </p:nvSpPr>
        <p:spPr>
          <a:xfrm>
            <a:off x="4754880" y="4069080"/>
            <a:ext cx="1645560" cy="731160"/>
          </a:xfrm>
          <a:prstGeom prst="rect">
            <a:avLst/>
          </a:prstGeom>
          <a:solidFill>
            <a:srgbClr val="2c3e6b"/>
          </a:solidFill>
          <a:ln w="381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18"/>
          <p:cNvSpPr/>
          <p:nvPr/>
        </p:nvSpPr>
        <p:spPr>
          <a:xfrm>
            <a:off x="4754880" y="4325040"/>
            <a:ext cx="16455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Processo D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Shape 19"/>
          <p:cNvSpPr/>
          <p:nvPr/>
        </p:nvSpPr>
        <p:spPr>
          <a:xfrm>
            <a:off x="6766560" y="960120"/>
            <a:ext cx="2011320" cy="3840120"/>
          </a:xfrm>
          <a:prstGeom prst="rect">
            <a:avLst/>
          </a:prstGeom>
          <a:solidFill>
            <a:srgbClr val="1e2761">
              <a:alpha val="10000"/>
            </a:srgbClr>
          </a:solidFill>
          <a:ln w="1016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20"/>
          <p:cNvSpPr/>
          <p:nvPr/>
        </p:nvSpPr>
        <p:spPr>
          <a:xfrm>
            <a:off x="6766560" y="960120"/>
            <a:ext cx="2011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Memoria Virtuale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21"/>
          <p:cNvSpPr/>
          <p:nvPr/>
        </p:nvSpPr>
        <p:spPr>
          <a:xfrm>
            <a:off x="6858000" y="1325880"/>
            <a:ext cx="1828440" cy="33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Ogni processo vede uno spazio di indirizzi virtuale continuo da 0 a max.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Il SO mappa le pagine virtuali alle pagine fisiche tramite la Page Table.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Pagine non in RAM vengono caricate dal disco su richiesta (Page Fault → swap).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Shape 22"/>
          <p:cNvSpPr/>
          <p:nvPr/>
        </p:nvSpPr>
        <p:spPr>
          <a:xfrm>
            <a:off x="0" y="4937760"/>
            <a:ext cx="9143640" cy="20556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23"/>
          <p:cNvSpPr/>
          <p:nvPr/>
        </p:nvSpPr>
        <p:spPr>
          <a:xfrm>
            <a:off x="182880" y="4946760"/>
            <a:ext cx="87778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Sistemi Operativi — Prof. Fedeli Massimo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Shape 0"/>
          <p:cNvSpPr/>
          <p:nvPr/>
        </p:nvSpPr>
        <p:spPr>
          <a:xfrm>
            <a:off x="0" y="0"/>
            <a:ext cx="9143640" cy="74952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Shape 1"/>
          <p:cNvSpPr/>
          <p:nvPr/>
        </p:nvSpPr>
        <p:spPr>
          <a:xfrm>
            <a:off x="0" y="0"/>
            <a:ext cx="109440" cy="514332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2"/>
          <p:cNvSpPr/>
          <p:nvPr/>
        </p:nvSpPr>
        <p:spPr>
          <a:xfrm>
            <a:off x="228600" y="73080"/>
            <a:ext cx="73148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Gestione delle Periferiche</a:t>
            </a:r>
            <a:endParaRPr lang="it-IT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3"/>
          <p:cNvSpPr/>
          <p:nvPr/>
        </p:nvSpPr>
        <p:spPr>
          <a:xfrm>
            <a:off x="228600" y="71316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i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Driver, buffering e accesso uniforme all'hardware</a:t>
            </a:r>
            <a:endParaRPr lang="it-IT" sz="12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4"/>
          <p:cNvSpPr/>
          <p:nvPr/>
        </p:nvSpPr>
        <p:spPr>
          <a:xfrm>
            <a:off x="201240" y="914400"/>
            <a:ext cx="411444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Il SO fornisce un'interfaccia uniforme per dispositivi fisicamente eterogenei (dischi, reti, tastiere…).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I driver traducono le richieste generiche del SO in comandi specifici per ogni dispositivo.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L'inizializzazione avviene al boot: il SO rileva l'hardware tramite ACPI/PCI enumeration.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Il buffering accumula dati prima del trasferimento per ottimizzare le operazioni di I/O.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Il caching mantiene in memoria i dati usati di frequente per ridurre gli accessi al disco.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Shape 5"/>
          <p:cNvSpPr/>
          <p:nvPr/>
        </p:nvSpPr>
        <p:spPr>
          <a:xfrm>
            <a:off x="4572000" y="960120"/>
            <a:ext cx="4205880" cy="456840"/>
          </a:xfrm>
          <a:prstGeom prst="rect">
            <a:avLst/>
          </a:prstGeom>
          <a:solidFill>
            <a:srgbClr val="f47b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6"/>
          <p:cNvSpPr/>
          <p:nvPr/>
        </p:nvSpPr>
        <p:spPr>
          <a:xfrm>
            <a:off x="4617720" y="1051560"/>
            <a:ext cx="4114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Applicazione Utente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7"/>
          <p:cNvSpPr/>
          <p:nvPr/>
        </p:nvSpPr>
        <p:spPr>
          <a:xfrm>
            <a:off x="6629400" y="1417320"/>
            <a:ext cx="91080" cy="136800"/>
          </a:xfrm>
          <a:prstGeom prst="rect">
            <a:avLst/>
          </a:prstGeom>
          <a:solidFill>
            <a:srgbClr val="8fa4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Shape 8"/>
          <p:cNvSpPr/>
          <p:nvPr/>
        </p:nvSpPr>
        <p:spPr>
          <a:xfrm>
            <a:off x="4572000" y="1508760"/>
            <a:ext cx="4205880" cy="456840"/>
          </a:xfrm>
          <a:prstGeom prst="rect">
            <a:avLst/>
          </a:prstGeo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9"/>
          <p:cNvSpPr/>
          <p:nvPr/>
        </p:nvSpPr>
        <p:spPr>
          <a:xfrm>
            <a:off x="4617720" y="1600200"/>
            <a:ext cx="4114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API di Sistema (POSIX / Win32)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Shape 10"/>
          <p:cNvSpPr/>
          <p:nvPr/>
        </p:nvSpPr>
        <p:spPr>
          <a:xfrm>
            <a:off x="6629400" y="1965960"/>
            <a:ext cx="91080" cy="136800"/>
          </a:xfrm>
          <a:prstGeom prst="rect">
            <a:avLst/>
          </a:prstGeom>
          <a:solidFill>
            <a:srgbClr val="8fa4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Shape 11"/>
          <p:cNvSpPr/>
          <p:nvPr/>
        </p:nvSpPr>
        <p:spPr>
          <a:xfrm>
            <a:off x="4572000" y="2057400"/>
            <a:ext cx="4205880" cy="45684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12"/>
          <p:cNvSpPr/>
          <p:nvPr/>
        </p:nvSpPr>
        <p:spPr>
          <a:xfrm>
            <a:off x="4617720" y="2148840"/>
            <a:ext cx="4114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Sottosistema I/O del Kernel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Shape 13"/>
          <p:cNvSpPr/>
          <p:nvPr/>
        </p:nvSpPr>
        <p:spPr>
          <a:xfrm>
            <a:off x="6629400" y="2514600"/>
            <a:ext cx="91080" cy="136800"/>
          </a:xfrm>
          <a:prstGeom prst="rect">
            <a:avLst/>
          </a:prstGeom>
          <a:solidFill>
            <a:srgbClr val="8fa4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Shape 14"/>
          <p:cNvSpPr/>
          <p:nvPr/>
        </p:nvSpPr>
        <p:spPr>
          <a:xfrm>
            <a:off x="4572000" y="2606040"/>
            <a:ext cx="4205880" cy="45684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15"/>
          <p:cNvSpPr/>
          <p:nvPr/>
        </p:nvSpPr>
        <p:spPr>
          <a:xfrm>
            <a:off x="4617720" y="2697480"/>
            <a:ext cx="4114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Driver del Dispositivo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Shape 16"/>
          <p:cNvSpPr/>
          <p:nvPr/>
        </p:nvSpPr>
        <p:spPr>
          <a:xfrm>
            <a:off x="6629400" y="3063240"/>
            <a:ext cx="91080" cy="136800"/>
          </a:xfrm>
          <a:prstGeom prst="rect">
            <a:avLst/>
          </a:prstGeom>
          <a:solidFill>
            <a:srgbClr val="8fa4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Shape 17"/>
          <p:cNvSpPr/>
          <p:nvPr/>
        </p:nvSpPr>
        <p:spPr>
          <a:xfrm>
            <a:off x="4572000" y="3154680"/>
            <a:ext cx="4205880" cy="456840"/>
          </a:xfrm>
          <a:prstGeom prst="rect">
            <a:avLst/>
          </a:prstGeom>
          <a:solidFill>
            <a:srgbClr val="2c3e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18"/>
          <p:cNvSpPr/>
          <p:nvPr/>
        </p:nvSpPr>
        <p:spPr>
          <a:xfrm>
            <a:off x="4617720" y="3246120"/>
            <a:ext cx="4114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Controller Hardware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19"/>
          <p:cNvSpPr/>
          <p:nvPr/>
        </p:nvSpPr>
        <p:spPr>
          <a:xfrm>
            <a:off x="6629400" y="3611880"/>
            <a:ext cx="91080" cy="136800"/>
          </a:xfrm>
          <a:prstGeom prst="rect">
            <a:avLst/>
          </a:prstGeom>
          <a:solidFill>
            <a:srgbClr val="8fa4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Shape 20"/>
          <p:cNvSpPr/>
          <p:nvPr/>
        </p:nvSpPr>
        <p:spPr>
          <a:xfrm>
            <a:off x="4572000" y="3703320"/>
            <a:ext cx="4205880" cy="456840"/>
          </a:xfrm>
          <a:prstGeom prst="rect">
            <a:avLst/>
          </a:prstGeom>
          <a:solidFill>
            <a:srgbClr val="4a556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21"/>
          <p:cNvSpPr/>
          <p:nvPr/>
        </p:nvSpPr>
        <p:spPr>
          <a:xfrm>
            <a:off x="4617720" y="3794760"/>
            <a:ext cx="4114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Dispositivo Fisico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Shape 22"/>
          <p:cNvSpPr/>
          <p:nvPr/>
        </p:nvSpPr>
        <p:spPr>
          <a:xfrm>
            <a:off x="0" y="4937760"/>
            <a:ext cx="9143640" cy="20556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23"/>
          <p:cNvSpPr/>
          <p:nvPr/>
        </p:nvSpPr>
        <p:spPr>
          <a:xfrm>
            <a:off x="182880" y="4946760"/>
            <a:ext cx="87778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Sistemi Operativi — Prof. Fedeli Massimo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Shape 0"/>
          <p:cNvSpPr/>
          <p:nvPr/>
        </p:nvSpPr>
        <p:spPr>
          <a:xfrm>
            <a:off x="0" y="0"/>
            <a:ext cx="9143640" cy="74952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6" name="Shape 1"/>
          <p:cNvSpPr/>
          <p:nvPr/>
        </p:nvSpPr>
        <p:spPr>
          <a:xfrm>
            <a:off x="0" y="0"/>
            <a:ext cx="109440" cy="514332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2"/>
          <p:cNvSpPr/>
          <p:nvPr/>
        </p:nvSpPr>
        <p:spPr>
          <a:xfrm>
            <a:off x="228600" y="73080"/>
            <a:ext cx="73148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Gestione del File System</a:t>
            </a:r>
            <a:endParaRPr lang="it-IT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3"/>
          <p:cNvSpPr/>
          <p:nvPr/>
        </p:nvSpPr>
        <p:spPr>
          <a:xfrm>
            <a:off x="228600" y="71316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i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Astrazione dello storage: file, directory e protezione</a:t>
            </a:r>
            <a:endParaRPr lang="it-IT" sz="12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4"/>
          <p:cNvSpPr/>
          <p:nvPr/>
        </p:nvSpPr>
        <p:spPr>
          <a:xfrm>
            <a:off x="201240" y="914400"/>
            <a:ext cx="411444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Il file system è l'interfaccia tra i programmi e lo storage fisico (disco, SSD, NAS).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I file sono sequenze di byte con nome, attributi e metadati (dimensione, data, permessi).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Le directory (cartelle) organizzano i file in una struttura ad albero gerarchica.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Il SO gestisce le operazioni: open/close, read/write, seek, delete, rename.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La protezione si basa su permessi (rwx) e liste di controllo accessi (ACL).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Journaling: il FS registra le operazioni in un journal per garantire consistenza dopo crash.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0" name="Image 0" descr="preencoded.png"/>
          <p:cNvPicPr/>
          <p:nvPr/>
        </p:nvPicPr>
        <p:blipFill>
          <a:blip r:embed="rId1"/>
          <a:stretch/>
        </p:blipFill>
        <p:spPr>
          <a:xfrm>
            <a:off x="6035040" y="960120"/>
            <a:ext cx="41112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1" name="Text 5"/>
          <p:cNvSpPr/>
          <p:nvPr/>
        </p:nvSpPr>
        <p:spPr>
          <a:xfrm>
            <a:off x="6492240" y="100584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/  (root)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Shape 6"/>
          <p:cNvSpPr/>
          <p:nvPr/>
        </p:nvSpPr>
        <p:spPr>
          <a:xfrm>
            <a:off x="4937760" y="1508760"/>
            <a:ext cx="1234080" cy="34704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7"/>
          <p:cNvSpPr/>
          <p:nvPr/>
        </p:nvSpPr>
        <p:spPr>
          <a:xfrm>
            <a:off x="4937760" y="1508760"/>
            <a:ext cx="1234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/home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Shape 8"/>
          <p:cNvSpPr/>
          <p:nvPr/>
        </p:nvSpPr>
        <p:spPr>
          <a:xfrm>
            <a:off x="5029200" y="1965960"/>
            <a:ext cx="1051200" cy="292320"/>
          </a:xfrm>
          <a:prstGeom prst="rect">
            <a:avLst/>
          </a:prstGeom>
          <a:solidFill>
            <a:srgbClr val="cadcfc"/>
          </a:solidFill>
          <a:ln w="5080">
            <a:solidFill>
              <a:srgbClr val="8fa4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9"/>
          <p:cNvSpPr/>
          <p:nvPr/>
        </p:nvSpPr>
        <p:spPr>
          <a:xfrm>
            <a:off x="5029200" y="1965960"/>
            <a:ext cx="1051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user1/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Shape 10"/>
          <p:cNvSpPr/>
          <p:nvPr/>
        </p:nvSpPr>
        <p:spPr>
          <a:xfrm>
            <a:off x="5029200" y="2350080"/>
            <a:ext cx="1051200" cy="292320"/>
          </a:xfrm>
          <a:prstGeom prst="rect">
            <a:avLst/>
          </a:prstGeom>
          <a:solidFill>
            <a:srgbClr val="cadcfc"/>
          </a:solidFill>
          <a:ln w="5080">
            <a:solidFill>
              <a:srgbClr val="8fa4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11"/>
          <p:cNvSpPr/>
          <p:nvPr/>
        </p:nvSpPr>
        <p:spPr>
          <a:xfrm>
            <a:off x="5029200" y="2350080"/>
            <a:ext cx="1051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user2/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Shape 12"/>
          <p:cNvSpPr/>
          <p:nvPr/>
        </p:nvSpPr>
        <p:spPr>
          <a:xfrm>
            <a:off x="5504760" y="1856160"/>
            <a:ext cx="91080" cy="118440"/>
          </a:xfrm>
          <a:prstGeom prst="rect">
            <a:avLst/>
          </a:prstGeom>
          <a:solidFill>
            <a:srgbClr val="8fa4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Shape 13"/>
          <p:cNvSpPr/>
          <p:nvPr/>
        </p:nvSpPr>
        <p:spPr>
          <a:xfrm>
            <a:off x="6400800" y="1508760"/>
            <a:ext cx="1234080" cy="34704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14"/>
          <p:cNvSpPr/>
          <p:nvPr/>
        </p:nvSpPr>
        <p:spPr>
          <a:xfrm>
            <a:off x="6400800" y="1508760"/>
            <a:ext cx="1234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/etc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Shape 15"/>
          <p:cNvSpPr/>
          <p:nvPr/>
        </p:nvSpPr>
        <p:spPr>
          <a:xfrm>
            <a:off x="6492240" y="1965960"/>
            <a:ext cx="1051200" cy="292320"/>
          </a:xfrm>
          <a:prstGeom prst="rect">
            <a:avLst/>
          </a:prstGeom>
          <a:solidFill>
            <a:srgbClr val="cadcfc"/>
          </a:solidFill>
          <a:ln w="5080">
            <a:solidFill>
              <a:srgbClr val="8fa4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16"/>
          <p:cNvSpPr/>
          <p:nvPr/>
        </p:nvSpPr>
        <p:spPr>
          <a:xfrm>
            <a:off x="6492240" y="1965960"/>
            <a:ext cx="1051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passwd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Shape 17"/>
          <p:cNvSpPr/>
          <p:nvPr/>
        </p:nvSpPr>
        <p:spPr>
          <a:xfrm>
            <a:off x="6492240" y="2350080"/>
            <a:ext cx="1051200" cy="292320"/>
          </a:xfrm>
          <a:prstGeom prst="rect">
            <a:avLst/>
          </a:prstGeom>
          <a:solidFill>
            <a:srgbClr val="cadcfc"/>
          </a:solidFill>
          <a:ln w="5080">
            <a:solidFill>
              <a:srgbClr val="8fa4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18"/>
          <p:cNvSpPr/>
          <p:nvPr/>
        </p:nvSpPr>
        <p:spPr>
          <a:xfrm>
            <a:off x="6492240" y="2350080"/>
            <a:ext cx="1051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hosts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Shape 19"/>
          <p:cNvSpPr/>
          <p:nvPr/>
        </p:nvSpPr>
        <p:spPr>
          <a:xfrm>
            <a:off x="6967800" y="1856160"/>
            <a:ext cx="91080" cy="118440"/>
          </a:xfrm>
          <a:prstGeom prst="rect">
            <a:avLst/>
          </a:prstGeom>
          <a:solidFill>
            <a:srgbClr val="8fa4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Shape 20"/>
          <p:cNvSpPr/>
          <p:nvPr/>
        </p:nvSpPr>
        <p:spPr>
          <a:xfrm>
            <a:off x="7863840" y="1508760"/>
            <a:ext cx="1234080" cy="34704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21"/>
          <p:cNvSpPr/>
          <p:nvPr/>
        </p:nvSpPr>
        <p:spPr>
          <a:xfrm>
            <a:off x="7863840" y="1508760"/>
            <a:ext cx="1234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/var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Shape 22"/>
          <p:cNvSpPr/>
          <p:nvPr/>
        </p:nvSpPr>
        <p:spPr>
          <a:xfrm>
            <a:off x="7955280" y="1965960"/>
            <a:ext cx="1051200" cy="292320"/>
          </a:xfrm>
          <a:prstGeom prst="rect">
            <a:avLst/>
          </a:prstGeom>
          <a:solidFill>
            <a:srgbClr val="cadcfc"/>
          </a:solidFill>
          <a:ln w="5080">
            <a:solidFill>
              <a:srgbClr val="8fa4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23"/>
          <p:cNvSpPr/>
          <p:nvPr/>
        </p:nvSpPr>
        <p:spPr>
          <a:xfrm>
            <a:off x="7955280" y="1965960"/>
            <a:ext cx="1051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log/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Shape 24"/>
          <p:cNvSpPr/>
          <p:nvPr/>
        </p:nvSpPr>
        <p:spPr>
          <a:xfrm>
            <a:off x="7955280" y="2350080"/>
            <a:ext cx="1051200" cy="292320"/>
          </a:xfrm>
          <a:prstGeom prst="rect">
            <a:avLst/>
          </a:prstGeom>
          <a:solidFill>
            <a:srgbClr val="cadcfc"/>
          </a:solidFill>
          <a:ln w="5080">
            <a:solidFill>
              <a:srgbClr val="8fa4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25"/>
          <p:cNvSpPr/>
          <p:nvPr/>
        </p:nvSpPr>
        <p:spPr>
          <a:xfrm>
            <a:off x="7955280" y="2350080"/>
            <a:ext cx="1051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mail/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Shape 26"/>
          <p:cNvSpPr/>
          <p:nvPr/>
        </p:nvSpPr>
        <p:spPr>
          <a:xfrm>
            <a:off x="8430840" y="1856160"/>
            <a:ext cx="91080" cy="118440"/>
          </a:xfrm>
          <a:prstGeom prst="rect">
            <a:avLst/>
          </a:prstGeom>
          <a:solidFill>
            <a:srgbClr val="8fa4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Shape 27"/>
          <p:cNvSpPr/>
          <p:nvPr/>
        </p:nvSpPr>
        <p:spPr>
          <a:xfrm>
            <a:off x="5440680" y="1371600"/>
            <a:ext cx="3108600" cy="72720"/>
          </a:xfrm>
          <a:prstGeom prst="rect">
            <a:avLst/>
          </a:prstGeom>
          <a:solidFill>
            <a:srgbClr val="8fa4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Shape 28"/>
          <p:cNvSpPr/>
          <p:nvPr/>
        </p:nvSpPr>
        <p:spPr>
          <a:xfrm>
            <a:off x="5504760" y="1371600"/>
            <a:ext cx="91080" cy="145800"/>
          </a:xfrm>
          <a:prstGeom prst="rect">
            <a:avLst/>
          </a:prstGeom>
          <a:solidFill>
            <a:srgbClr val="8fa4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Shape 29"/>
          <p:cNvSpPr/>
          <p:nvPr/>
        </p:nvSpPr>
        <p:spPr>
          <a:xfrm>
            <a:off x="6986160" y="1371600"/>
            <a:ext cx="91080" cy="145800"/>
          </a:xfrm>
          <a:prstGeom prst="rect">
            <a:avLst/>
          </a:prstGeom>
          <a:solidFill>
            <a:srgbClr val="8fa4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Shape 30"/>
          <p:cNvSpPr/>
          <p:nvPr/>
        </p:nvSpPr>
        <p:spPr>
          <a:xfrm>
            <a:off x="8458200" y="1371600"/>
            <a:ext cx="91080" cy="145800"/>
          </a:xfrm>
          <a:prstGeom prst="rect">
            <a:avLst/>
          </a:prstGeom>
          <a:solidFill>
            <a:srgbClr val="8fa4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Shape 31"/>
          <p:cNvSpPr/>
          <p:nvPr/>
        </p:nvSpPr>
        <p:spPr>
          <a:xfrm>
            <a:off x="6217920" y="1353240"/>
            <a:ext cx="91080" cy="164160"/>
          </a:xfrm>
          <a:prstGeom prst="rect">
            <a:avLst/>
          </a:prstGeom>
          <a:solidFill>
            <a:srgbClr val="8fa4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Shape 32"/>
          <p:cNvSpPr/>
          <p:nvPr/>
        </p:nvSpPr>
        <p:spPr>
          <a:xfrm>
            <a:off x="4663440" y="2926080"/>
            <a:ext cx="4114440" cy="959760"/>
          </a:xfrm>
          <a:prstGeom prst="rect">
            <a:avLst/>
          </a:prstGeom>
          <a:solidFill>
            <a:srgbClr val="1e2761">
              <a:alpha val="10000"/>
            </a:srgbClr>
          </a:solidFill>
          <a:ln w="635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33"/>
          <p:cNvSpPr/>
          <p:nvPr/>
        </p:nvSpPr>
        <p:spPr>
          <a:xfrm>
            <a:off x="4754880" y="2944440"/>
            <a:ext cx="3931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Tipi di File System comuni: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34"/>
          <p:cNvSpPr/>
          <p:nvPr/>
        </p:nvSpPr>
        <p:spPr>
          <a:xfrm>
            <a:off x="4754880" y="3218760"/>
            <a:ext cx="393156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ext4, NTFS, APFS (journaled) — FAT32/exFAT (compatibilità) — ZFS/Btrfs (COW, snapshot)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Shape 35"/>
          <p:cNvSpPr/>
          <p:nvPr/>
        </p:nvSpPr>
        <p:spPr>
          <a:xfrm>
            <a:off x="0" y="4937760"/>
            <a:ext cx="9143640" cy="20556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36"/>
          <p:cNvSpPr/>
          <p:nvPr/>
        </p:nvSpPr>
        <p:spPr>
          <a:xfrm>
            <a:off x="182880" y="4946760"/>
            <a:ext cx="87778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Sistemi Operativi — Prof. Fedeli Massimo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Shape 0"/>
          <p:cNvSpPr/>
          <p:nvPr/>
        </p:nvSpPr>
        <p:spPr>
          <a:xfrm>
            <a:off x="0" y="0"/>
            <a:ext cx="9143640" cy="74952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4" name="Shape 1"/>
          <p:cNvSpPr/>
          <p:nvPr/>
        </p:nvSpPr>
        <p:spPr>
          <a:xfrm>
            <a:off x="0" y="0"/>
            <a:ext cx="109440" cy="514332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2"/>
          <p:cNvSpPr/>
          <p:nvPr/>
        </p:nvSpPr>
        <p:spPr>
          <a:xfrm>
            <a:off x="228600" y="73080"/>
            <a:ext cx="73148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Boot del Sistema Operativo</a:t>
            </a:r>
            <a:endParaRPr lang="it-IT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3"/>
          <p:cNvSpPr/>
          <p:nvPr/>
        </p:nvSpPr>
        <p:spPr>
          <a:xfrm>
            <a:off x="228600" y="71316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i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Dal tasto di accensione al desktop: 5 fasi fondamentali</a:t>
            </a:r>
            <a:endParaRPr lang="it-IT" sz="12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Shape 4"/>
          <p:cNvSpPr/>
          <p:nvPr/>
        </p:nvSpPr>
        <p:spPr>
          <a:xfrm>
            <a:off x="137160" y="960120"/>
            <a:ext cx="548280" cy="548280"/>
          </a:xfr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 5"/>
          <p:cNvSpPr/>
          <p:nvPr/>
        </p:nvSpPr>
        <p:spPr>
          <a:xfrm>
            <a:off x="137160" y="1051560"/>
            <a:ext cx="548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Shape 6"/>
          <p:cNvSpPr/>
          <p:nvPr/>
        </p:nvSpPr>
        <p:spPr>
          <a:xfrm>
            <a:off x="365760" y="1508760"/>
            <a:ext cx="72720" cy="246600"/>
          </a:xfrm>
          <a:prstGeom prst="rect">
            <a:avLst/>
          </a:prstGeom>
          <a:solidFill>
            <a:srgbClr val="8fa4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Shape 7"/>
          <p:cNvSpPr/>
          <p:nvPr/>
        </p:nvSpPr>
        <p:spPr>
          <a:xfrm>
            <a:off x="822960" y="996840"/>
            <a:ext cx="7954920" cy="50256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8"/>
          <p:cNvSpPr/>
          <p:nvPr/>
        </p:nvSpPr>
        <p:spPr>
          <a:xfrm>
            <a:off x="914400" y="1005840"/>
            <a:ext cx="18284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Power-On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9"/>
          <p:cNvSpPr/>
          <p:nvPr/>
        </p:nvSpPr>
        <p:spPr>
          <a:xfrm>
            <a:off x="914400" y="1225440"/>
            <a:ext cx="76806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Il PSU stabilizza le tensioni e invia il segnale Power Good alla scheda madre. La CPU si resetta e carica il vettore di reset (0xFFFFFFF0).</a:t>
            </a:r>
            <a:endParaRPr lang="it-IT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Shape 10"/>
          <p:cNvSpPr/>
          <p:nvPr/>
        </p:nvSpPr>
        <p:spPr>
          <a:xfrm>
            <a:off x="137160" y="1746360"/>
            <a:ext cx="548280" cy="548280"/>
          </a:xfr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11"/>
          <p:cNvSpPr/>
          <p:nvPr/>
        </p:nvSpPr>
        <p:spPr>
          <a:xfrm>
            <a:off x="137160" y="1837800"/>
            <a:ext cx="548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Shape 12"/>
          <p:cNvSpPr/>
          <p:nvPr/>
        </p:nvSpPr>
        <p:spPr>
          <a:xfrm>
            <a:off x="365760" y="2295000"/>
            <a:ext cx="72720" cy="246600"/>
          </a:xfrm>
          <a:prstGeom prst="rect">
            <a:avLst/>
          </a:prstGeom>
          <a:solidFill>
            <a:srgbClr val="8fa4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Shape 13"/>
          <p:cNvSpPr/>
          <p:nvPr/>
        </p:nvSpPr>
        <p:spPr>
          <a:xfrm>
            <a:off x="822960" y="1783080"/>
            <a:ext cx="7954920" cy="50256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14"/>
          <p:cNvSpPr/>
          <p:nvPr/>
        </p:nvSpPr>
        <p:spPr>
          <a:xfrm>
            <a:off x="914400" y="1792080"/>
            <a:ext cx="18284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BIOS / UEFI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15"/>
          <p:cNvSpPr/>
          <p:nvPr/>
        </p:nvSpPr>
        <p:spPr>
          <a:xfrm>
            <a:off x="914400" y="2011680"/>
            <a:ext cx="76806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Il firmware esegue il POST (Power-On Self Test): verifica CPU, RAM, dispositivi. UEFI è il successore moderno del BIOS, supporta dischi &gt; 2TB e avvio sicuro (Secure Boot).</a:t>
            </a:r>
            <a:endParaRPr lang="it-IT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Shape 16"/>
          <p:cNvSpPr/>
          <p:nvPr/>
        </p:nvSpPr>
        <p:spPr>
          <a:xfrm>
            <a:off x="137160" y="2532960"/>
            <a:ext cx="548280" cy="548280"/>
          </a:xfr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17"/>
          <p:cNvSpPr/>
          <p:nvPr/>
        </p:nvSpPr>
        <p:spPr>
          <a:xfrm>
            <a:off x="137160" y="2624400"/>
            <a:ext cx="548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Shape 18"/>
          <p:cNvSpPr/>
          <p:nvPr/>
        </p:nvSpPr>
        <p:spPr>
          <a:xfrm>
            <a:off x="365760" y="3081600"/>
            <a:ext cx="72720" cy="246600"/>
          </a:xfrm>
          <a:prstGeom prst="rect">
            <a:avLst/>
          </a:prstGeom>
          <a:solidFill>
            <a:srgbClr val="8fa4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Shape 19"/>
          <p:cNvSpPr/>
          <p:nvPr/>
        </p:nvSpPr>
        <p:spPr>
          <a:xfrm>
            <a:off x="822960" y="2569320"/>
            <a:ext cx="7954920" cy="50256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20"/>
          <p:cNvSpPr/>
          <p:nvPr/>
        </p:nvSpPr>
        <p:spPr>
          <a:xfrm>
            <a:off x="914400" y="2578680"/>
            <a:ext cx="18284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Bootstrap Loader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21"/>
          <p:cNvSpPr/>
          <p:nvPr/>
        </p:nvSpPr>
        <p:spPr>
          <a:xfrm>
            <a:off x="914400" y="2797920"/>
            <a:ext cx="76806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Il BIOS carica il MBR (512 byte) dal dispositivo di avvio. Con UEFI viene caricato l'EFI boot manager. Cerca e avvia il secondo stadio del bootloader.</a:t>
            </a:r>
            <a:endParaRPr lang="it-IT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Shape 22"/>
          <p:cNvSpPr/>
          <p:nvPr/>
        </p:nvSpPr>
        <p:spPr>
          <a:xfrm>
            <a:off x="137160" y="3319200"/>
            <a:ext cx="548280" cy="548280"/>
          </a:xfrm>
          <a:solidFill>
            <a:srgbClr val="2c3e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 23"/>
          <p:cNvSpPr/>
          <p:nvPr/>
        </p:nvSpPr>
        <p:spPr>
          <a:xfrm>
            <a:off x="137160" y="3410640"/>
            <a:ext cx="548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Shape 24"/>
          <p:cNvSpPr/>
          <p:nvPr/>
        </p:nvSpPr>
        <p:spPr>
          <a:xfrm>
            <a:off x="365760" y="3867840"/>
            <a:ext cx="72720" cy="246600"/>
          </a:xfrm>
          <a:prstGeom prst="rect">
            <a:avLst/>
          </a:prstGeom>
          <a:solidFill>
            <a:srgbClr val="8fa4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Shape 25"/>
          <p:cNvSpPr/>
          <p:nvPr/>
        </p:nvSpPr>
        <p:spPr>
          <a:xfrm>
            <a:off x="822960" y="3355920"/>
            <a:ext cx="7954920" cy="50256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26"/>
          <p:cNvSpPr/>
          <p:nvPr/>
        </p:nvSpPr>
        <p:spPr>
          <a:xfrm>
            <a:off x="914400" y="3364920"/>
            <a:ext cx="18284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Bootloader (GRUB)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27"/>
          <p:cNvSpPr/>
          <p:nvPr/>
        </p:nvSpPr>
        <p:spPr>
          <a:xfrm>
            <a:off x="914400" y="3584520"/>
            <a:ext cx="76806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GRUB 2 mostra il menu di selezione SO, carica il kernel Linux (vmlinuz) e il ramdisk iniziale (initrd) in memoria. Trasferisce il controllo al kernel.</a:t>
            </a:r>
            <a:endParaRPr lang="it-IT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Shape 28"/>
          <p:cNvSpPr/>
          <p:nvPr/>
        </p:nvSpPr>
        <p:spPr>
          <a:xfrm>
            <a:off x="137160" y="4105800"/>
            <a:ext cx="548280" cy="548280"/>
          </a:xfrm>
          <a:solidFill>
            <a:srgbClr val="f47b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29"/>
          <p:cNvSpPr/>
          <p:nvPr/>
        </p:nvSpPr>
        <p:spPr>
          <a:xfrm>
            <a:off x="137160" y="4197240"/>
            <a:ext cx="548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Shape 30"/>
          <p:cNvSpPr/>
          <p:nvPr/>
        </p:nvSpPr>
        <p:spPr>
          <a:xfrm>
            <a:off x="822960" y="4142160"/>
            <a:ext cx="7954920" cy="50256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 31"/>
          <p:cNvSpPr/>
          <p:nvPr/>
        </p:nvSpPr>
        <p:spPr>
          <a:xfrm>
            <a:off x="914400" y="4151520"/>
            <a:ext cx="18284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47b20"/>
                </a:solidFill>
                <a:effectLst/>
                <a:uFillTx/>
                <a:latin typeface="Calibri"/>
                <a:ea typeface="Calibri"/>
              </a:rPr>
              <a:t>Avvio Kernel &amp; Init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 32"/>
          <p:cNvSpPr/>
          <p:nvPr/>
        </p:nvSpPr>
        <p:spPr>
          <a:xfrm>
            <a:off x="914400" y="4370760"/>
            <a:ext cx="76806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Il kernel inizializza driver, monta il file system root, avvia il processo init (PID 1). Systemd avvia i servizi in parallelo fino al target grafico o testuale.</a:t>
            </a:r>
            <a:endParaRPr lang="it-IT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Shape 33"/>
          <p:cNvSpPr/>
          <p:nvPr/>
        </p:nvSpPr>
        <p:spPr>
          <a:xfrm>
            <a:off x="0" y="4937760"/>
            <a:ext cx="9143640" cy="20556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34"/>
          <p:cNvSpPr/>
          <p:nvPr/>
        </p:nvSpPr>
        <p:spPr>
          <a:xfrm>
            <a:off x="182880" y="4946760"/>
            <a:ext cx="87778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Sistemi Operativi — Prof. Fedeli Massimo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Shape 0"/>
          <p:cNvSpPr/>
          <p:nvPr/>
        </p:nvSpPr>
        <p:spPr>
          <a:xfrm>
            <a:off x="0" y="0"/>
            <a:ext cx="9143640" cy="74952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9" name="Shape 1"/>
          <p:cNvSpPr/>
          <p:nvPr/>
        </p:nvSpPr>
        <p:spPr>
          <a:xfrm>
            <a:off x="0" y="0"/>
            <a:ext cx="109440" cy="514332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 2"/>
          <p:cNvSpPr/>
          <p:nvPr/>
        </p:nvSpPr>
        <p:spPr>
          <a:xfrm>
            <a:off x="228600" y="73080"/>
            <a:ext cx="73148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Boot Loader Moderni — GNU GRUB 2</a:t>
            </a:r>
            <a:endParaRPr lang="it-IT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 3"/>
          <p:cNvSpPr/>
          <p:nvPr/>
        </p:nvSpPr>
        <p:spPr>
          <a:xfrm>
            <a:off x="228600" y="71316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i="1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Il bootloader più diffuso nei sistemi Linux/Unix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 4"/>
          <p:cNvSpPr/>
          <p:nvPr/>
        </p:nvSpPr>
        <p:spPr>
          <a:xfrm>
            <a:off x="201240" y="960120"/>
            <a:ext cx="457164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GRUB 2 (GRand Unified Bootloader) è il bootloader standard della maggior parte delle distribuzioni Linux.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Supporta molteplici file system: ext4, Btrfs, XFS, FAT, NTFS — legge i file direttamente.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Può avviare kernel Linux, sistemi BSD, Windows tramite chainloading.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Il file di configurazione /boot/grub/grub.cfg viene generato automaticamente da grub-mkconfig.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Secure Boot UEFI: GRUB viene firmato digitalmente per impedire il caricamento di codice non autorizzato.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Supporta la crittografia del disco (LUKS) già nella fase di boot.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Shape 5"/>
          <p:cNvSpPr/>
          <p:nvPr/>
        </p:nvSpPr>
        <p:spPr>
          <a:xfrm>
            <a:off x="4937760" y="960120"/>
            <a:ext cx="3840120" cy="3840120"/>
          </a:xfrm>
          <a:prstGeom prst="rect">
            <a:avLst/>
          </a:prstGeom>
          <a:solidFill>
            <a:srgbClr val="1a1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4" name="Shape 6"/>
          <p:cNvSpPr/>
          <p:nvPr/>
        </p:nvSpPr>
        <p:spPr>
          <a:xfrm>
            <a:off x="4937760" y="960120"/>
            <a:ext cx="3840120" cy="319680"/>
          </a:xfrm>
          <a:prstGeom prst="rect">
            <a:avLst/>
          </a:prstGeom>
          <a:solidFill>
            <a:srgbClr val="2d2d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 7"/>
          <p:cNvSpPr/>
          <p:nvPr/>
        </p:nvSpPr>
        <p:spPr>
          <a:xfrm>
            <a:off x="5029200" y="9784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aaaaa"/>
                </a:solidFill>
                <a:effectLst/>
                <a:uFillTx/>
                <a:latin typeface="Consolas"/>
                <a:ea typeface="Consolas"/>
              </a:rPr>
              <a:t>GNU GRUB  version 2.06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Shape 8"/>
          <p:cNvSpPr/>
          <p:nvPr/>
        </p:nvSpPr>
        <p:spPr>
          <a:xfrm>
            <a:off x="5029200" y="1417320"/>
            <a:ext cx="3657240" cy="347040"/>
          </a:xfrm>
          <a:prstGeom prst="rect">
            <a:avLst/>
          </a:prstGeom>
          <a:solidFill>
            <a:srgbClr val="028090">
              <a:alpha val="7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 9"/>
          <p:cNvSpPr/>
          <p:nvPr/>
        </p:nvSpPr>
        <p:spPr>
          <a:xfrm>
            <a:off x="5074920" y="1472040"/>
            <a:ext cx="3565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02c39a"/>
                </a:solidFill>
                <a:effectLst/>
                <a:uFillTx/>
                <a:latin typeface="Consolas"/>
                <a:ea typeface="Consolas"/>
              </a:rPr>
              <a:t>▸ Ubuntu 22.04 LTS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 10"/>
          <p:cNvSpPr/>
          <p:nvPr/>
        </p:nvSpPr>
        <p:spPr>
          <a:xfrm>
            <a:off x="5074920" y="1883520"/>
            <a:ext cx="3565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aaaaaa"/>
                </a:solidFill>
                <a:effectLst/>
                <a:uFillTx/>
                <a:latin typeface="Consolas"/>
                <a:ea typeface="Consolas"/>
              </a:rPr>
              <a:t>  Ubuntu 22.04 (recovery mode)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 11"/>
          <p:cNvSpPr/>
          <p:nvPr/>
        </p:nvSpPr>
        <p:spPr>
          <a:xfrm>
            <a:off x="5074920" y="2295000"/>
            <a:ext cx="3565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aaaaaa"/>
                </a:solidFill>
                <a:effectLst/>
                <a:uFillTx/>
                <a:latin typeface="Consolas"/>
                <a:ea typeface="Consolas"/>
              </a:rPr>
              <a:t>  Windows 11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 12"/>
          <p:cNvSpPr/>
          <p:nvPr/>
        </p:nvSpPr>
        <p:spPr>
          <a:xfrm>
            <a:off x="5074920" y="2706480"/>
            <a:ext cx="3565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aaaaaa"/>
                </a:solidFill>
                <a:effectLst/>
                <a:uFillTx/>
                <a:latin typeface="Consolas"/>
                <a:ea typeface="Consolas"/>
              </a:rPr>
              <a:t>  UEFI Firmware Settings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 13"/>
          <p:cNvSpPr/>
          <p:nvPr/>
        </p:nvSpPr>
        <p:spPr>
          <a:xfrm>
            <a:off x="5029200" y="3383280"/>
            <a:ext cx="3657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777777"/>
                </a:solidFill>
                <a:effectLst/>
                <a:uFillTx/>
                <a:latin typeface="Consolas"/>
                <a:ea typeface="Consolas"/>
              </a:rPr>
              <a:t>Use ↑↓ to highlight.  Enter to select.  'e' to edit.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 14"/>
          <p:cNvSpPr/>
          <p:nvPr/>
        </p:nvSpPr>
        <p:spPr>
          <a:xfrm>
            <a:off x="5029200" y="3657600"/>
            <a:ext cx="3657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02c39a"/>
                </a:solidFill>
                <a:effectLst/>
                <a:uFillTx/>
                <a:latin typeface="Consolas"/>
                <a:ea typeface="Consolas"/>
              </a:rPr>
              <a:t>The highlighted entry will be started automatically in 5s.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Shape 15"/>
          <p:cNvSpPr/>
          <p:nvPr/>
        </p:nvSpPr>
        <p:spPr>
          <a:xfrm>
            <a:off x="4937760" y="3977640"/>
            <a:ext cx="3840120" cy="639720"/>
          </a:xfrm>
          <a:prstGeom prst="rect">
            <a:avLst/>
          </a:prstGeom>
          <a:solidFill>
            <a:srgbClr val="1313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 16"/>
          <p:cNvSpPr/>
          <p:nvPr/>
        </p:nvSpPr>
        <p:spPr>
          <a:xfrm>
            <a:off x="5029200" y="4005000"/>
            <a:ext cx="3657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777777"/>
                </a:solidFill>
                <a:effectLst/>
                <a:uFillTx/>
                <a:latin typeface="Consolas"/>
                <a:ea typeface="Consolas"/>
              </a:rPr>
              <a:t>Minimum BASH-like editing is supported.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777777"/>
                </a:solidFill>
                <a:effectLst/>
                <a:uFillTx/>
                <a:latin typeface="Consolas"/>
                <a:ea typeface="Consolas"/>
              </a:rPr>
              <a:t>Press 'c' for command-line.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Shape 17"/>
          <p:cNvSpPr/>
          <p:nvPr/>
        </p:nvSpPr>
        <p:spPr>
          <a:xfrm>
            <a:off x="0" y="4937760"/>
            <a:ext cx="9143640" cy="20556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 18"/>
          <p:cNvSpPr/>
          <p:nvPr/>
        </p:nvSpPr>
        <p:spPr>
          <a:xfrm>
            <a:off x="182880" y="4946760"/>
            <a:ext cx="87778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Sistemi Operativi — Prof. Fedeli Massimo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Shape 0"/>
          <p:cNvSpPr/>
          <p:nvPr/>
        </p:nvSpPr>
        <p:spPr>
          <a:xfrm>
            <a:off x="0" y="0"/>
            <a:ext cx="9143640" cy="74952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8" name="Shape 1"/>
          <p:cNvSpPr/>
          <p:nvPr/>
        </p:nvSpPr>
        <p:spPr>
          <a:xfrm>
            <a:off x="0" y="0"/>
            <a:ext cx="109440" cy="514332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 2"/>
          <p:cNvSpPr/>
          <p:nvPr/>
        </p:nvSpPr>
        <p:spPr>
          <a:xfrm>
            <a:off x="228600" y="73080"/>
            <a:ext cx="73148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Dual Mode — User Mode e Kernel Mode</a:t>
            </a:r>
            <a:endParaRPr lang="it-IT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 3"/>
          <p:cNvSpPr/>
          <p:nvPr/>
        </p:nvSpPr>
        <p:spPr>
          <a:xfrm>
            <a:off x="228600" y="71316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Protezione hardware fondamentale per la sicurezza del sistema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 4"/>
          <p:cNvSpPr/>
          <p:nvPr/>
        </p:nvSpPr>
        <p:spPr>
          <a:xfrm>
            <a:off x="201240" y="960120"/>
            <a:ext cx="411444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La CPU moderna supporta almeno due livelli di privilegio: user mode (ring 3) e kernel mode (ring 0).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Il bit di modalità nel registro PSW (Program Status Word) indica la modalità corrente.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In user mode, istruzioni privilegiate (I/O diretto, modifica registri di controllo) sono vietate.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In kernel mode, il SO ha accesso completo all'hardware.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Il passaggio da user a kernel mode avviene solo tramite meccanismi controllati: interrupt, trap, system call.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Shape 5"/>
          <p:cNvSpPr/>
          <p:nvPr/>
        </p:nvSpPr>
        <p:spPr>
          <a:xfrm>
            <a:off x="4709160" y="1097280"/>
            <a:ext cx="3840120" cy="3657240"/>
          </a:xfrm>
          <a:solidFill>
            <a:srgbClr val="eeeeee"/>
          </a:solidFill>
          <a:ln w="12700">
            <a:solidFill>
              <a:srgbClr val="8fa4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Shape 6"/>
          <p:cNvSpPr/>
          <p:nvPr/>
        </p:nvSpPr>
        <p:spPr>
          <a:xfrm>
            <a:off x="5349240" y="1691640"/>
            <a:ext cx="2559960" cy="2468520"/>
          </a:xfrm>
          <a:solidFill>
            <a:srgbClr val="cadcfc"/>
          </a:solidFill>
          <a:ln w="12700">
            <a:solidFill>
              <a:srgbClr val="8fa4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Shape 7"/>
          <p:cNvSpPr/>
          <p:nvPr/>
        </p:nvSpPr>
        <p:spPr>
          <a:xfrm>
            <a:off x="5970960" y="2304360"/>
            <a:ext cx="1316520" cy="1243080"/>
          </a:xfrm>
          <a:solidFill>
            <a:srgbClr val="1e2761"/>
          </a:solidFill>
          <a:ln w="1905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5" name="Text 8"/>
          <p:cNvSpPr/>
          <p:nvPr/>
        </p:nvSpPr>
        <p:spPr>
          <a:xfrm>
            <a:off x="5970960" y="2359080"/>
            <a:ext cx="1316520" cy="113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Ring 0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Kernel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 9"/>
          <p:cNvSpPr/>
          <p:nvPr/>
        </p:nvSpPr>
        <p:spPr>
          <a:xfrm>
            <a:off x="5367600" y="2176200"/>
            <a:ext cx="8409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0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Ring 1-2</a:t>
            </a:r>
            <a:endParaRPr lang="it-IT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0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Driver / SO</a:t>
            </a:r>
            <a:endParaRPr lang="it-IT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 10"/>
          <p:cNvSpPr/>
          <p:nvPr/>
        </p:nvSpPr>
        <p:spPr>
          <a:xfrm>
            <a:off x="4745880" y="1298520"/>
            <a:ext cx="1005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0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Ring 3 — User space</a:t>
            </a:r>
            <a:endParaRPr lang="it-IT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0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(applicazioni, librerie)</a:t>
            </a:r>
            <a:endParaRPr lang="it-IT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Shape 11"/>
          <p:cNvSpPr/>
          <p:nvPr/>
        </p:nvSpPr>
        <p:spPr>
          <a:xfrm>
            <a:off x="4663440" y="4069080"/>
            <a:ext cx="1828440" cy="63972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 12"/>
          <p:cNvSpPr/>
          <p:nvPr/>
        </p:nvSpPr>
        <p:spPr>
          <a:xfrm>
            <a:off x="4663440" y="4069080"/>
            <a:ext cx="1828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USER MODE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bit = 1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Shape 13"/>
          <p:cNvSpPr/>
          <p:nvPr/>
        </p:nvSpPr>
        <p:spPr>
          <a:xfrm>
            <a:off x="6766560" y="4069080"/>
            <a:ext cx="2011320" cy="63972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1" name="Text 14"/>
          <p:cNvSpPr/>
          <p:nvPr/>
        </p:nvSpPr>
        <p:spPr>
          <a:xfrm>
            <a:off x="6766560" y="4069080"/>
            <a:ext cx="2011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KERNEL MODE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bit = 0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Shape 15"/>
          <p:cNvSpPr/>
          <p:nvPr/>
        </p:nvSpPr>
        <p:spPr>
          <a:xfrm>
            <a:off x="0" y="4937760"/>
            <a:ext cx="9143640" cy="20556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 16"/>
          <p:cNvSpPr/>
          <p:nvPr/>
        </p:nvSpPr>
        <p:spPr>
          <a:xfrm>
            <a:off x="182880" y="4946760"/>
            <a:ext cx="87778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Sistemi Operativi — Prof. Fedeli Massimo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Shape 0"/>
          <p:cNvSpPr/>
          <p:nvPr/>
        </p:nvSpPr>
        <p:spPr>
          <a:xfrm>
            <a:off x="0" y="0"/>
            <a:ext cx="9143640" cy="74952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5" name="Shape 1"/>
          <p:cNvSpPr/>
          <p:nvPr/>
        </p:nvSpPr>
        <p:spPr>
          <a:xfrm>
            <a:off x="0" y="0"/>
            <a:ext cx="109440" cy="514332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 2"/>
          <p:cNvSpPr/>
          <p:nvPr/>
        </p:nvSpPr>
        <p:spPr>
          <a:xfrm>
            <a:off x="228600" y="73080"/>
            <a:ext cx="73148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Interruzioni (Interrupt)</a:t>
            </a:r>
            <a:endParaRPr lang="it-IT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 3"/>
          <p:cNvSpPr/>
          <p:nvPr/>
        </p:nvSpPr>
        <p:spPr>
          <a:xfrm>
            <a:off x="228600" y="71316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i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Il meccanismo fondamentale per la comunicazione hardware-software</a:t>
            </a:r>
            <a:endParaRPr lang="it-IT" sz="12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Shape 4"/>
          <p:cNvSpPr/>
          <p:nvPr/>
        </p:nvSpPr>
        <p:spPr>
          <a:xfrm>
            <a:off x="137160" y="960120"/>
            <a:ext cx="8777880" cy="118836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round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Shape 5"/>
          <p:cNvSpPr/>
          <p:nvPr/>
        </p:nvSpPr>
        <p:spPr>
          <a:xfrm>
            <a:off x="137160" y="960120"/>
            <a:ext cx="502560" cy="118836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40" name="Image 0" descr="preencoded.png"/>
          <p:cNvPicPr/>
          <p:nvPr/>
        </p:nvPicPr>
        <p:blipFill>
          <a:blip r:embed="rId1"/>
          <a:stretch/>
        </p:blipFill>
        <p:spPr>
          <a:xfrm>
            <a:off x="164520" y="128016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1" name="Text 6"/>
          <p:cNvSpPr/>
          <p:nvPr/>
        </p:nvSpPr>
        <p:spPr>
          <a:xfrm>
            <a:off x="731520" y="1014840"/>
            <a:ext cx="80463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Interrupt Hardware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 7"/>
          <p:cNvSpPr/>
          <p:nvPr/>
        </p:nvSpPr>
        <p:spPr>
          <a:xfrm>
            <a:off x="731520" y="1362600"/>
            <a:ext cx="8046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Generati da dispositivi esterni (tastiera, disco, NIC) per segnalare eventi asincroni. La CPU sospende il processo corrente, salva lo stato e chiama l'Interrupt Service Routine (ISR).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Shape 8"/>
          <p:cNvSpPr/>
          <p:nvPr/>
        </p:nvSpPr>
        <p:spPr>
          <a:xfrm>
            <a:off x="137160" y="2286000"/>
            <a:ext cx="8777880" cy="118836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round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Shape 9"/>
          <p:cNvSpPr/>
          <p:nvPr/>
        </p:nvSpPr>
        <p:spPr>
          <a:xfrm>
            <a:off x="137160" y="2286000"/>
            <a:ext cx="502560" cy="118836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45" name="Image 1" descr="preencoded.png"/>
          <p:cNvPicPr/>
          <p:nvPr/>
        </p:nvPicPr>
        <p:blipFill>
          <a:blip r:embed="rId2"/>
          <a:stretch/>
        </p:blipFill>
        <p:spPr>
          <a:xfrm>
            <a:off x="164520" y="260604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6" name="Text 10"/>
          <p:cNvSpPr/>
          <p:nvPr/>
        </p:nvSpPr>
        <p:spPr>
          <a:xfrm>
            <a:off x="731520" y="2340720"/>
            <a:ext cx="80463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System Call (Trap)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Text 11"/>
          <p:cNvSpPr/>
          <p:nvPr/>
        </p:nvSpPr>
        <p:spPr>
          <a:xfrm>
            <a:off x="731520" y="2688480"/>
            <a:ext cx="8046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Interrupt sincrono generato intenzionalmente da un processo utente tramite un'istruzione speciale (int 0x80 / syscall). È il meccanismo per richiedere servizi al kernel.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Shape 12"/>
          <p:cNvSpPr/>
          <p:nvPr/>
        </p:nvSpPr>
        <p:spPr>
          <a:xfrm>
            <a:off x="137160" y="3611880"/>
            <a:ext cx="8777880" cy="118836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round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Shape 13"/>
          <p:cNvSpPr/>
          <p:nvPr/>
        </p:nvSpPr>
        <p:spPr>
          <a:xfrm>
            <a:off x="137160" y="3611880"/>
            <a:ext cx="502560" cy="1188360"/>
          </a:xfrm>
          <a:prstGeom prst="rect">
            <a:avLst/>
          </a:prstGeom>
          <a:solidFill>
            <a:srgbClr val="e03b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50" name="Image 2" descr="preencoded.png"/>
          <p:cNvPicPr/>
          <p:nvPr/>
        </p:nvPicPr>
        <p:blipFill>
          <a:blip r:embed="rId3"/>
          <a:stretch/>
        </p:blipFill>
        <p:spPr>
          <a:xfrm>
            <a:off x="164520" y="393192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1" name="Text 14"/>
          <p:cNvSpPr/>
          <p:nvPr/>
        </p:nvSpPr>
        <p:spPr>
          <a:xfrm>
            <a:off x="731520" y="3666600"/>
            <a:ext cx="80463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e03b3b"/>
                </a:solidFill>
                <a:effectLst/>
                <a:uFillTx/>
                <a:latin typeface="Calibri"/>
                <a:ea typeface="Calibri"/>
              </a:rPr>
              <a:t>Trap ed Eccezioni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Text 15"/>
          <p:cNvSpPr/>
          <p:nvPr/>
        </p:nvSpPr>
        <p:spPr>
          <a:xfrm>
            <a:off x="731520" y="4014360"/>
            <a:ext cx="8046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Generate dalla CPU in caso di errore: divisione per zero, accesso a memoria invalida (segfault), istruzione illegale. Il SO gestisce l'eccezione o termina il processo.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Shape 16"/>
          <p:cNvSpPr/>
          <p:nvPr/>
        </p:nvSpPr>
        <p:spPr>
          <a:xfrm>
            <a:off x="137160" y="4572000"/>
            <a:ext cx="8777880" cy="273960"/>
          </a:xfrm>
          <a:prstGeom prst="rect">
            <a:avLst/>
          </a:prstGeom>
          <a:solidFill>
            <a:srgbClr val="1e2761">
              <a:alpha val="10000"/>
            </a:srgbClr>
          </a:solidFill>
          <a:ln w="508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4" name="Text 17"/>
          <p:cNvSpPr/>
          <p:nvPr/>
        </p:nvSpPr>
        <p:spPr>
          <a:xfrm>
            <a:off x="228600" y="4581000"/>
            <a:ext cx="85950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1e2761"/>
                </a:solidFill>
                <a:effectLst/>
                <a:uFillTx/>
                <a:latin typeface="Consolas"/>
                <a:ea typeface="Consolas"/>
              </a:rPr>
              <a:t>Flusso: Evento → CPU salva PC e registri → Salta a IDT[vettore] → Esegue ISR → Ripristina stato → iret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Shape 18"/>
          <p:cNvSpPr/>
          <p:nvPr/>
        </p:nvSpPr>
        <p:spPr>
          <a:xfrm>
            <a:off x="0" y="4937760"/>
            <a:ext cx="9143640" cy="20556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6" name="Text 19"/>
          <p:cNvSpPr/>
          <p:nvPr/>
        </p:nvSpPr>
        <p:spPr>
          <a:xfrm>
            <a:off x="182880" y="4946760"/>
            <a:ext cx="87778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Sistemi Operativi — Prof. Fedeli Massimo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Shape 0"/>
          <p:cNvSpPr/>
          <p:nvPr/>
        </p:nvSpPr>
        <p:spPr>
          <a:xfrm>
            <a:off x="0" y="0"/>
            <a:ext cx="9143640" cy="74952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8" name="Shape 1"/>
          <p:cNvSpPr/>
          <p:nvPr/>
        </p:nvSpPr>
        <p:spPr>
          <a:xfrm>
            <a:off x="0" y="0"/>
            <a:ext cx="109440" cy="514332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9" name="Text 2"/>
          <p:cNvSpPr/>
          <p:nvPr/>
        </p:nvSpPr>
        <p:spPr>
          <a:xfrm>
            <a:off x="228600" y="73080"/>
            <a:ext cx="73148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System Call — Chiamate di Sistema</a:t>
            </a:r>
            <a:endParaRPr lang="it-IT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Text 3"/>
          <p:cNvSpPr/>
          <p:nvPr/>
        </p:nvSpPr>
        <p:spPr>
          <a:xfrm>
            <a:off x="228600" y="71316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i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L'interfaccia controllata tra applicazioni e kernel</a:t>
            </a:r>
            <a:endParaRPr lang="it-IT" sz="12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 4"/>
          <p:cNvSpPr/>
          <p:nvPr/>
        </p:nvSpPr>
        <p:spPr>
          <a:xfrm>
            <a:off x="201240" y="960120"/>
            <a:ext cx="411444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Le system call sono l'unico meccanismo legale per un programma utente per richiedere servizi al kernel.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Il processo utente carica il numero della syscall in un registro (es. eax/rax su x86-64) e invoca 'syscall'.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La CPU passa in kernel mode, il kernel identifica la syscall e la esegue, poi ritorna in user mode.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Categorie principali: gestione file (open, read, write, close), processi (fork, exec, wait, exit), comunicazione (socket, pipe), memoria (mmap, brk).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Shape 5"/>
          <p:cNvSpPr/>
          <p:nvPr/>
        </p:nvSpPr>
        <p:spPr>
          <a:xfrm>
            <a:off x="201240" y="3931920"/>
            <a:ext cx="4114440" cy="895680"/>
          </a:xfrm>
          <a:prstGeom prst="rect">
            <a:avLst/>
          </a:prstGeom>
          <a:solidFill>
            <a:srgbClr val="1e1e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3" name="Text 6"/>
          <p:cNvSpPr/>
          <p:nvPr/>
        </p:nvSpPr>
        <p:spPr>
          <a:xfrm>
            <a:off x="274320" y="3950280"/>
            <a:ext cx="3931560" cy="85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02c39a"/>
                </a:solidFill>
                <a:effectLst/>
                <a:uFillTx/>
                <a:latin typeface="Consolas"/>
                <a:ea typeface="Consolas"/>
              </a:rPr>
              <a:t>// C → glibc wrapper → syscall</a:t>
            </a:r>
            <a:endParaRPr lang="it-IT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02c39a"/>
                </a:solidFill>
                <a:effectLst/>
                <a:uFillTx/>
                <a:latin typeface="Consolas"/>
                <a:ea typeface="Consolas"/>
              </a:rPr>
              <a:t>printf("Hello");   // chiama write(1, buf, n)</a:t>
            </a:r>
            <a:endParaRPr lang="it-IT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02c39a"/>
                </a:solidFill>
                <a:effectLst/>
                <a:uFillTx/>
                <a:latin typeface="Consolas"/>
                <a:ea typeface="Consolas"/>
              </a:rPr>
              <a:t>fork();            // syscall fork(): duplica il processo</a:t>
            </a:r>
            <a:endParaRPr lang="it-IT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02c39a"/>
                </a:solidFill>
                <a:effectLst/>
                <a:uFillTx/>
                <a:latin typeface="Consolas"/>
                <a:ea typeface="Consolas"/>
              </a:rPr>
              <a:t>open("/file", O_RDONLY);  // syscall open()</a:t>
            </a:r>
            <a:endParaRPr lang="it-IT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Shape 7"/>
          <p:cNvSpPr/>
          <p:nvPr/>
        </p:nvSpPr>
        <p:spPr>
          <a:xfrm>
            <a:off x="4617720" y="960120"/>
            <a:ext cx="4114440" cy="384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Text 8"/>
          <p:cNvSpPr/>
          <p:nvPr/>
        </p:nvSpPr>
        <p:spPr>
          <a:xfrm>
            <a:off x="4617720" y="960120"/>
            <a:ext cx="4114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Flusso di una System Call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Shape 9"/>
          <p:cNvSpPr/>
          <p:nvPr/>
        </p:nvSpPr>
        <p:spPr>
          <a:xfrm>
            <a:off x="4800600" y="1353240"/>
            <a:ext cx="3748680" cy="347040"/>
          </a:xfrm>
          <a:prstGeom prst="rect">
            <a:avLst/>
          </a:prstGeom>
          <a:solidFill>
            <a:srgbClr val="f47b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7" name="Text 10"/>
          <p:cNvSpPr/>
          <p:nvPr/>
        </p:nvSpPr>
        <p:spPr>
          <a:xfrm>
            <a:off x="4846320" y="1408320"/>
            <a:ext cx="3657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Applicazione chiama printf()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Shape 11"/>
          <p:cNvSpPr/>
          <p:nvPr/>
        </p:nvSpPr>
        <p:spPr>
          <a:xfrm>
            <a:off x="6620400" y="1700640"/>
            <a:ext cx="109440" cy="127800"/>
          </a:xfrm>
          <a:prstGeom prst="rect">
            <a:avLst/>
          </a:prstGeom>
          <a:solidFill>
            <a:srgbClr val="8fa4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Shape 12"/>
          <p:cNvSpPr/>
          <p:nvPr/>
        </p:nvSpPr>
        <p:spPr>
          <a:xfrm>
            <a:off x="4800600" y="1828800"/>
            <a:ext cx="3748680" cy="347040"/>
          </a:xfrm>
          <a:prstGeom prst="rect">
            <a:avLst/>
          </a:prstGeo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Text 13"/>
          <p:cNvSpPr/>
          <p:nvPr/>
        </p:nvSpPr>
        <p:spPr>
          <a:xfrm>
            <a:off x="4846320" y="1883520"/>
            <a:ext cx="3657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Libreria glibc prepara args + syscall n°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Shape 14"/>
          <p:cNvSpPr/>
          <p:nvPr/>
        </p:nvSpPr>
        <p:spPr>
          <a:xfrm>
            <a:off x="6620400" y="2176200"/>
            <a:ext cx="109440" cy="127800"/>
          </a:xfrm>
          <a:prstGeom prst="rect">
            <a:avLst/>
          </a:prstGeom>
          <a:solidFill>
            <a:srgbClr val="8fa4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Shape 15"/>
          <p:cNvSpPr/>
          <p:nvPr/>
        </p:nvSpPr>
        <p:spPr>
          <a:xfrm>
            <a:off x="4800600" y="2304360"/>
            <a:ext cx="3748680" cy="34704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 16"/>
          <p:cNvSpPr/>
          <p:nvPr/>
        </p:nvSpPr>
        <p:spPr>
          <a:xfrm>
            <a:off x="4846320" y="2359080"/>
            <a:ext cx="3657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Istruzione SYSCALL → Kernel Mode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Shape 17"/>
          <p:cNvSpPr/>
          <p:nvPr/>
        </p:nvSpPr>
        <p:spPr>
          <a:xfrm>
            <a:off x="6620400" y="2651760"/>
            <a:ext cx="109440" cy="127800"/>
          </a:xfrm>
          <a:prstGeom prst="rect">
            <a:avLst/>
          </a:prstGeom>
          <a:solidFill>
            <a:srgbClr val="8fa4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Shape 18"/>
          <p:cNvSpPr/>
          <p:nvPr/>
        </p:nvSpPr>
        <p:spPr>
          <a:xfrm>
            <a:off x="4800600" y="2779920"/>
            <a:ext cx="3748680" cy="34704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6" name="Text 19"/>
          <p:cNvSpPr/>
          <p:nvPr/>
        </p:nvSpPr>
        <p:spPr>
          <a:xfrm>
            <a:off x="4846320" y="2834640"/>
            <a:ext cx="3657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Kernel esegue sys_write()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Shape 20"/>
          <p:cNvSpPr/>
          <p:nvPr/>
        </p:nvSpPr>
        <p:spPr>
          <a:xfrm>
            <a:off x="6620400" y="3127320"/>
            <a:ext cx="109440" cy="127800"/>
          </a:xfrm>
          <a:prstGeom prst="rect">
            <a:avLst/>
          </a:prstGeom>
          <a:solidFill>
            <a:srgbClr val="8fa4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Shape 21"/>
          <p:cNvSpPr/>
          <p:nvPr/>
        </p:nvSpPr>
        <p:spPr>
          <a:xfrm>
            <a:off x="4800600" y="3255120"/>
            <a:ext cx="3748680" cy="34704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9" name="Text 22"/>
          <p:cNvSpPr/>
          <p:nvPr/>
        </p:nvSpPr>
        <p:spPr>
          <a:xfrm>
            <a:off x="4846320" y="3310200"/>
            <a:ext cx="3657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Ritorno: SYSRET → User Mode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Shape 23"/>
          <p:cNvSpPr/>
          <p:nvPr/>
        </p:nvSpPr>
        <p:spPr>
          <a:xfrm>
            <a:off x="6620400" y="3602880"/>
            <a:ext cx="109440" cy="127800"/>
          </a:xfrm>
          <a:prstGeom prst="rect">
            <a:avLst/>
          </a:prstGeom>
          <a:solidFill>
            <a:srgbClr val="8fa4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Shape 24"/>
          <p:cNvSpPr/>
          <p:nvPr/>
        </p:nvSpPr>
        <p:spPr>
          <a:xfrm>
            <a:off x="4800600" y="3730680"/>
            <a:ext cx="3748680" cy="347040"/>
          </a:xfrm>
          <a:prstGeom prst="rect">
            <a:avLst/>
          </a:prstGeom>
          <a:solidFill>
            <a:srgbClr val="f47b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2" name="Text 25"/>
          <p:cNvSpPr/>
          <p:nvPr/>
        </p:nvSpPr>
        <p:spPr>
          <a:xfrm>
            <a:off x="4846320" y="3785760"/>
            <a:ext cx="3657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Risultato restituito all'applicazione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Shape 26"/>
          <p:cNvSpPr/>
          <p:nvPr/>
        </p:nvSpPr>
        <p:spPr>
          <a:xfrm>
            <a:off x="0" y="4937760"/>
            <a:ext cx="9143640" cy="20556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 27"/>
          <p:cNvSpPr/>
          <p:nvPr/>
        </p:nvSpPr>
        <p:spPr>
          <a:xfrm>
            <a:off x="182880" y="4946760"/>
            <a:ext cx="87778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Sistemi Operativi — Prof. Fedeli Massimo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Shape 0"/>
          <p:cNvSpPr/>
          <p:nvPr/>
        </p:nvSpPr>
        <p:spPr>
          <a:xfrm>
            <a:off x="0" y="0"/>
            <a:ext cx="9143640" cy="74952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6" name="Shape 1"/>
          <p:cNvSpPr/>
          <p:nvPr/>
        </p:nvSpPr>
        <p:spPr>
          <a:xfrm>
            <a:off x="0" y="0"/>
            <a:ext cx="109440" cy="514332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7" name="Text 2"/>
          <p:cNvSpPr/>
          <p:nvPr/>
        </p:nvSpPr>
        <p:spPr>
          <a:xfrm>
            <a:off x="228600" y="73080"/>
            <a:ext cx="73148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Strutture dei Sistemi Operativi</a:t>
            </a:r>
            <a:endParaRPr lang="it-IT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Text 3"/>
          <p:cNvSpPr/>
          <p:nvPr/>
        </p:nvSpPr>
        <p:spPr>
          <a:xfrm>
            <a:off x="228600" y="71316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i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Come è organizzato internamente il kernel</a:t>
            </a:r>
            <a:endParaRPr lang="it-IT" sz="12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Shape 4"/>
          <p:cNvSpPr/>
          <p:nvPr/>
        </p:nvSpPr>
        <p:spPr>
          <a:xfrm>
            <a:off x="137160" y="960120"/>
            <a:ext cx="2834280" cy="1828440"/>
          </a:xfrm>
          <a:prstGeom prst="rect">
            <a:avLst/>
          </a:prstGeom>
          <a:solidFill>
            <a:srgbClr val="ffffff"/>
          </a:solidFill>
          <a:ln w="10160">
            <a:solidFill>
              <a:srgbClr val="cadcfc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Shape 5"/>
          <p:cNvSpPr/>
          <p:nvPr/>
        </p:nvSpPr>
        <p:spPr>
          <a:xfrm>
            <a:off x="137160" y="960120"/>
            <a:ext cx="2834280" cy="365400"/>
          </a:xfrm>
          <a:prstGeom prst="rect">
            <a:avLst/>
          </a:prstGeo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Text 6"/>
          <p:cNvSpPr/>
          <p:nvPr/>
        </p:nvSpPr>
        <p:spPr>
          <a:xfrm>
            <a:off x="228600" y="1005840"/>
            <a:ext cx="2651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Monolitico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Text 7"/>
          <p:cNvSpPr/>
          <p:nvPr/>
        </p:nvSpPr>
        <p:spPr>
          <a:xfrm>
            <a:off x="228600" y="1389960"/>
            <a:ext cx="2651400" cy="13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Tutto il SO è un unico programma kernel. Veloce ma difficile da manutenere. Linux adotta questo approccio con moduli caricabili dinamicamente.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Shape 8"/>
          <p:cNvSpPr/>
          <p:nvPr/>
        </p:nvSpPr>
        <p:spPr>
          <a:xfrm>
            <a:off x="3127320" y="960120"/>
            <a:ext cx="2834280" cy="1828440"/>
          </a:xfrm>
          <a:prstGeom prst="rect">
            <a:avLst/>
          </a:prstGeom>
          <a:solidFill>
            <a:srgbClr val="ffffff"/>
          </a:solidFill>
          <a:ln w="10160">
            <a:solidFill>
              <a:srgbClr val="cadcfc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Shape 9"/>
          <p:cNvSpPr/>
          <p:nvPr/>
        </p:nvSpPr>
        <p:spPr>
          <a:xfrm>
            <a:off x="3127320" y="960120"/>
            <a:ext cx="2834280" cy="36540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5" name="Text 10"/>
          <p:cNvSpPr/>
          <p:nvPr/>
        </p:nvSpPr>
        <p:spPr>
          <a:xfrm>
            <a:off x="3218760" y="1005840"/>
            <a:ext cx="2651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Stratificato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Text 11"/>
          <p:cNvSpPr/>
          <p:nvPr/>
        </p:nvSpPr>
        <p:spPr>
          <a:xfrm>
            <a:off x="3218760" y="1389960"/>
            <a:ext cx="2651400" cy="13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Il SO è diviso in livelli. Ogni livello usa solo i servizi del livello inferiore. Più manutenibile ma overhead di attraversamento.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Shape 12"/>
          <p:cNvSpPr/>
          <p:nvPr/>
        </p:nvSpPr>
        <p:spPr>
          <a:xfrm>
            <a:off x="6117480" y="960120"/>
            <a:ext cx="2834280" cy="1828440"/>
          </a:xfrm>
          <a:prstGeom prst="rect">
            <a:avLst/>
          </a:prstGeom>
          <a:solidFill>
            <a:srgbClr val="ffffff"/>
          </a:solidFill>
          <a:ln w="10160">
            <a:solidFill>
              <a:srgbClr val="cadcfc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Shape 13"/>
          <p:cNvSpPr/>
          <p:nvPr/>
        </p:nvSpPr>
        <p:spPr>
          <a:xfrm>
            <a:off x="6117480" y="960120"/>
            <a:ext cx="2834280" cy="36540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9" name="Text 14"/>
          <p:cNvSpPr/>
          <p:nvPr/>
        </p:nvSpPr>
        <p:spPr>
          <a:xfrm>
            <a:off x="6208920" y="1005840"/>
            <a:ext cx="2651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Microkernel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Text 15"/>
          <p:cNvSpPr/>
          <p:nvPr/>
        </p:nvSpPr>
        <p:spPr>
          <a:xfrm>
            <a:off x="6208920" y="1389960"/>
            <a:ext cx="2651400" cy="13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Solo funzioni essenziali nel kernel (IPC, scheduling, memoria). Tutto il resto (driver, FS) come processi user-space. Più sicuro, meno performante.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Shape 16"/>
          <p:cNvSpPr/>
          <p:nvPr/>
        </p:nvSpPr>
        <p:spPr>
          <a:xfrm>
            <a:off x="137160" y="2953440"/>
            <a:ext cx="2834280" cy="1828440"/>
          </a:xfrm>
          <a:prstGeom prst="rect">
            <a:avLst/>
          </a:prstGeom>
          <a:solidFill>
            <a:srgbClr val="ffffff"/>
          </a:solidFill>
          <a:ln w="10160">
            <a:solidFill>
              <a:srgbClr val="cadcfc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Shape 17"/>
          <p:cNvSpPr/>
          <p:nvPr/>
        </p:nvSpPr>
        <p:spPr>
          <a:xfrm>
            <a:off x="137160" y="2953440"/>
            <a:ext cx="2834280" cy="365400"/>
          </a:xfrm>
          <a:prstGeom prst="rect">
            <a:avLst/>
          </a:prstGeom>
          <a:solidFill>
            <a:srgbClr val="f47b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3" name="Text 18"/>
          <p:cNvSpPr/>
          <p:nvPr/>
        </p:nvSpPr>
        <p:spPr>
          <a:xfrm>
            <a:off x="228600" y="2999160"/>
            <a:ext cx="2651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Modulare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Text 19"/>
          <p:cNvSpPr/>
          <p:nvPr/>
        </p:nvSpPr>
        <p:spPr>
          <a:xfrm>
            <a:off x="228600" y="3383280"/>
            <a:ext cx="2651400" cy="13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Il kernel carica dinamicamente moduli al bisogno. Linux usa LKM (Loadable Kernel Modules). Combina i vantaggi di monolitico e microkernel.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Shape 20"/>
          <p:cNvSpPr/>
          <p:nvPr/>
        </p:nvSpPr>
        <p:spPr>
          <a:xfrm>
            <a:off x="3127320" y="2953440"/>
            <a:ext cx="2834280" cy="1828440"/>
          </a:xfrm>
          <a:prstGeom prst="rect">
            <a:avLst/>
          </a:prstGeom>
          <a:solidFill>
            <a:srgbClr val="ffffff"/>
          </a:solidFill>
          <a:ln w="10160">
            <a:solidFill>
              <a:srgbClr val="cadcfc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Shape 21"/>
          <p:cNvSpPr/>
          <p:nvPr/>
        </p:nvSpPr>
        <p:spPr>
          <a:xfrm>
            <a:off x="3127320" y="2953440"/>
            <a:ext cx="2834280" cy="365400"/>
          </a:xfrm>
          <a:prstGeom prst="rect">
            <a:avLst/>
          </a:prstGeom>
          <a:solidFill>
            <a:srgbClr val="e03b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7" name="Text 22"/>
          <p:cNvSpPr/>
          <p:nvPr/>
        </p:nvSpPr>
        <p:spPr>
          <a:xfrm>
            <a:off x="3218760" y="2999160"/>
            <a:ext cx="2651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Macchine Virtuali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Text 23"/>
          <p:cNvSpPr/>
          <p:nvPr/>
        </p:nvSpPr>
        <p:spPr>
          <a:xfrm>
            <a:off x="3218760" y="3383280"/>
            <a:ext cx="2651400" cy="13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L'hypervisor virtualizza l'hardware completo. VMware, VirtualBox, KVM: ogni VM esegue un SO indipendente. Isolamento totale.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Shape 24"/>
          <p:cNvSpPr/>
          <p:nvPr/>
        </p:nvSpPr>
        <p:spPr>
          <a:xfrm>
            <a:off x="6117480" y="2953440"/>
            <a:ext cx="2834280" cy="1828440"/>
          </a:xfrm>
          <a:prstGeom prst="rect">
            <a:avLst/>
          </a:prstGeom>
          <a:solidFill>
            <a:srgbClr val="ffffff"/>
          </a:solidFill>
          <a:ln w="10160">
            <a:solidFill>
              <a:srgbClr val="cadcfc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Shape 25"/>
          <p:cNvSpPr/>
          <p:nvPr/>
        </p:nvSpPr>
        <p:spPr>
          <a:xfrm>
            <a:off x="6117480" y="2953440"/>
            <a:ext cx="2834280" cy="365400"/>
          </a:xfrm>
          <a:prstGeom prst="rect">
            <a:avLst/>
          </a:prstGeom>
          <a:solidFill>
            <a:srgbClr val="2c3e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1" name="Text 26"/>
          <p:cNvSpPr/>
          <p:nvPr/>
        </p:nvSpPr>
        <p:spPr>
          <a:xfrm>
            <a:off x="6208920" y="2999160"/>
            <a:ext cx="2651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Client-Server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Text 27"/>
          <p:cNvSpPr/>
          <p:nvPr/>
        </p:nvSpPr>
        <p:spPr>
          <a:xfrm>
            <a:off x="6208920" y="3383280"/>
            <a:ext cx="2651400" cy="13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Il SO come insieme di processi server specializzati. Il kernel è minimo (tipo microkernel). Usato in sistemi distribuiti e Minix.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Shape 28"/>
          <p:cNvSpPr/>
          <p:nvPr/>
        </p:nvSpPr>
        <p:spPr>
          <a:xfrm>
            <a:off x="0" y="4937760"/>
            <a:ext cx="9143640" cy="20556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4" name="Text 29"/>
          <p:cNvSpPr/>
          <p:nvPr/>
        </p:nvSpPr>
        <p:spPr>
          <a:xfrm>
            <a:off x="182880" y="4946760"/>
            <a:ext cx="87778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Sistemi Operativi — Prof. Fedeli Massimo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Shape 0"/>
          <p:cNvSpPr/>
          <p:nvPr/>
        </p:nvSpPr>
        <p:spPr>
          <a:xfrm>
            <a:off x="0" y="0"/>
            <a:ext cx="9143640" cy="74952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6" name="Shape 1"/>
          <p:cNvSpPr/>
          <p:nvPr/>
        </p:nvSpPr>
        <p:spPr>
          <a:xfrm>
            <a:off x="0" y="0"/>
            <a:ext cx="109440" cy="514332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7" name="Text 2"/>
          <p:cNvSpPr/>
          <p:nvPr/>
        </p:nvSpPr>
        <p:spPr>
          <a:xfrm>
            <a:off x="228600" y="73080"/>
            <a:ext cx="73148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Architettura Microkernel</a:t>
            </a:r>
            <a:endParaRPr lang="it-IT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Text 3"/>
          <p:cNvSpPr/>
          <p:nvPr/>
        </p:nvSpPr>
        <p:spPr>
          <a:xfrm>
            <a:off x="228600" y="71316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i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Sicurezza e modularità al costo di alcune performance</a:t>
            </a:r>
            <a:endParaRPr lang="it-IT" sz="12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Text 4"/>
          <p:cNvSpPr/>
          <p:nvPr/>
        </p:nvSpPr>
        <p:spPr>
          <a:xfrm>
            <a:off x="201240" y="960120"/>
            <a:ext cx="411444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Il microkernel mantiene nel kernel solo le funzioni assolutamente necessarie: scheduling, gestione memoria di base e IPC (comunicazione inter-processo).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Tutto il resto (driver, file system, protocolli di rete) è implementato come processi separati in user space.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Vantaggio: un crash di un driver non porta down l'intero sistema.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Vantaggio: più facile verificare formalmente la correttezza del kernel (ridotto TCB).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Svantaggio: overhead di IPC per ogni operazione che richiede comunicazione tra componenti.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Esempi: Mach (base di macOS/iOS), L4, MINIX 3, QNX (sistemi embedded e automotive).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Shape 5"/>
          <p:cNvSpPr/>
          <p:nvPr/>
        </p:nvSpPr>
        <p:spPr>
          <a:xfrm>
            <a:off x="4663440" y="960120"/>
            <a:ext cx="1919880" cy="685440"/>
          </a:xfrm>
          <a:prstGeom prst="rect">
            <a:avLst/>
          </a:prstGeom>
          <a:solidFill>
            <a:srgbClr val="028090">
              <a:alpha val="70000"/>
            </a:srgbClr>
          </a:solidFill>
          <a:ln w="1016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1" name="Text 6"/>
          <p:cNvSpPr/>
          <p:nvPr/>
        </p:nvSpPr>
        <p:spPr>
          <a:xfrm>
            <a:off x="4663440" y="1143000"/>
            <a:ext cx="1919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File System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Shape 7"/>
          <p:cNvSpPr/>
          <p:nvPr/>
        </p:nvSpPr>
        <p:spPr>
          <a:xfrm>
            <a:off x="6748200" y="960120"/>
            <a:ext cx="1919880" cy="685440"/>
          </a:xfrm>
          <a:prstGeom prst="rect">
            <a:avLst/>
          </a:prstGeom>
          <a:solidFill>
            <a:srgbClr val="028090">
              <a:alpha val="70000"/>
            </a:srgbClr>
          </a:solidFill>
          <a:ln w="1016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3" name="Text 8"/>
          <p:cNvSpPr/>
          <p:nvPr/>
        </p:nvSpPr>
        <p:spPr>
          <a:xfrm>
            <a:off x="6748200" y="1143000"/>
            <a:ext cx="1919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Driver Disco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Shape 9"/>
          <p:cNvSpPr/>
          <p:nvPr/>
        </p:nvSpPr>
        <p:spPr>
          <a:xfrm>
            <a:off x="4663440" y="1965960"/>
            <a:ext cx="1919880" cy="685440"/>
          </a:xfrm>
          <a:prstGeom prst="rect">
            <a:avLst/>
          </a:prstGeom>
          <a:solidFill>
            <a:srgbClr val="028090">
              <a:alpha val="70000"/>
            </a:srgbClr>
          </a:solidFill>
          <a:ln w="1016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5" name="Text 10"/>
          <p:cNvSpPr/>
          <p:nvPr/>
        </p:nvSpPr>
        <p:spPr>
          <a:xfrm>
            <a:off x="4663440" y="2148840"/>
            <a:ext cx="1919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Driver Rete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Shape 11"/>
          <p:cNvSpPr/>
          <p:nvPr/>
        </p:nvSpPr>
        <p:spPr>
          <a:xfrm>
            <a:off x="6748200" y="1965960"/>
            <a:ext cx="1919880" cy="685440"/>
          </a:xfrm>
          <a:prstGeom prst="rect">
            <a:avLst/>
          </a:prstGeom>
          <a:solidFill>
            <a:srgbClr val="028090">
              <a:alpha val="70000"/>
            </a:srgbClr>
          </a:solidFill>
          <a:ln w="1016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7" name="Text 12"/>
          <p:cNvSpPr/>
          <p:nvPr/>
        </p:nvSpPr>
        <p:spPr>
          <a:xfrm>
            <a:off x="6748200" y="2148840"/>
            <a:ext cx="1919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Server TCP/IP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Shape 13"/>
          <p:cNvSpPr/>
          <p:nvPr/>
        </p:nvSpPr>
        <p:spPr>
          <a:xfrm>
            <a:off x="4572000" y="3063240"/>
            <a:ext cx="4205880" cy="319680"/>
          </a:xfrm>
          <a:prstGeom prst="rect">
            <a:avLst/>
          </a:prstGeom>
          <a:solidFill>
            <a:srgbClr val="8fa4d4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Text 14"/>
          <p:cNvSpPr/>
          <p:nvPr/>
        </p:nvSpPr>
        <p:spPr>
          <a:xfrm>
            <a:off x="4572000" y="3063240"/>
            <a:ext cx="4205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i="1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← IPC (messaggi) →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Shape 15"/>
          <p:cNvSpPr/>
          <p:nvPr/>
        </p:nvSpPr>
        <p:spPr>
          <a:xfrm>
            <a:off x="4572000" y="3474720"/>
            <a:ext cx="4205880" cy="68544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1" name="Text 16"/>
          <p:cNvSpPr/>
          <p:nvPr/>
        </p:nvSpPr>
        <p:spPr>
          <a:xfrm>
            <a:off x="4572000" y="3493080"/>
            <a:ext cx="42058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MICROKERNEL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Text 17"/>
          <p:cNvSpPr/>
          <p:nvPr/>
        </p:nvSpPr>
        <p:spPr>
          <a:xfrm>
            <a:off x="4572000" y="3749040"/>
            <a:ext cx="4205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Scheduling  |  IPC  |  Memoria base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Shape 18"/>
          <p:cNvSpPr/>
          <p:nvPr/>
        </p:nvSpPr>
        <p:spPr>
          <a:xfrm>
            <a:off x="4572000" y="4251960"/>
            <a:ext cx="4205880" cy="502560"/>
          </a:xfrm>
          <a:prstGeom prst="rect">
            <a:avLst/>
          </a:prstGeom>
          <a:solidFill>
            <a:srgbClr val="2c3e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4" name="Text 19"/>
          <p:cNvSpPr/>
          <p:nvPr/>
        </p:nvSpPr>
        <p:spPr>
          <a:xfrm>
            <a:off x="4572000" y="4279320"/>
            <a:ext cx="420588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HARDWARE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Shape 20"/>
          <p:cNvSpPr/>
          <p:nvPr/>
        </p:nvSpPr>
        <p:spPr>
          <a:xfrm>
            <a:off x="0" y="4937760"/>
            <a:ext cx="9143640" cy="20556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6" name="Text 21"/>
          <p:cNvSpPr/>
          <p:nvPr/>
        </p:nvSpPr>
        <p:spPr>
          <a:xfrm>
            <a:off x="182880" y="4946760"/>
            <a:ext cx="87778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Sistemi Operativi — Prof. Fedeli Massimo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Shape 0"/>
          <p:cNvSpPr/>
          <p:nvPr/>
        </p:nvSpPr>
        <p:spPr>
          <a:xfrm>
            <a:off x="0" y="0"/>
            <a:ext cx="9143640" cy="74952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8" name="Shape 1"/>
          <p:cNvSpPr/>
          <p:nvPr/>
        </p:nvSpPr>
        <p:spPr>
          <a:xfrm>
            <a:off x="0" y="0"/>
            <a:ext cx="109440" cy="514332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9" name="Text 2"/>
          <p:cNvSpPr/>
          <p:nvPr/>
        </p:nvSpPr>
        <p:spPr>
          <a:xfrm>
            <a:off x="228600" y="73080"/>
            <a:ext cx="73148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Macchine Virtuali</a:t>
            </a:r>
            <a:endParaRPr lang="it-IT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Text 3"/>
          <p:cNvSpPr/>
          <p:nvPr/>
        </p:nvSpPr>
        <p:spPr>
          <a:xfrm>
            <a:off x="228600" y="71316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i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Eseguire più sistemi operativi su un unico hardware fisico</a:t>
            </a:r>
            <a:endParaRPr lang="it-IT" sz="12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Text 4"/>
          <p:cNvSpPr/>
          <p:nvPr/>
        </p:nvSpPr>
        <p:spPr>
          <a:xfrm>
            <a:off x="201240" y="960120"/>
            <a:ext cx="411444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Una macchina virtuale (VM) emula un sistema hardware completo in software.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L'hypervisor (VMM - Virtual Machine Monitor) gestisce le VM e l'accesso all'hardware fisico.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Tipo 1 (bare-metal): VMware ESXi, Microsoft Hyper-V, KVM. Direttamente sull'hardware, massime performance.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Tipo 2 (hosted): VirtualBox, VMware Workstation. Gira su un SO host, più semplice ma meno efficiente.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Uso in cloud computing: AWS, Azure, GCP si basano su hypervisor per isolare i workload dei clienti.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Containerizzazione (Docker/Podman): virtualizzazione a livello SO, più leggera delle VM complete.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Shape 5"/>
          <p:cNvSpPr/>
          <p:nvPr/>
        </p:nvSpPr>
        <p:spPr>
          <a:xfrm>
            <a:off x="4617720" y="960120"/>
            <a:ext cx="1828440" cy="27396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3" name="Text 6"/>
          <p:cNvSpPr/>
          <p:nvPr/>
        </p:nvSpPr>
        <p:spPr>
          <a:xfrm>
            <a:off x="4617720" y="96012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Tipo 1 — Bare Metal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Shape 7"/>
          <p:cNvSpPr/>
          <p:nvPr/>
        </p:nvSpPr>
        <p:spPr>
          <a:xfrm>
            <a:off x="4617720" y="1261800"/>
            <a:ext cx="868320" cy="59400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5" name="Text 8"/>
          <p:cNvSpPr/>
          <p:nvPr/>
        </p:nvSpPr>
        <p:spPr>
          <a:xfrm>
            <a:off x="4617720" y="1261800"/>
            <a:ext cx="8683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VM 1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(Linux)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Shape 9"/>
          <p:cNvSpPr/>
          <p:nvPr/>
        </p:nvSpPr>
        <p:spPr>
          <a:xfrm>
            <a:off x="5550480" y="1261800"/>
            <a:ext cx="868320" cy="594000"/>
          </a:xfrm>
          <a:prstGeom prst="rect">
            <a:avLst/>
          </a:prstGeom>
          <a:solidFill>
            <a:srgbClr val="2c3e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7" name="Text 10"/>
          <p:cNvSpPr/>
          <p:nvPr/>
        </p:nvSpPr>
        <p:spPr>
          <a:xfrm>
            <a:off x="5550480" y="1261800"/>
            <a:ext cx="8683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VM 2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(Windows)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Shape 11"/>
          <p:cNvSpPr/>
          <p:nvPr/>
        </p:nvSpPr>
        <p:spPr>
          <a:xfrm>
            <a:off x="4617720" y="1901880"/>
            <a:ext cx="1828440" cy="411120"/>
          </a:xfrm>
          <a:prstGeom prst="rect">
            <a:avLst/>
          </a:prstGeom>
          <a:solidFill>
            <a:srgbClr val="f47b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9" name="Text 12"/>
          <p:cNvSpPr/>
          <p:nvPr/>
        </p:nvSpPr>
        <p:spPr>
          <a:xfrm>
            <a:off x="4617720" y="1901880"/>
            <a:ext cx="1828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Hypervisor (ESXi/KVM)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Shape 13"/>
          <p:cNvSpPr/>
          <p:nvPr/>
        </p:nvSpPr>
        <p:spPr>
          <a:xfrm>
            <a:off x="4617720" y="2359080"/>
            <a:ext cx="1828440" cy="365400"/>
          </a:xfrm>
          <a:prstGeom prst="rect">
            <a:avLst/>
          </a:prstGeom>
          <a:solidFill>
            <a:srgbClr val="4a556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1" name="Text 14"/>
          <p:cNvSpPr/>
          <p:nvPr/>
        </p:nvSpPr>
        <p:spPr>
          <a:xfrm>
            <a:off x="4617720" y="235908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Hardware Fisico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Shape 15"/>
          <p:cNvSpPr/>
          <p:nvPr/>
        </p:nvSpPr>
        <p:spPr>
          <a:xfrm>
            <a:off x="6903720" y="960120"/>
            <a:ext cx="1828440" cy="27396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3" name="Text 16"/>
          <p:cNvSpPr/>
          <p:nvPr/>
        </p:nvSpPr>
        <p:spPr>
          <a:xfrm>
            <a:off x="6903720" y="96012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Tipo 2 — Hosted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Shape 17"/>
          <p:cNvSpPr/>
          <p:nvPr/>
        </p:nvSpPr>
        <p:spPr>
          <a:xfrm>
            <a:off x="6903720" y="1261800"/>
            <a:ext cx="1828440" cy="47520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5" name="Text 18"/>
          <p:cNvSpPr/>
          <p:nvPr/>
        </p:nvSpPr>
        <p:spPr>
          <a:xfrm>
            <a:off x="6903720" y="1261800"/>
            <a:ext cx="18284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VM Guest (Linux)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Shape 19"/>
          <p:cNvSpPr/>
          <p:nvPr/>
        </p:nvSpPr>
        <p:spPr>
          <a:xfrm>
            <a:off x="6903720" y="1783080"/>
            <a:ext cx="1828440" cy="383760"/>
          </a:xfrm>
          <a:prstGeom prst="rect">
            <a:avLst/>
          </a:prstGeom>
          <a:solidFill>
            <a:srgbClr val="f47b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7" name="Text 20"/>
          <p:cNvSpPr/>
          <p:nvPr/>
        </p:nvSpPr>
        <p:spPr>
          <a:xfrm>
            <a:off x="6903720" y="1783080"/>
            <a:ext cx="18284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VirtualBox / VMware WS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Shape 21"/>
          <p:cNvSpPr/>
          <p:nvPr/>
        </p:nvSpPr>
        <p:spPr>
          <a:xfrm>
            <a:off x="6903720" y="2212920"/>
            <a:ext cx="1828440" cy="383760"/>
          </a:xfrm>
          <a:prstGeom prst="rect">
            <a:avLst/>
          </a:prstGeom>
          <a:solidFill>
            <a:srgbClr val="2c3e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9" name="Text 22"/>
          <p:cNvSpPr/>
          <p:nvPr/>
        </p:nvSpPr>
        <p:spPr>
          <a:xfrm>
            <a:off x="6903720" y="2212920"/>
            <a:ext cx="18284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SO Host (Windows/Linux)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Shape 23"/>
          <p:cNvSpPr/>
          <p:nvPr/>
        </p:nvSpPr>
        <p:spPr>
          <a:xfrm>
            <a:off x="6903720" y="2642760"/>
            <a:ext cx="1828440" cy="347040"/>
          </a:xfrm>
          <a:prstGeom prst="rect">
            <a:avLst/>
          </a:prstGeom>
          <a:solidFill>
            <a:srgbClr val="4a556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1" name="Text 24"/>
          <p:cNvSpPr/>
          <p:nvPr/>
        </p:nvSpPr>
        <p:spPr>
          <a:xfrm>
            <a:off x="6903720" y="2642760"/>
            <a:ext cx="1828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Hardware Fisico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Shape 25"/>
          <p:cNvSpPr/>
          <p:nvPr/>
        </p:nvSpPr>
        <p:spPr>
          <a:xfrm>
            <a:off x="4617720" y="3291840"/>
            <a:ext cx="4114440" cy="1508400"/>
          </a:xfrm>
          <a:prstGeom prst="rect">
            <a:avLst/>
          </a:prstGeom>
          <a:solidFill>
            <a:srgbClr val="eef2ff"/>
          </a:solidFill>
          <a:ln w="635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Shape 26"/>
          <p:cNvSpPr/>
          <p:nvPr/>
        </p:nvSpPr>
        <p:spPr>
          <a:xfrm>
            <a:off x="4617720" y="3291840"/>
            <a:ext cx="4114440" cy="29232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4" name="Text 27"/>
          <p:cNvSpPr/>
          <p:nvPr/>
        </p:nvSpPr>
        <p:spPr>
          <a:xfrm>
            <a:off x="4690800" y="3310200"/>
            <a:ext cx="3968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Vantaggi delle VM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Text 28"/>
          <p:cNvSpPr/>
          <p:nvPr/>
        </p:nvSpPr>
        <p:spPr>
          <a:xfrm>
            <a:off x="4709160" y="3620880"/>
            <a:ext cx="3931560" cy="10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• Isolamento completo tra ambienti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• Esecuzione di più SO contemporaneamente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• Snapshot e ripristino rapido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• Portabilità del workload (vMotion)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• Base del cloud computing moderno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Shape 29"/>
          <p:cNvSpPr/>
          <p:nvPr/>
        </p:nvSpPr>
        <p:spPr>
          <a:xfrm>
            <a:off x="0" y="4937760"/>
            <a:ext cx="9143640" cy="20556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7" name="Text 30"/>
          <p:cNvSpPr/>
          <p:nvPr/>
        </p:nvSpPr>
        <p:spPr>
          <a:xfrm>
            <a:off x="182880" y="4946760"/>
            <a:ext cx="87778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Sistemi Operativi — Prof. Fedeli Massimo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0"/>
          <p:cNvSpPr/>
          <p:nvPr/>
        </p:nvSpPr>
        <p:spPr>
          <a:xfrm>
            <a:off x="0" y="0"/>
            <a:ext cx="136800" cy="5143320"/>
          </a:xfrm>
          <a:prstGeom prst="rect">
            <a:avLst/>
          </a:prstGeo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Shape 1"/>
          <p:cNvSpPr/>
          <p:nvPr/>
        </p:nvSpPr>
        <p:spPr>
          <a:xfrm>
            <a:off x="0" y="4389120"/>
            <a:ext cx="9143640" cy="754200"/>
          </a:xfrm>
          <a:prstGeom prst="rect">
            <a:avLst/>
          </a:prstGeom>
          <a:solidFill>
            <a:srgbClr val="2c3e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0" name="Text 2"/>
          <p:cNvSpPr/>
          <p:nvPr/>
        </p:nvSpPr>
        <p:spPr>
          <a:xfrm>
            <a:off x="274320" y="182880"/>
            <a:ext cx="8595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Conclusioni</a:t>
            </a:r>
            <a:endParaRPr lang="it-IT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1" name="Text 3"/>
          <p:cNvSpPr/>
          <p:nvPr/>
        </p:nvSpPr>
        <p:spPr>
          <a:xfrm>
            <a:off x="274320" y="896040"/>
            <a:ext cx="8595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I sistemi operativi moderni sono sistemi complessi che combinano:</a:t>
            </a:r>
            <a:endParaRPr lang="it-IT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2" name="Shape 4"/>
          <p:cNvSpPr/>
          <p:nvPr/>
        </p:nvSpPr>
        <p:spPr>
          <a:xfrm>
            <a:off x="201240" y="1325880"/>
            <a:ext cx="2788560" cy="1234080"/>
          </a:xfrm>
          <a:prstGeom prst="rect">
            <a:avLst/>
          </a:prstGeom>
          <a:solidFill>
            <a:srgbClr val="2c3e6b"/>
          </a:solidFill>
          <a:ln w="635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73" name="Image 0" descr="preencoded.png"/>
          <p:cNvPicPr/>
          <p:nvPr/>
        </p:nvPicPr>
        <p:blipFill>
          <a:blip r:embed="rId1"/>
          <a:stretch/>
        </p:blipFill>
        <p:spPr>
          <a:xfrm>
            <a:off x="292680" y="1417320"/>
            <a:ext cx="41112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4" name="Text 5"/>
          <p:cNvSpPr/>
          <p:nvPr/>
        </p:nvSpPr>
        <p:spPr>
          <a:xfrm>
            <a:off x="795600" y="1454040"/>
            <a:ext cx="21027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Microkernel + Moduli</a:t>
            </a:r>
            <a:endParaRPr lang="it-IT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5" name="Text 6"/>
          <p:cNvSpPr/>
          <p:nvPr/>
        </p:nvSpPr>
        <p:spPr>
          <a:xfrm>
            <a:off x="292680" y="1965960"/>
            <a:ext cx="2605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Sicurezza e flessibilità con overhead minimo</a:t>
            </a:r>
            <a:endParaRPr lang="it-IT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6" name="Shape 7"/>
          <p:cNvSpPr/>
          <p:nvPr/>
        </p:nvSpPr>
        <p:spPr>
          <a:xfrm>
            <a:off x="3173040" y="1325880"/>
            <a:ext cx="2788560" cy="1234080"/>
          </a:xfrm>
          <a:prstGeom prst="rect">
            <a:avLst/>
          </a:prstGeom>
          <a:solidFill>
            <a:srgbClr val="2c3e6b"/>
          </a:solidFill>
          <a:ln w="635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77" name="Image 1" descr="preencoded.png"/>
          <p:cNvPicPr/>
          <p:nvPr/>
        </p:nvPicPr>
        <p:blipFill>
          <a:blip r:embed="rId2"/>
          <a:stretch/>
        </p:blipFill>
        <p:spPr>
          <a:xfrm>
            <a:off x="3264480" y="1417320"/>
            <a:ext cx="41112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8" name="Text 8"/>
          <p:cNvSpPr/>
          <p:nvPr/>
        </p:nvSpPr>
        <p:spPr>
          <a:xfrm>
            <a:off x="3767400" y="1454040"/>
            <a:ext cx="21027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Multi-threading</a:t>
            </a:r>
            <a:endParaRPr lang="it-IT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9" name="Text 9"/>
          <p:cNvSpPr/>
          <p:nvPr/>
        </p:nvSpPr>
        <p:spPr>
          <a:xfrm>
            <a:off x="3264480" y="1965960"/>
            <a:ext cx="2605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Parallelismo a livello kernel e user space</a:t>
            </a:r>
            <a:endParaRPr lang="it-IT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0" name="Shape 10"/>
          <p:cNvSpPr/>
          <p:nvPr/>
        </p:nvSpPr>
        <p:spPr>
          <a:xfrm>
            <a:off x="6144840" y="1325880"/>
            <a:ext cx="2788560" cy="1234080"/>
          </a:xfrm>
          <a:prstGeom prst="rect">
            <a:avLst/>
          </a:prstGeom>
          <a:solidFill>
            <a:srgbClr val="2c3e6b"/>
          </a:solidFill>
          <a:ln w="635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81" name="Image 2" descr="preencoded.png"/>
          <p:cNvPicPr/>
          <p:nvPr/>
        </p:nvPicPr>
        <p:blipFill>
          <a:blip r:embed="rId3"/>
          <a:stretch/>
        </p:blipFill>
        <p:spPr>
          <a:xfrm>
            <a:off x="6236280" y="1417320"/>
            <a:ext cx="41112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2" name="Text 11"/>
          <p:cNvSpPr/>
          <p:nvPr/>
        </p:nvSpPr>
        <p:spPr>
          <a:xfrm>
            <a:off x="6739200" y="1454040"/>
            <a:ext cx="21027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Multi-processing (SMP)</a:t>
            </a:r>
            <a:endParaRPr lang="it-IT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3" name="Text 12"/>
          <p:cNvSpPr/>
          <p:nvPr/>
        </p:nvSpPr>
        <p:spPr>
          <a:xfrm>
            <a:off x="6236280" y="1965960"/>
            <a:ext cx="2605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Scalabilità su architetture multi-core/NUMA</a:t>
            </a:r>
            <a:endParaRPr lang="it-IT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4" name="Shape 13"/>
          <p:cNvSpPr/>
          <p:nvPr/>
        </p:nvSpPr>
        <p:spPr>
          <a:xfrm>
            <a:off x="201240" y="2743200"/>
            <a:ext cx="2788560" cy="1234080"/>
          </a:xfrm>
          <a:prstGeom prst="rect">
            <a:avLst/>
          </a:prstGeom>
          <a:solidFill>
            <a:srgbClr val="2c3e6b"/>
          </a:solidFill>
          <a:ln w="635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85" name="Image 3" descr="preencoded.png"/>
          <p:cNvPicPr/>
          <p:nvPr/>
        </p:nvPicPr>
        <p:blipFill>
          <a:blip r:embed="rId4"/>
          <a:stretch/>
        </p:blipFill>
        <p:spPr>
          <a:xfrm>
            <a:off x="292680" y="2834640"/>
            <a:ext cx="41112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6" name="Text 14"/>
          <p:cNvSpPr/>
          <p:nvPr/>
        </p:nvSpPr>
        <p:spPr>
          <a:xfrm>
            <a:off x="795600" y="2871360"/>
            <a:ext cx="21027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Sistemi Distribuiti</a:t>
            </a:r>
            <a:endParaRPr lang="it-IT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7" name="Text 15"/>
          <p:cNvSpPr/>
          <p:nvPr/>
        </p:nvSpPr>
        <p:spPr>
          <a:xfrm>
            <a:off x="292680" y="3383280"/>
            <a:ext cx="2605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Container, microservizi, cloud-native</a:t>
            </a:r>
            <a:endParaRPr lang="it-IT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8" name="Shape 16"/>
          <p:cNvSpPr/>
          <p:nvPr/>
        </p:nvSpPr>
        <p:spPr>
          <a:xfrm>
            <a:off x="3173040" y="2743200"/>
            <a:ext cx="2788560" cy="1234080"/>
          </a:xfrm>
          <a:prstGeom prst="rect">
            <a:avLst/>
          </a:prstGeom>
          <a:solidFill>
            <a:srgbClr val="2c3e6b"/>
          </a:solidFill>
          <a:ln w="635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89" name="Image 4" descr="preencoded.png"/>
          <p:cNvPicPr/>
          <p:nvPr/>
        </p:nvPicPr>
        <p:blipFill>
          <a:blip r:embed="rId5"/>
          <a:stretch/>
        </p:blipFill>
        <p:spPr>
          <a:xfrm>
            <a:off x="3264480" y="2834640"/>
            <a:ext cx="41112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0" name="Text 17"/>
          <p:cNvSpPr/>
          <p:nvPr/>
        </p:nvSpPr>
        <p:spPr>
          <a:xfrm>
            <a:off x="3767400" y="2871360"/>
            <a:ext cx="21027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Sicurezza by Design</a:t>
            </a:r>
            <a:endParaRPr lang="it-IT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1" name="Text 18"/>
          <p:cNvSpPr/>
          <p:nvPr/>
        </p:nvSpPr>
        <p:spPr>
          <a:xfrm>
            <a:off x="3264480" y="3383280"/>
            <a:ext cx="2605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Secure Boot, mandatory access control, sandbox</a:t>
            </a:r>
            <a:endParaRPr lang="it-IT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2" name="Shape 19"/>
          <p:cNvSpPr/>
          <p:nvPr/>
        </p:nvSpPr>
        <p:spPr>
          <a:xfrm>
            <a:off x="6144840" y="2743200"/>
            <a:ext cx="2788560" cy="1234080"/>
          </a:xfrm>
          <a:prstGeom prst="rect">
            <a:avLst/>
          </a:prstGeom>
          <a:solidFill>
            <a:srgbClr val="2c3e6b"/>
          </a:solidFill>
          <a:ln w="635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93" name="Image 5" descr="preencoded.png"/>
          <p:cNvPicPr/>
          <p:nvPr/>
        </p:nvPicPr>
        <p:blipFill>
          <a:blip r:embed="rId6"/>
          <a:stretch/>
        </p:blipFill>
        <p:spPr>
          <a:xfrm>
            <a:off x="6236280" y="2834640"/>
            <a:ext cx="41112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4" name="Text 20"/>
          <p:cNvSpPr/>
          <p:nvPr/>
        </p:nvSpPr>
        <p:spPr>
          <a:xfrm>
            <a:off x="6739200" y="2871360"/>
            <a:ext cx="21027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Virtualizzazione</a:t>
            </a:r>
            <a:endParaRPr lang="it-IT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5" name="Text 21"/>
          <p:cNvSpPr/>
          <p:nvPr/>
        </p:nvSpPr>
        <p:spPr>
          <a:xfrm>
            <a:off x="6236280" y="3383280"/>
            <a:ext cx="2605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Hypervisor come piattaforma di base del cloud</a:t>
            </a:r>
            <a:endParaRPr lang="it-IT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6" name="Text 22"/>
          <p:cNvSpPr/>
          <p:nvPr/>
        </p:nvSpPr>
        <p:spPr>
          <a:xfrm>
            <a:off x="274320" y="4416480"/>
            <a:ext cx="8595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8fa4d4"/>
                </a:solidFill>
                <a:effectLst/>
                <a:uFillTx/>
                <a:latin typeface="Calibri"/>
                <a:ea typeface="Calibri"/>
              </a:rPr>
              <a:t>Prof. Fedeli Massimo — Fabbrica Digitale  |  IIS Fermi Sacconi Ceci — Ascoli Piceno</a:t>
            </a:r>
            <a:endParaRPr lang="it-IT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LibreOffice/25.8.5.2$Linux_X86_64 LibreOffice_project/580$Build-2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2026-03-13T13:57:44Z</dcterms:created>
  <dc:creator>Prof. Fedeli Massimo</dc:creator>
  <dc:description/>
  <dc:language>it-IT</dc:language>
  <cp:lastModifiedBy/>
  <dcterms:modified xsi:type="dcterms:W3CDTF">2026-03-13T15:03:01Z</dcterms:modified>
  <cp:revision>2</cp:revision>
  <dc:subject>PptxGenJS Presentation</dc:subject>
  <dc:title>Sistemi Operativi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21</vt:i4>
  </property>
  <property fmtid="{D5CDD505-2E9C-101B-9397-08002B2CF9AE}" pid="3" name="PresentationFormat">
    <vt:lpwstr>On-screen Show (16:9)</vt:lpwstr>
  </property>
  <property fmtid="{D5CDD505-2E9C-101B-9397-08002B2CF9AE}" pid="4" name="Slides">
    <vt:i4>21</vt:i4>
  </property>
</Properties>
</file>