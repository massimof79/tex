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35DA730-443F-47B6-BC68-67AD495F1EB5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18078E-4ABD-47DD-914F-885D652298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6462CC-DAF1-4670-A8FD-DC5DF34F60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135FDA-ADDC-4C56-805A-ADC0F7D0C6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5B060-E71C-4CFB-ABD7-23D84493FC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D55A67-BE20-4575-8313-AF402ADE5A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39D9DE-39C2-4B88-BEAE-2493539BE5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4FCB9C-2236-406C-9138-C76F8DA101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4ABA77-E136-487F-9C12-F6488920E4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2276C7-2F32-4949-8B62-36FC6A9BC0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62DB85-28C1-4977-8B02-C94D8B426B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8EBA8B-B42F-45CE-BB30-8E63AF494D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8962CC-CB77-4626-9B7B-6D7286BEED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8962B1-FD76-44DE-8F91-B60E57EC5E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D70197-C269-4D96-918F-2D542A17C5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C12852-F15D-48D8-A857-FEBA8ACB76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A45811-9E24-4FBF-B0E7-3811FEA660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BF37EC-52E0-45E0-817E-A676F8BED1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0BE8CE-3212-4790-9E27-DE02276DD9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8FCD17-90FC-4630-BAAC-5AD2BD7C14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4DADDB-5C45-4385-868D-D23A6C75A2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380F02-6E14-4DB6-9E26-575DBCECC5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3185E5-489E-4A04-8A41-74417AB2CA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216779-EECB-418D-8717-0154C03F0D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E1B44B-3C1E-4F01-A3A9-F7F813DBC9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B0ED5C-575B-4F08-B20D-1D0FAF2036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684A2B-3D0C-48D8-8733-3899FBC4FB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7FD517-9894-4BCD-BAB9-6CAE32B417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8BCB50-8A02-4E47-B50A-BBBDA18520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186150-BBE9-4DA6-8057-9FCD75C297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478299-9DDF-4A08-B485-1FCCB4B5AB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D4B690-CE0C-43C1-B09F-E6EAB81BC7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CBD5A0-D469-4B43-8A36-AFDCF256BC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F4546-D6AB-4EB6-A1C1-74FB6A0029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925922-0B41-49B7-BFD0-C687EB78C9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67DA87-DBA9-44FD-BD18-49A9835784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1E078B-2914-4DBB-AAC7-D7A450B10C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DE2A02-1C4D-4915-95C6-F990760F1A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197B61-86F6-42F7-950A-A6CD7E8A6C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260CC3-4756-4AAA-9CC5-C385B10848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8AF7CD-245E-4ADC-8848-FC000F06B8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ED4180-0775-4A6D-BBAB-4354FD8875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A96C59-F01F-4E2A-9B1B-436899C761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6DC903-CC54-4420-AF3B-545CAB7443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DC43B1-CB44-4492-BB11-8A825AAB41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BA504B-BFBA-4237-9375-E7B0FB2756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7FEC82-CC18-44E4-9AC3-1D1365BD3B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1DF223-7816-41AB-A5B9-FE85CBB44C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</a:t>
            </a: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943600" y="-1097280"/>
            <a:ext cx="4571640" cy="457164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315200" y="3474720"/>
            <a:ext cx="2285640" cy="228564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9144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Machine Learning</a:t>
            </a:r>
            <a:endParaRPr lang="it-IT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18288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Riepilogo Completo degli Algoritmi</a:t>
            </a:r>
            <a:endParaRPr lang="it-IT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2514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8eadbe"/>
                </a:solidFill>
                <a:effectLst/>
                <a:uFillTx/>
                <a:latin typeface="Calibri"/>
                <a:ea typeface="Calibri"/>
              </a:rPr>
              <a:t>Supervised • Unsupervised • Ensemble</a:t>
            </a:r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457200" y="3063240"/>
            <a:ext cx="320004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324612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Prof. Fedeli Massimo</a:t>
            </a:r>
            <a:endParaRPr lang="it-I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3611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8eadbe"/>
                </a:solidFill>
                <a:effectLst/>
                <a:uFillTx/>
                <a:latin typeface="Calibri"/>
                <a:ea typeface="Calibri"/>
              </a:rPr>
              <a:t>IIS Fermi Sacconi Cpia  |  Ascoli Piceno  |  2025-2026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Indice della Presentazione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274320" y="86868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274320" y="86868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274320" y="86868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749880" y="93276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Introduzione al Machine Learning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749880" y="119772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Definizione e tre famiglie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274320" y="164592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274320" y="164592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274320" y="164592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749880" y="171000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Regressione Lineare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749880" y="197496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Prevedere valori numerici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274320" y="242316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274320" y="242316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274320" y="242316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749880" y="248724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Regressione Logistica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749880" y="275220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Classificazione binaria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274320" y="320040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274320" y="320040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274320" y="320040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749880" y="326448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K-Nearest Neighbors (KNN)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749880" y="352944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Classificazione per prossimità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274320" y="397764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5"/>
          <p:cNvSpPr/>
          <p:nvPr/>
        </p:nvSpPr>
        <p:spPr>
          <a:xfrm>
            <a:off x="274320" y="397764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274320" y="397764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749880" y="404172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Distribuzione Gaussiana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8"/>
          <p:cNvSpPr/>
          <p:nvPr/>
        </p:nvSpPr>
        <p:spPr>
          <a:xfrm>
            <a:off x="749880" y="430668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Statistica di base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9"/>
          <p:cNvSpPr/>
          <p:nvPr/>
        </p:nvSpPr>
        <p:spPr>
          <a:xfrm>
            <a:off x="4709160" y="86868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0"/>
          <p:cNvSpPr/>
          <p:nvPr/>
        </p:nvSpPr>
        <p:spPr>
          <a:xfrm>
            <a:off x="4709160" y="86868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1"/>
          <p:cNvSpPr/>
          <p:nvPr/>
        </p:nvSpPr>
        <p:spPr>
          <a:xfrm>
            <a:off x="4709160" y="86868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2"/>
          <p:cNvSpPr/>
          <p:nvPr/>
        </p:nvSpPr>
        <p:spPr>
          <a:xfrm>
            <a:off x="5184720" y="93276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Alberi Decisionali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3"/>
          <p:cNvSpPr/>
          <p:nvPr/>
        </p:nvSpPr>
        <p:spPr>
          <a:xfrm>
            <a:off x="5184720" y="119772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Regole if-then interpretabili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4"/>
          <p:cNvSpPr/>
          <p:nvPr/>
        </p:nvSpPr>
        <p:spPr>
          <a:xfrm>
            <a:off x="4709160" y="164592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5"/>
          <p:cNvSpPr/>
          <p:nvPr/>
        </p:nvSpPr>
        <p:spPr>
          <a:xfrm>
            <a:off x="4709160" y="164592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6"/>
          <p:cNvSpPr/>
          <p:nvPr/>
        </p:nvSpPr>
        <p:spPr>
          <a:xfrm>
            <a:off x="4709160" y="164592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07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7"/>
          <p:cNvSpPr/>
          <p:nvPr/>
        </p:nvSpPr>
        <p:spPr>
          <a:xfrm>
            <a:off x="5184720" y="171000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Support Vector Machine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8"/>
          <p:cNvSpPr/>
          <p:nvPr/>
        </p:nvSpPr>
        <p:spPr>
          <a:xfrm>
            <a:off x="5184720" y="197496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Margine ottimale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9"/>
          <p:cNvSpPr/>
          <p:nvPr/>
        </p:nvSpPr>
        <p:spPr>
          <a:xfrm>
            <a:off x="4709160" y="242316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0"/>
          <p:cNvSpPr/>
          <p:nvPr/>
        </p:nvSpPr>
        <p:spPr>
          <a:xfrm>
            <a:off x="4709160" y="242316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1"/>
          <p:cNvSpPr/>
          <p:nvPr/>
        </p:nvSpPr>
        <p:spPr>
          <a:xfrm>
            <a:off x="4709160" y="242316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08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2"/>
          <p:cNvSpPr/>
          <p:nvPr/>
        </p:nvSpPr>
        <p:spPr>
          <a:xfrm>
            <a:off x="5184720" y="248724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K-Means Clustering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3"/>
          <p:cNvSpPr/>
          <p:nvPr/>
        </p:nvSpPr>
        <p:spPr>
          <a:xfrm>
            <a:off x="5184720" y="275220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Apprendimento non supervisionato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4"/>
          <p:cNvSpPr/>
          <p:nvPr/>
        </p:nvSpPr>
        <p:spPr>
          <a:xfrm>
            <a:off x="4709160" y="320040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5"/>
          <p:cNvSpPr/>
          <p:nvPr/>
        </p:nvSpPr>
        <p:spPr>
          <a:xfrm>
            <a:off x="4709160" y="320040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6"/>
          <p:cNvSpPr/>
          <p:nvPr/>
        </p:nvSpPr>
        <p:spPr>
          <a:xfrm>
            <a:off x="4709160" y="320040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09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7"/>
          <p:cNvSpPr/>
          <p:nvPr/>
        </p:nvSpPr>
        <p:spPr>
          <a:xfrm>
            <a:off x="5184720" y="326448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Foreste Casuali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8"/>
          <p:cNvSpPr/>
          <p:nvPr/>
        </p:nvSpPr>
        <p:spPr>
          <a:xfrm>
            <a:off x="5184720" y="352944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Ensemble di alberi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9"/>
          <p:cNvSpPr/>
          <p:nvPr/>
        </p:nvSpPr>
        <p:spPr>
          <a:xfrm>
            <a:off x="4709160" y="397764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0"/>
          <p:cNvSpPr/>
          <p:nvPr/>
        </p:nvSpPr>
        <p:spPr>
          <a:xfrm>
            <a:off x="4709160" y="3977640"/>
            <a:ext cx="411120" cy="658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1"/>
          <p:cNvSpPr/>
          <p:nvPr/>
        </p:nvSpPr>
        <p:spPr>
          <a:xfrm>
            <a:off x="4709160" y="3977640"/>
            <a:ext cx="41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2"/>
          <p:cNvSpPr/>
          <p:nvPr/>
        </p:nvSpPr>
        <p:spPr>
          <a:xfrm>
            <a:off x="5184720" y="404172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Scegliere il Modello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3"/>
          <p:cNvSpPr/>
          <p:nvPr/>
        </p:nvSpPr>
        <p:spPr>
          <a:xfrm>
            <a:off x="5184720" y="430668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Guida pratica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Introduzione al Machine Learning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Come i computer imparano dai dati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Cos'è il Machine Learning?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365760" y="77724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Una definizione semplice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365760" y="1170360"/>
            <a:ext cx="8412120" cy="959760"/>
          </a:xfrm>
          <a:prstGeom prst="rect">
            <a:avLst/>
          </a:prstGeom>
          <a:solidFill>
            <a:srgbClr val="e8f4fd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502920" y="12344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Il Machine Learning permette ai computer di imparare dai dati senza essere esplicitamente programmati per ogni situazione. Invece di scrivere regole fisse, mostriamo esempi e il computer impara da solo.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502920" y="2148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Analogia: come insegnare a un bambino a riconoscere i frutti — mostrandogli molti esempi, non spiegando regole botaniche.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320040" y="2651760"/>
            <a:ext cx="269712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320040" y="2651760"/>
            <a:ext cx="2697120" cy="72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320040" y="274320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👨‍🏫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320040" y="324612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Supervisionato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411480" y="3611880"/>
            <a:ext cx="2514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Impara da esempi etichettati (con maestro)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3200400" y="2651760"/>
            <a:ext cx="269712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4"/>
          <p:cNvSpPr/>
          <p:nvPr/>
        </p:nvSpPr>
        <p:spPr>
          <a:xfrm>
            <a:off x="3200400" y="2651760"/>
            <a:ext cx="2697120" cy="72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5"/>
          <p:cNvSpPr/>
          <p:nvPr/>
        </p:nvSpPr>
        <p:spPr>
          <a:xfrm>
            <a:off x="3200400" y="274320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🔍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3200400" y="324612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b4f72"/>
                </a:solidFill>
                <a:effectLst/>
                <a:uFillTx/>
                <a:latin typeface="Calibri"/>
              </a:rPr>
              <a:t>Non Supervisionato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3291840" y="3611880"/>
            <a:ext cx="2514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Trova pattern da solo, senza etichette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8"/>
          <p:cNvSpPr/>
          <p:nvPr/>
        </p:nvSpPr>
        <p:spPr>
          <a:xfrm>
            <a:off x="6080760" y="2651760"/>
            <a:ext cx="269712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9"/>
          <p:cNvSpPr/>
          <p:nvPr/>
        </p:nvSpPr>
        <p:spPr>
          <a:xfrm>
            <a:off x="6080760" y="2651760"/>
            <a:ext cx="269712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0"/>
          <p:cNvSpPr/>
          <p:nvPr/>
        </p:nvSpPr>
        <p:spPr>
          <a:xfrm>
            <a:off x="6080760" y="274320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🎮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1"/>
          <p:cNvSpPr/>
          <p:nvPr/>
        </p:nvSpPr>
        <p:spPr>
          <a:xfrm>
            <a:off x="6080760" y="324612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Per Rinforzo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6172200" y="3611880"/>
            <a:ext cx="2514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Impara per tentativi ed errori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 Tre Famiglie del Machine Learning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7" name="Table 0"/>
          <p:cNvGraphicFramePr/>
          <p:nvPr/>
        </p:nvGraphicFramePr>
        <p:xfrm>
          <a:off x="274320" y="822960"/>
          <a:ext cx="8595000" cy="347472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868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Famiglia</a:t>
                      </a:r>
                      <a:endParaRPr lang="it-IT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Tipo di dati</a:t>
                      </a:r>
                      <a:endParaRPr lang="it-IT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Task tipici</a:t>
                      </a:r>
                      <a:endParaRPr lang="it-IT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Algoritmi esempi</a:t>
                      </a:r>
                      <a:endParaRPr lang="it-IT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868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Supervisionato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Dati etichettati (input + output noto)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Classificazione, Regressione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Regressione Logistica, Alberi, SVM, KNN, Random Forest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868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Non Supervisionato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Solo dati di input, nessuna etichetta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Clustering, Riduzione dimensionalità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K-Means, DBSCAN, PCA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Per Rinforzo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Agente + ambiente + ricompensa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Controllo, Giochi, Robotica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Q-Learning, Policy Gradient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08" name="Text 4"/>
          <p:cNvSpPr/>
          <p:nvPr/>
        </p:nvSpPr>
        <p:spPr>
          <a:xfrm>
            <a:off x="274320" y="443484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💡 In questa presentazione ci concentriamo principalmente sull'apprendimento supervisionato.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📈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Regressione Lineare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Prevedere valori numerici con una retta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Regressione Lineare – L'Idea di Base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365760" y="777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Quando si usa?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365760" y="1115640"/>
            <a:ext cx="39315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Prevedere un valore numerico continuo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Relazione approssimativamente lineare tra variabili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Es: prezzo casa ↔ metri quadri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Es: voto ↔ ore di studio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Es: vendite ↔ investimento marketing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4572000" y="777240"/>
            <a:ext cx="429732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4663440" y="8686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La formula fondamentale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4709160" y="1234440"/>
            <a:ext cx="4068720" cy="594000"/>
          </a:xfrm>
          <a:prstGeom prst="rect">
            <a:avLst/>
          </a:prstGeom>
          <a:solidFill>
            <a:srgbClr val="e8f4fd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4709160" y="1234440"/>
            <a:ext cx="4068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y = a · x + b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4709160" y="1965960"/>
            <a:ext cx="40687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y  </a:t>
            </a: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= valore da prevedere (output)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x  </a:t>
            </a: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= variabile di input (feature)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a  </a:t>
            </a: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= pendenza (coefficiente)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b  </a:t>
            </a: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= intercetta (valore base)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4709160" y="3520440"/>
            <a:ext cx="4068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Errore Quadratico Medio (MSE)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4709160" y="3794760"/>
            <a:ext cx="4068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MSE = Σ(yᵢ - ŷᵢ)² / N   → va minimizzato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Regressione Lineare – Valutazione del Modello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Come capire se la retta è buona?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320040" y="1234440"/>
            <a:ext cx="2742840" cy="246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320040" y="1234440"/>
            <a:ext cx="2742840" cy="63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320040" y="13716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MSE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411480" y="19202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Mean Squared Error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411480" y="2286000"/>
            <a:ext cx="2559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Media dei quadrati degli errori.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Vuoi che sia il più piccolo possibile.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3200400" y="1234440"/>
            <a:ext cx="2742840" cy="246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3200400" y="1234440"/>
            <a:ext cx="2742840" cy="63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3200400" y="13716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RMSE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3291840" y="19202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Root MSE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3291840" y="2286000"/>
            <a:ext cx="2559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Radice dell'MSE. Nella stessa unità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dell'output — più intuitivo.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6080760" y="1234440"/>
            <a:ext cx="2742840" cy="246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6080760" y="1234440"/>
            <a:ext cx="2742840" cy="63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6080760" y="13716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R²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6172200" y="19202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Coefficiente di determinazione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6172200" y="2286000"/>
            <a:ext cx="2559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Spiega quanta variabilità cattura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il modello (da 0 a 1). Vuoi R² ≈ 1.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0"/>
          <p:cNvSpPr/>
          <p:nvPr/>
        </p:nvSpPr>
        <p:spPr>
          <a:xfrm>
            <a:off x="320040" y="3840480"/>
            <a:ext cx="8503560" cy="7311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502920" y="39045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7d4000"/>
                </a:solidFill>
                <a:effectLst/>
                <a:uFillTx/>
                <a:latin typeface="Calibri"/>
              </a:rPr>
              <a:t>⚠️  Nota: R² = 1.0 perfetto è quasi sempre sospetto → probabile overfitting! Cerca un buon equilibrio.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365760" y="46177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Libreria Python: sklearn.linear_model.LinearRegression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Regressione Logistica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Classificazione binaria — Sì o No?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Regressione Logistica – Concetti Chiave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365760" y="777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Quando si usa?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365760" y="10972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Quando la risposta è BINARIA: Sì/No, 0/1, Sano/Malato, Spam/Non-spam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320040" y="1554480"/>
            <a:ext cx="41144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320040" y="1554480"/>
            <a:ext cx="63720" cy="126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457200" y="164592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La curva Sigmoide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457200" y="1901880"/>
            <a:ext cx="3885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Invece di una retta, usa una curva a S.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Output: probabilità tra 0% e 100%.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Formula: σ(z) = 1 / (1 + e⁻ᶻ)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4754880" y="1554480"/>
            <a:ext cx="41144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4754880" y="1554480"/>
            <a:ext cx="63720" cy="126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4892040" y="164592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b4f72"/>
                </a:solidFill>
                <a:effectLst/>
                <a:uFillTx/>
                <a:latin typeface="Calibri"/>
                <a:ea typeface="Calibri"/>
              </a:rPr>
              <a:t>La Soglia di Decisione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4892040" y="1901880"/>
            <a:ext cx="3885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Se probabilità &gt; 50% → classe 1 (Sì)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Se probabilità ≤ 50% → classe 0 (No)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La soglia può essere modificata.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320040" y="2971800"/>
            <a:ext cx="41144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320040" y="2971800"/>
            <a:ext cx="63720" cy="126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457200" y="30632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Standardizzazione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457200" y="3319200"/>
            <a:ext cx="3885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Le variabili devono essere sulla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stessa scala (media 0, dev.std 1).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Altrimenti alcune dominano sul modello.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4754880" y="2971800"/>
            <a:ext cx="41144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9"/>
          <p:cNvSpPr/>
          <p:nvPr/>
        </p:nvSpPr>
        <p:spPr>
          <a:xfrm>
            <a:off x="4754880" y="2971800"/>
            <a:ext cx="63720" cy="126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4892040" y="30632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Applicazione Clinica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1"/>
          <p:cNvSpPr/>
          <p:nvPr/>
        </p:nvSpPr>
        <p:spPr>
          <a:xfrm>
            <a:off x="4892040" y="3319200"/>
            <a:ext cx="3885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Predizione rischio cardiovascolare: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input = età, pressione, colesterolo.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output = sano (0) / a rischio (1).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2"/>
          <p:cNvSpPr/>
          <p:nvPr/>
        </p:nvSpPr>
        <p:spPr>
          <a:xfrm>
            <a:off x="365760" y="46177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Libreria Python: sklearn.linear_model.LogisticRegression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Caso Studio: Predizione Rischio Cardiovascolare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365760" y="777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Pipeline completa del progetto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"/>
          <p:cNvSpPr/>
          <p:nvPr/>
        </p:nvSpPr>
        <p:spPr>
          <a:xfrm>
            <a:off x="320040" y="1207080"/>
            <a:ext cx="383760" cy="383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320040" y="1207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7"/>
          <p:cNvSpPr/>
          <p:nvPr/>
        </p:nvSpPr>
        <p:spPr>
          <a:xfrm>
            <a:off x="804600" y="1188720"/>
            <a:ext cx="8229240" cy="438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868680" y="124344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Dataset clinico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9"/>
          <p:cNvSpPr/>
          <p:nvPr/>
        </p:nvSpPr>
        <p:spPr>
          <a:xfrm>
            <a:off x="3246120" y="124344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Età, sesso, pressione, colesterolo, risultati diagnostici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0"/>
          <p:cNvSpPr/>
          <p:nvPr/>
        </p:nvSpPr>
        <p:spPr>
          <a:xfrm>
            <a:off x="320040" y="1705320"/>
            <a:ext cx="383760" cy="383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1"/>
          <p:cNvSpPr/>
          <p:nvPr/>
        </p:nvSpPr>
        <p:spPr>
          <a:xfrm>
            <a:off x="320040" y="1705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2"/>
          <p:cNvSpPr/>
          <p:nvPr/>
        </p:nvSpPr>
        <p:spPr>
          <a:xfrm>
            <a:off x="804600" y="1686960"/>
            <a:ext cx="82292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3"/>
          <p:cNvSpPr/>
          <p:nvPr/>
        </p:nvSpPr>
        <p:spPr>
          <a:xfrm>
            <a:off x="868680" y="174204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Pulizia dati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4"/>
          <p:cNvSpPr/>
          <p:nvPr/>
        </p:nvSpPr>
        <p:spPr>
          <a:xfrm>
            <a:off x="3246120" y="174204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Conversione valori mancanti → NaN, eliminazione righe incomplete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5"/>
          <p:cNvSpPr/>
          <p:nvPr/>
        </p:nvSpPr>
        <p:spPr>
          <a:xfrm>
            <a:off x="320040" y="2203560"/>
            <a:ext cx="383760" cy="383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6"/>
          <p:cNvSpPr/>
          <p:nvPr/>
        </p:nvSpPr>
        <p:spPr>
          <a:xfrm>
            <a:off x="320040" y="2203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7"/>
          <p:cNvSpPr/>
          <p:nvPr/>
        </p:nvSpPr>
        <p:spPr>
          <a:xfrm>
            <a:off x="804600" y="2185560"/>
            <a:ext cx="8229240" cy="438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8"/>
          <p:cNvSpPr/>
          <p:nvPr/>
        </p:nvSpPr>
        <p:spPr>
          <a:xfrm>
            <a:off x="868680" y="224028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Target binario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9"/>
          <p:cNvSpPr/>
          <p:nvPr/>
        </p:nvSpPr>
        <p:spPr>
          <a:xfrm>
            <a:off x="3246120" y="224028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Livello malattia multivalore → 0 (sano) / 1 (malato)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0"/>
          <p:cNvSpPr/>
          <p:nvPr/>
        </p:nvSpPr>
        <p:spPr>
          <a:xfrm>
            <a:off x="320040" y="2702160"/>
            <a:ext cx="383760" cy="383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1"/>
          <p:cNvSpPr/>
          <p:nvPr/>
        </p:nvSpPr>
        <p:spPr>
          <a:xfrm>
            <a:off x="320040" y="2702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2"/>
          <p:cNvSpPr/>
          <p:nvPr/>
        </p:nvSpPr>
        <p:spPr>
          <a:xfrm>
            <a:off x="804600" y="2683800"/>
            <a:ext cx="82292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3"/>
          <p:cNvSpPr/>
          <p:nvPr/>
        </p:nvSpPr>
        <p:spPr>
          <a:xfrm>
            <a:off x="868680" y="273852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Split stratificato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4"/>
          <p:cNvSpPr/>
          <p:nvPr/>
        </p:nvSpPr>
        <p:spPr>
          <a:xfrm>
            <a:off x="3246120" y="273852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Training 80% / Test 20%, proporzioni classi mantenute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5"/>
          <p:cNvSpPr/>
          <p:nvPr/>
        </p:nvSpPr>
        <p:spPr>
          <a:xfrm>
            <a:off x="320040" y="3200400"/>
            <a:ext cx="383760" cy="383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6"/>
          <p:cNvSpPr/>
          <p:nvPr/>
        </p:nvSpPr>
        <p:spPr>
          <a:xfrm>
            <a:off x="320040" y="3200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7"/>
          <p:cNvSpPr/>
          <p:nvPr/>
        </p:nvSpPr>
        <p:spPr>
          <a:xfrm>
            <a:off x="804600" y="3182040"/>
            <a:ext cx="8229240" cy="438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8"/>
          <p:cNvSpPr/>
          <p:nvPr/>
        </p:nvSpPr>
        <p:spPr>
          <a:xfrm>
            <a:off x="868680" y="323712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Standardizzazione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9"/>
          <p:cNvSpPr/>
          <p:nvPr/>
        </p:nvSpPr>
        <p:spPr>
          <a:xfrm>
            <a:off x="3246120" y="323712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StandardScaler: media 0, deviazione standard 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0"/>
          <p:cNvSpPr/>
          <p:nvPr/>
        </p:nvSpPr>
        <p:spPr>
          <a:xfrm>
            <a:off x="320040" y="3698640"/>
            <a:ext cx="383760" cy="383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1"/>
          <p:cNvSpPr/>
          <p:nvPr/>
        </p:nvSpPr>
        <p:spPr>
          <a:xfrm>
            <a:off x="320040" y="3698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2"/>
          <p:cNvSpPr/>
          <p:nvPr/>
        </p:nvSpPr>
        <p:spPr>
          <a:xfrm>
            <a:off x="804600" y="3680640"/>
            <a:ext cx="82292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3"/>
          <p:cNvSpPr/>
          <p:nvPr/>
        </p:nvSpPr>
        <p:spPr>
          <a:xfrm>
            <a:off x="868680" y="373536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Addestramento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4"/>
          <p:cNvSpPr/>
          <p:nvPr/>
        </p:nvSpPr>
        <p:spPr>
          <a:xfrm>
            <a:off x="3246120" y="373536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LogisticRegression apprende un peso per ogni feature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5"/>
          <p:cNvSpPr/>
          <p:nvPr/>
        </p:nvSpPr>
        <p:spPr>
          <a:xfrm>
            <a:off x="320040" y="4197240"/>
            <a:ext cx="383760" cy="383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6"/>
          <p:cNvSpPr/>
          <p:nvPr/>
        </p:nvSpPr>
        <p:spPr>
          <a:xfrm>
            <a:off x="320040" y="4197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7"/>
          <p:cNvSpPr/>
          <p:nvPr/>
        </p:nvSpPr>
        <p:spPr>
          <a:xfrm>
            <a:off x="804600" y="4178880"/>
            <a:ext cx="8229240" cy="438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8"/>
          <p:cNvSpPr/>
          <p:nvPr/>
        </p:nvSpPr>
        <p:spPr>
          <a:xfrm>
            <a:off x="868680" y="423360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Valutazione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9"/>
          <p:cNvSpPr/>
          <p:nvPr/>
        </p:nvSpPr>
        <p:spPr>
          <a:xfrm>
            <a:off x="3246120" y="423360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Accuratezza sul test set = % classificazioni corrette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🗺️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K-Nearest Neighbors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Classifica chiedendo ai vicini più prossimi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KNN – Principio e Funzionamento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365760" y="77724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L'idea: un nuovo punto appartiene alla classe dei suoi vicini più simili.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365760" y="11887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I 3 passi dell'algoritmo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365760" y="1600200"/>
            <a:ext cx="45684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36576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8"/>
          <p:cNvSpPr/>
          <p:nvPr/>
        </p:nvSpPr>
        <p:spPr>
          <a:xfrm>
            <a:off x="914400" y="1600200"/>
            <a:ext cx="347436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1005840" y="164592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Calcola le distanze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1005840" y="1947600"/>
            <a:ext cx="3291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Misura la distanza euclidea tra il nuovo punto e tutti i punti del dataset.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365760" y="2606040"/>
            <a:ext cx="45684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36576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914400" y="2606040"/>
            <a:ext cx="347436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1005840" y="265176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Trova i K vicini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1005840" y="2953440"/>
            <a:ext cx="3291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Seleziona i K punti con distanza minima (K scelto dall'utente, es. K=3 o K=5).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6"/>
          <p:cNvSpPr/>
          <p:nvPr/>
        </p:nvSpPr>
        <p:spPr>
          <a:xfrm>
            <a:off x="365760" y="3611880"/>
            <a:ext cx="45684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365760" y="3611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8"/>
          <p:cNvSpPr/>
          <p:nvPr/>
        </p:nvSpPr>
        <p:spPr>
          <a:xfrm>
            <a:off x="914400" y="3611880"/>
            <a:ext cx="347436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9"/>
          <p:cNvSpPr/>
          <p:nvPr/>
        </p:nvSpPr>
        <p:spPr>
          <a:xfrm>
            <a:off x="1005840" y="365760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Vota la classe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0"/>
          <p:cNvSpPr/>
          <p:nvPr/>
        </p:nvSpPr>
        <p:spPr>
          <a:xfrm>
            <a:off x="1005840" y="3959280"/>
            <a:ext cx="3291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La classe più frequente tra i K vicini è quella assegnata al nuovo punto.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1"/>
          <p:cNvSpPr/>
          <p:nvPr/>
        </p:nvSpPr>
        <p:spPr>
          <a:xfrm>
            <a:off x="4663440" y="1188720"/>
            <a:ext cx="4160160" cy="315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4754880" y="128016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Distanza Euclidea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3"/>
          <p:cNvSpPr/>
          <p:nvPr/>
        </p:nvSpPr>
        <p:spPr>
          <a:xfrm>
            <a:off x="4754880" y="1664280"/>
            <a:ext cx="3931560" cy="639720"/>
          </a:xfrm>
          <a:prstGeom prst="rect">
            <a:avLst/>
          </a:prstGeom>
          <a:solidFill>
            <a:srgbClr val="e8f4fd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4"/>
          <p:cNvSpPr/>
          <p:nvPr/>
        </p:nvSpPr>
        <p:spPr>
          <a:xfrm>
            <a:off x="4754880" y="166428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d(x,y) = √Σ(xⱼ - yⱼ)²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5"/>
          <p:cNvSpPr/>
          <p:nvPr/>
        </p:nvSpPr>
        <p:spPr>
          <a:xfrm>
            <a:off x="4754880" y="2377440"/>
            <a:ext cx="3931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Esempio: studente con 5 ore studio, 3 assenze: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d(xnew, C) = √(5-6)²+(3-2)² = √2 ≈ 1.41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d(xnew, A) = √(5-8)²+(3-1)² = √13 ≈ 3.61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6"/>
          <p:cNvSpPr/>
          <p:nvPr/>
        </p:nvSpPr>
        <p:spPr>
          <a:xfrm>
            <a:off x="4754880" y="3337560"/>
            <a:ext cx="3931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I 3 vicini più prossimi → C, A, B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2 Promosso + 1 Bocciato → Previsione: PROMOSSO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KNN – Il Ruolo del Parametro K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 è il parametro più importante: governa il trade-off bias-varianza.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5"/>
          <p:cNvSpPr/>
          <p:nvPr/>
        </p:nvSpPr>
        <p:spPr>
          <a:xfrm>
            <a:off x="320040" y="1188720"/>
            <a:ext cx="2742840" cy="2377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6"/>
          <p:cNvSpPr/>
          <p:nvPr/>
        </p:nvSpPr>
        <p:spPr>
          <a:xfrm>
            <a:off x="320040" y="1188720"/>
            <a:ext cx="2742840" cy="63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320040" y="132588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K = 1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411480" y="1920240"/>
            <a:ext cx="25599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Decisione ultra-locale.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Altissima varianza (overfitting).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Sensibile agli outlier.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9"/>
          <p:cNvSpPr/>
          <p:nvPr/>
        </p:nvSpPr>
        <p:spPr>
          <a:xfrm>
            <a:off x="3200400" y="1188720"/>
            <a:ext cx="2742840" cy="2377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0"/>
          <p:cNvSpPr/>
          <p:nvPr/>
        </p:nvSpPr>
        <p:spPr>
          <a:xfrm>
            <a:off x="3200400" y="1188720"/>
            <a:ext cx="2742840" cy="63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3200400" y="132588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K = 3-5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2"/>
          <p:cNvSpPr/>
          <p:nvPr/>
        </p:nvSpPr>
        <p:spPr>
          <a:xfrm>
            <a:off x="3291840" y="1920240"/>
            <a:ext cx="25599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Buon equilibrio.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Valore tipico di partenza.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Robusto ma preciso.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3"/>
          <p:cNvSpPr/>
          <p:nvPr/>
        </p:nvSpPr>
        <p:spPr>
          <a:xfrm>
            <a:off x="6080760" y="1188720"/>
            <a:ext cx="2742840" cy="2377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4"/>
          <p:cNvSpPr/>
          <p:nvPr/>
        </p:nvSpPr>
        <p:spPr>
          <a:xfrm>
            <a:off x="6080760" y="1188720"/>
            <a:ext cx="2742840" cy="63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6080760" y="132588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K = 20+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6172200" y="1920240"/>
            <a:ext cx="25599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Decisione globale.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Bias elevato (underfitting).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 confini si sfumano.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7"/>
          <p:cNvSpPr/>
          <p:nvPr/>
        </p:nvSpPr>
        <p:spPr>
          <a:xfrm>
            <a:off x="320040" y="3703320"/>
            <a:ext cx="850356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8"/>
          <p:cNvSpPr/>
          <p:nvPr/>
        </p:nvSpPr>
        <p:spPr>
          <a:xfrm>
            <a:off x="457200" y="37674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Classificazione vs Regressione con KNN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9"/>
          <p:cNvSpPr/>
          <p:nvPr/>
        </p:nvSpPr>
        <p:spPr>
          <a:xfrm>
            <a:off x="457200" y="4060080"/>
            <a:ext cx="8229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Classificazione: ŷ = moda delle etichette dei K vicini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Regressione: ŷ = media dei valori dei K vicini   (es: voto = (8+9+5)/3 ≈ 7.33)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0"/>
          <p:cNvSpPr/>
          <p:nvPr/>
        </p:nvSpPr>
        <p:spPr>
          <a:xfrm>
            <a:off x="365760" y="466344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Limiti: lento con molti dati, sensibile alla scala → necessaria normalizzazione. Libreria: sklearn.neighbors.KNeighborsClassifier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Distribuzione Gaussiana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La curva a campana e la deviazione standard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Distribuzione Normale – Forma e Parametri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La distribuzione più importante in statistica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365760" y="10972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Descrive molti fenomeni naturali: altezze, errori di misurazione, rumore nei segnali, risultati di test...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320040" y="1508760"/>
            <a:ext cx="393156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320040" y="1508760"/>
            <a:ext cx="63720" cy="1416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8"/>
          <p:cNvSpPr/>
          <p:nvPr/>
        </p:nvSpPr>
        <p:spPr>
          <a:xfrm>
            <a:off x="457200" y="160020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Media (μ)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457200" y="1856160"/>
            <a:ext cx="370296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Centro della distribuzione.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 valori più frequenti si trovano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vicino alla media.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La distribuzione è simmetrica rispetto a μ.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0"/>
          <p:cNvSpPr/>
          <p:nvPr/>
        </p:nvSpPr>
        <p:spPr>
          <a:xfrm>
            <a:off x="4572000" y="1508760"/>
            <a:ext cx="393156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1"/>
          <p:cNvSpPr/>
          <p:nvPr/>
        </p:nvSpPr>
        <p:spPr>
          <a:xfrm>
            <a:off x="4572000" y="1508760"/>
            <a:ext cx="63720" cy="1416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4709160" y="160020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b4f72"/>
                </a:solidFill>
                <a:effectLst/>
                <a:uFillTx/>
                <a:latin typeface="Calibri"/>
                <a:ea typeface="Calibri"/>
              </a:rPr>
              <a:t>Deviazione Standard (σ)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4709160" y="1856160"/>
            <a:ext cx="370296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Misura la dispersione dei dati.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σ piccolo → dati concentrati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σ grande → dati molto dispersi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Formula: σ = √[Σ(xᵢ - μ)² / N]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320040" y="3063240"/>
            <a:ext cx="8503560" cy="1599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457200" y="31273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Regola 68–95–99,7  (Regola Empirica)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457200" y="3520440"/>
            <a:ext cx="822600" cy="411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457200" y="3520440"/>
            <a:ext cx="822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68%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8"/>
          <p:cNvSpPr/>
          <p:nvPr/>
        </p:nvSpPr>
        <p:spPr>
          <a:xfrm>
            <a:off x="1371600" y="3520440"/>
            <a:ext cx="2377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dei valori cade nell'intervallo  μ ± 1σ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9"/>
          <p:cNvSpPr/>
          <p:nvPr/>
        </p:nvSpPr>
        <p:spPr>
          <a:xfrm>
            <a:off x="3291840" y="3520440"/>
            <a:ext cx="822600" cy="4111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0"/>
          <p:cNvSpPr/>
          <p:nvPr/>
        </p:nvSpPr>
        <p:spPr>
          <a:xfrm>
            <a:off x="3291840" y="3520440"/>
            <a:ext cx="822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95%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1"/>
          <p:cNvSpPr/>
          <p:nvPr/>
        </p:nvSpPr>
        <p:spPr>
          <a:xfrm>
            <a:off x="4206240" y="3520440"/>
            <a:ext cx="2377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dei valori cade nell'intervallo  μ ± 2σ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2"/>
          <p:cNvSpPr/>
          <p:nvPr/>
        </p:nvSpPr>
        <p:spPr>
          <a:xfrm>
            <a:off x="6126480" y="3520440"/>
            <a:ext cx="822600" cy="4111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3"/>
          <p:cNvSpPr/>
          <p:nvPr/>
        </p:nvSpPr>
        <p:spPr>
          <a:xfrm>
            <a:off x="6126480" y="3520440"/>
            <a:ext cx="822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99,7%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4"/>
          <p:cNvSpPr/>
          <p:nvPr/>
        </p:nvSpPr>
        <p:spPr>
          <a:xfrm>
            <a:off x="7040880" y="3520440"/>
            <a:ext cx="2377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dei valori cade nell'intervallo  μ ± 3σ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Deviazione Standard – Esempio Pratico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4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Due gruppi con la stessa media (μ = 10) ma dispersione molto diversa: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5"/>
          <p:cNvSpPr/>
          <p:nvPr/>
        </p:nvSpPr>
        <p:spPr>
          <a:xfrm>
            <a:off x="320040" y="1143000"/>
            <a:ext cx="4023000" cy="292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6"/>
          <p:cNvSpPr/>
          <p:nvPr/>
        </p:nvSpPr>
        <p:spPr>
          <a:xfrm>
            <a:off x="320040" y="1143000"/>
            <a:ext cx="4023000" cy="5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411480" y="12344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Gruppo A  —  Valori: {10, 11, 9, 10, 10}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7" name="Table 0"/>
          <p:cNvGraphicFramePr/>
          <p:nvPr/>
        </p:nvGraphicFramePr>
        <p:xfrm>
          <a:off x="411480" y="1627560"/>
          <a:ext cx="3840120" cy="1557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xᵢ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xᵢ - μ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(xᵢ - μ)²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-1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8" name="Text 8"/>
          <p:cNvSpPr/>
          <p:nvPr/>
        </p:nvSpPr>
        <p:spPr>
          <a:xfrm>
            <a:off x="411480" y="3246120"/>
            <a:ext cx="3840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Somma = 2   →   σ_A = √(2/5) ≈ 0,63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9"/>
          <p:cNvSpPr/>
          <p:nvPr/>
        </p:nvSpPr>
        <p:spPr>
          <a:xfrm>
            <a:off x="411480" y="376740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Dati molto concentrati attorno alla media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0"/>
          <p:cNvSpPr/>
          <p:nvPr/>
        </p:nvSpPr>
        <p:spPr>
          <a:xfrm>
            <a:off x="4800600" y="1143000"/>
            <a:ext cx="4023000" cy="292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1"/>
          <p:cNvSpPr/>
          <p:nvPr/>
        </p:nvSpPr>
        <p:spPr>
          <a:xfrm>
            <a:off x="4800600" y="1143000"/>
            <a:ext cx="402300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2"/>
          <p:cNvSpPr/>
          <p:nvPr/>
        </p:nvSpPr>
        <p:spPr>
          <a:xfrm>
            <a:off x="4892040" y="12344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Gruppo B  —  Valori: {2, 18, 5, 15, 10}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3" name="Table 1"/>
          <p:cNvGraphicFramePr/>
          <p:nvPr/>
        </p:nvGraphicFramePr>
        <p:xfrm>
          <a:off x="4892040" y="1627560"/>
          <a:ext cx="3840120" cy="1557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xᵢ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xᵢ - μ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(xᵢ - μ)²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solidFill>
                      <a:srgbClr val="f59e0b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-8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18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-5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25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15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25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6eaf8"/>
                      </a:solidFill>
                      <a:prstDash val="solid"/>
                    </a:lnL>
                    <a:lnR w="6480">
                      <a:solidFill>
                        <a:srgbClr val="d6eaf8"/>
                      </a:solidFill>
                      <a:prstDash val="solid"/>
                    </a:lnR>
                    <a:lnT w="6480">
                      <a:solidFill>
                        <a:srgbClr val="d6eaf8"/>
                      </a:solidFill>
                      <a:prstDash val="solid"/>
                    </a:lnT>
                    <a:lnB w="6480">
                      <a:solidFill>
                        <a:srgbClr val="d6eaf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4" name="Text 13"/>
          <p:cNvSpPr/>
          <p:nvPr/>
        </p:nvSpPr>
        <p:spPr>
          <a:xfrm>
            <a:off x="4892040" y="3246120"/>
            <a:ext cx="3840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Somma = 178   →   σ_B = √(178/5) ≈ 5,97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4"/>
          <p:cNvSpPr/>
          <p:nvPr/>
        </p:nvSpPr>
        <p:spPr>
          <a:xfrm>
            <a:off x="4892040" y="376740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Dati molto dispersi attorno alla media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5"/>
          <p:cNvSpPr/>
          <p:nvPr/>
        </p:nvSpPr>
        <p:spPr>
          <a:xfrm>
            <a:off x="365760" y="45262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Stessa media (μ=10) ma σ diversissima → la deviazione standard cattura la dispersione!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🌳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Alberi Decisionali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Decisioni spiegabili con regole if-then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Alberi Decisionali – Struttura e Funzionamento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Un albero decisionale è una struttura gerarchica che prende decisioni tramite domande Sì/No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5"/>
          <p:cNvSpPr/>
          <p:nvPr/>
        </p:nvSpPr>
        <p:spPr>
          <a:xfrm>
            <a:off x="3429000" y="1207080"/>
            <a:ext cx="2285640" cy="475200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3429000" y="1207080"/>
            <a:ext cx="2285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🌧️  Piove?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7"/>
          <p:cNvSpPr/>
          <p:nvPr/>
        </p:nvSpPr>
        <p:spPr>
          <a:xfrm>
            <a:off x="822960" y="2148840"/>
            <a:ext cx="2285640" cy="475200"/>
          </a:xfrm>
          <a:prstGeom prst="rect">
            <a:avLst/>
          </a:prstGeom>
          <a:solidFill>
            <a:srgbClr val="1b4f72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822960" y="2148840"/>
            <a:ext cx="2285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⛅  Nuvoloso?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9"/>
          <p:cNvSpPr/>
          <p:nvPr/>
        </p:nvSpPr>
        <p:spPr>
          <a:xfrm>
            <a:off x="6035040" y="2148840"/>
            <a:ext cx="2285640" cy="475200"/>
          </a:xfrm>
          <a:prstGeom prst="rect">
            <a:avLst/>
          </a:prstGeom>
          <a:solidFill>
            <a:srgbClr val="10b981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0"/>
          <p:cNvSpPr/>
          <p:nvPr/>
        </p:nvSpPr>
        <p:spPr>
          <a:xfrm>
            <a:off x="6035040" y="2148840"/>
            <a:ext cx="2285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☂️  PORTA L'OMBRELLO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1"/>
          <p:cNvSpPr/>
          <p:nvPr/>
        </p:nvSpPr>
        <p:spPr>
          <a:xfrm>
            <a:off x="137160" y="3063240"/>
            <a:ext cx="2285640" cy="475200"/>
          </a:xfrm>
          <a:prstGeom prst="rect">
            <a:avLst/>
          </a:prstGeom>
          <a:solidFill>
            <a:srgbClr val="10b981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2"/>
          <p:cNvSpPr/>
          <p:nvPr/>
        </p:nvSpPr>
        <p:spPr>
          <a:xfrm>
            <a:off x="137160" y="3063240"/>
            <a:ext cx="2285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☁️  PORTA L'OMBRELLO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3"/>
          <p:cNvSpPr/>
          <p:nvPr/>
        </p:nvSpPr>
        <p:spPr>
          <a:xfrm>
            <a:off x="2971800" y="3063240"/>
            <a:ext cx="2285640" cy="475200"/>
          </a:xfrm>
          <a:prstGeom prst="rect">
            <a:avLst/>
          </a:prstGeom>
          <a:solidFill>
            <a:srgbClr val="f59e0b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4"/>
          <p:cNvSpPr/>
          <p:nvPr/>
        </p:nvSpPr>
        <p:spPr>
          <a:xfrm>
            <a:off x="2971800" y="3063240"/>
            <a:ext cx="2285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☀️  NON SERVE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5"/>
          <p:cNvSpPr/>
          <p:nvPr/>
        </p:nvSpPr>
        <p:spPr>
          <a:xfrm>
            <a:off x="4572000" y="1691640"/>
            <a:ext cx="360" cy="457200"/>
          </a:xfrm>
          <a:prstGeom prst="line">
            <a:avLst/>
          </a:prstGeom>
          <a:ln w="1905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6"/>
          <p:cNvSpPr/>
          <p:nvPr/>
        </p:nvSpPr>
        <p:spPr>
          <a:xfrm flipH="1">
            <a:off x="1280160" y="2148840"/>
            <a:ext cx="2926080" cy="360"/>
          </a:xfrm>
          <a:prstGeom prst="line">
            <a:avLst/>
          </a:prstGeom>
          <a:ln w="1905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7"/>
          <p:cNvSpPr/>
          <p:nvPr/>
        </p:nvSpPr>
        <p:spPr>
          <a:xfrm>
            <a:off x="7178040" y="2148840"/>
            <a:ext cx="795240" cy="360"/>
          </a:xfrm>
          <a:prstGeom prst="line">
            <a:avLst/>
          </a:prstGeom>
          <a:ln w="1905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8"/>
          <p:cNvSpPr/>
          <p:nvPr/>
        </p:nvSpPr>
        <p:spPr>
          <a:xfrm>
            <a:off x="1965960" y="2624040"/>
            <a:ext cx="360" cy="439200"/>
          </a:xfrm>
          <a:prstGeom prst="line">
            <a:avLst/>
          </a:prstGeom>
          <a:ln w="1905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9"/>
          <p:cNvSpPr/>
          <p:nvPr/>
        </p:nvSpPr>
        <p:spPr>
          <a:xfrm flipH="1">
            <a:off x="576000" y="3063240"/>
            <a:ext cx="704160" cy="360"/>
          </a:xfrm>
          <a:prstGeom prst="line">
            <a:avLst/>
          </a:prstGeom>
          <a:ln w="1905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20"/>
          <p:cNvSpPr/>
          <p:nvPr/>
        </p:nvSpPr>
        <p:spPr>
          <a:xfrm>
            <a:off x="3108960" y="3063240"/>
            <a:ext cx="1161000" cy="360"/>
          </a:xfrm>
          <a:prstGeom prst="line">
            <a:avLst/>
          </a:prstGeom>
          <a:ln w="1905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1"/>
          <p:cNvSpPr/>
          <p:nvPr/>
        </p:nvSpPr>
        <p:spPr>
          <a:xfrm>
            <a:off x="2743200" y="1892880"/>
            <a:ext cx="1371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NO →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2"/>
          <p:cNvSpPr/>
          <p:nvPr/>
        </p:nvSpPr>
        <p:spPr>
          <a:xfrm>
            <a:off x="5120640" y="1892880"/>
            <a:ext cx="1371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← SÌ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3"/>
          <p:cNvSpPr/>
          <p:nvPr/>
        </p:nvSpPr>
        <p:spPr>
          <a:xfrm>
            <a:off x="1508760" y="274320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SÌ ↗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4"/>
          <p:cNvSpPr/>
          <p:nvPr/>
        </p:nvSpPr>
        <p:spPr>
          <a:xfrm>
            <a:off x="2743200" y="274320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NO ↘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5"/>
          <p:cNvSpPr/>
          <p:nvPr/>
        </p:nvSpPr>
        <p:spPr>
          <a:xfrm>
            <a:off x="365760" y="365760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Componenti dell'albero: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6"/>
          <p:cNvSpPr/>
          <p:nvPr/>
        </p:nvSpPr>
        <p:spPr>
          <a:xfrm>
            <a:off x="365760" y="395028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Nodo Radice: prima domanda (la più informativa)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Nodi Interni: domande sui dati (test su feature)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Foglie: decisione finale / classe assegnata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Alberi Decisionali – Criteri di Costruzione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Come sceglie l'algoritmo la domanda migliore in ogni nodo?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320040" y="1207080"/>
            <a:ext cx="411444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320040" y="1207080"/>
            <a:ext cx="63720" cy="1919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457200" y="129852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Indice di Gini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8"/>
          <p:cNvSpPr/>
          <p:nvPr/>
        </p:nvSpPr>
        <p:spPr>
          <a:xfrm>
            <a:off x="457200" y="1554480"/>
            <a:ext cx="388584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Misura l'impurità di un nodo: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 = 1 - Σ pᵢ²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Obiettivo: minimizzare il Gini dei nodi figli.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G=0 → nodo puro (tutti stessa classe)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G=0.5 → massima impurità (50/50)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4709160" y="1207080"/>
            <a:ext cx="411444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0"/>
          <p:cNvSpPr/>
          <p:nvPr/>
        </p:nvSpPr>
        <p:spPr>
          <a:xfrm>
            <a:off x="4709160" y="1207080"/>
            <a:ext cx="63720" cy="1919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1"/>
          <p:cNvSpPr/>
          <p:nvPr/>
        </p:nvSpPr>
        <p:spPr>
          <a:xfrm>
            <a:off x="4846320" y="129852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b4f72"/>
                </a:solidFill>
                <a:effectLst/>
                <a:uFillTx/>
                <a:latin typeface="Calibri"/>
                <a:ea typeface="Calibri"/>
              </a:rPr>
              <a:t>Entropia / Information Gain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2"/>
          <p:cNvSpPr/>
          <p:nvPr/>
        </p:nvSpPr>
        <p:spPr>
          <a:xfrm>
            <a:off x="4846320" y="1554480"/>
            <a:ext cx="388584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Alternativa al Gini: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H = -Σ pᵢ · log₂(pᵢ)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Information Gain = impurità padre - media impurità figli.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Si sceglie lo split con IG massimo.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3"/>
          <p:cNvSpPr/>
          <p:nvPr/>
        </p:nvSpPr>
        <p:spPr>
          <a:xfrm>
            <a:off x="320040" y="3246120"/>
            <a:ext cx="850356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4"/>
          <p:cNvSpPr/>
          <p:nvPr/>
        </p:nvSpPr>
        <p:spPr>
          <a:xfrm>
            <a:off x="457200" y="331920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Criteri di arresto (evitare overfitting)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5"/>
          <p:cNvSpPr/>
          <p:nvPr/>
        </p:nvSpPr>
        <p:spPr>
          <a:xfrm>
            <a:off x="457200" y="363924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Profondità massima dell'albero (max_depth): alberi profondi → overfitting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Numero minimo di campioni per creare un nodo (min_samples_split)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Riduzione minima dell'impurità: se lo split migliora poco, ci si ferma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6"/>
          <p:cNvSpPr/>
          <p:nvPr/>
        </p:nvSpPr>
        <p:spPr>
          <a:xfrm>
            <a:off x="365760" y="470016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Libreria Python: sklearn.tree.DecisionTreeClassifier(max_depth=4, criterion='gini')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Alberi Decisionali – Caso Pratico: Assistenza Tecnica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Problema: classificare le richieste di assistenza tecnica per priorità (bassa/media/alta)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365760" y="1188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Feature di input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365760" y="1508760"/>
            <a:ext cx="3931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Tipo_problema: software / hardware / rete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Numero_utenti_coinvolti: 1 / 2-5 / &gt;5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Impatto_servizio: basso / medio / alto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Urgenza_dichiarata: bassa / media / alta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7"/>
          <p:cNvSpPr/>
          <p:nvPr/>
        </p:nvSpPr>
        <p:spPr>
          <a:xfrm>
            <a:off x="4572000" y="118872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b4f72"/>
                </a:solidFill>
                <a:effectLst/>
                <a:uFillTx/>
                <a:latin typeface="Calibri"/>
              </a:rPr>
              <a:t>Pipeline implementativa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8"/>
          <p:cNvSpPr/>
          <p:nvPr/>
        </p:nvSpPr>
        <p:spPr>
          <a:xfrm>
            <a:off x="4572000" y="1536120"/>
            <a:ext cx="319680" cy="3196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9"/>
          <p:cNvSpPr/>
          <p:nvPr/>
        </p:nvSpPr>
        <p:spPr>
          <a:xfrm>
            <a:off x="4572000" y="15361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0"/>
          <p:cNvSpPr/>
          <p:nvPr/>
        </p:nvSpPr>
        <p:spPr>
          <a:xfrm>
            <a:off x="4956120" y="15454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Label Encoding variabili categoriche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1"/>
          <p:cNvSpPr/>
          <p:nvPr/>
        </p:nvSpPr>
        <p:spPr>
          <a:xfrm>
            <a:off x="4572000" y="1920240"/>
            <a:ext cx="319680" cy="3196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2"/>
          <p:cNvSpPr/>
          <p:nvPr/>
        </p:nvSpPr>
        <p:spPr>
          <a:xfrm>
            <a:off x="4572000" y="19202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3"/>
          <p:cNvSpPr/>
          <p:nvPr/>
        </p:nvSpPr>
        <p:spPr>
          <a:xfrm>
            <a:off x="4956120" y="19292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Split: 70% training / 30% test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4"/>
          <p:cNvSpPr/>
          <p:nvPr/>
        </p:nvSpPr>
        <p:spPr>
          <a:xfrm>
            <a:off x="4572000" y="2304360"/>
            <a:ext cx="319680" cy="3196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5"/>
          <p:cNvSpPr/>
          <p:nvPr/>
        </p:nvSpPr>
        <p:spPr>
          <a:xfrm>
            <a:off x="4572000" y="23043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6"/>
          <p:cNvSpPr/>
          <p:nvPr/>
        </p:nvSpPr>
        <p:spPr>
          <a:xfrm>
            <a:off x="4956120" y="23133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DecisionTree con max_depth=4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7"/>
          <p:cNvSpPr/>
          <p:nvPr/>
        </p:nvSpPr>
        <p:spPr>
          <a:xfrm>
            <a:off x="4572000" y="2688480"/>
            <a:ext cx="319680" cy="3196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8"/>
          <p:cNvSpPr/>
          <p:nvPr/>
        </p:nvSpPr>
        <p:spPr>
          <a:xfrm>
            <a:off x="4572000" y="26884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9"/>
          <p:cNvSpPr/>
          <p:nvPr/>
        </p:nvSpPr>
        <p:spPr>
          <a:xfrm>
            <a:off x="4956120" y="26974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Valutazione con accuratezza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0"/>
          <p:cNvSpPr/>
          <p:nvPr/>
        </p:nvSpPr>
        <p:spPr>
          <a:xfrm>
            <a:off x="4572000" y="3072240"/>
            <a:ext cx="319680" cy="3196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1"/>
          <p:cNvSpPr/>
          <p:nvPr/>
        </p:nvSpPr>
        <p:spPr>
          <a:xfrm>
            <a:off x="4572000" y="30722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2"/>
          <p:cNvSpPr/>
          <p:nvPr/>
        </p:nvSpPr>
        <p:spPr>
          <a:xfrm>
            <a:off x="4956120" y="30816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Salvataggio modello + encoder su file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3"/>
          <p:cNvSpPr/>
          <p:nvPr/>
        </p:nvSpPr>
        <p:spPr>
          <a:xfrm>
            <a:off x="4572000" y="3456360"/>
            <a:ext cx="319680" cy="3196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4"/>
          <p:cNvSpPr/>
          <p:nvPr/>
        </p:nvSpPr>
        <p:spPr>
          <a:xfrm>
            <a:off x="4572000" y="34563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5"/>
          <p:cNvSpPr/>
          <p:nvPr/>
        </p:nvSpPr>
        <p:spPr>
          <a:xfrm>
            <a:off x="4956120" y="34657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Previsione nuove richieste in produzione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6"/>
          <p:cNvSpPr/>
          <p:nvPr/>
        </p:nvSpPr>
        <p:spPr>
          <a:xfrm>
            <a:off x="320040" y="3703320"/>
            <a:ext cx="8503560" cy="658080"/>
          </a:xfrm>
          <a:prstGeom prst="rect">
            <a:avLst/>
          </a:prstGeom>
          <a:solidFill>
            <a:srgbClr val="e8f4fd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7"/>
          <p:cNvSpPr/>
          <p:nvPr/>
        </p:nvSpPr>
        <p:spPr>
          <a:xfrm>
            <a:off x="457200" y="376740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i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Regola imparata (esempio): Se Impatto=alto E Urgenza=alta → Priorità ALTA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Alberi Decisionali – Pro e Contro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4"/>
          <p:cNvSpPr/>
          <p:nvPr/>
        </p:nvSpPr>
        <p:spPr>
          <a:xfrm>
            <a:off x="320040" y="777240"/>
            <a:ext cx="4114440" cy="352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5"/>
          <p:cNvSpPr/>
          <p:nvPr/>
        </p:nvSpPr>
        <p:spPr>
          <a:xfrm>
            <a:off x="320040" y="777240"/>
            <a:ext cx="4114440" cy="5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411480" y="8870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✅  Vantaggi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7"/>
          <p:cNvSpPr/>
          <p:nvPr/>
        </p:nvSpPr>
        <p:spPr>
          <a:xfrm>
            <a:off x="411480" y="1298520"/>
            <a:ext cx="39315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Altissima interpretabilità: si possono leggere le regole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Funziona con dati categorici e numerici senza preprocessing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Nessuna assunzione di linearità sui dati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Facile da spiegare a non esperti (anche la nonna capisce!)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Permette di capire PERCHÉ è stata presa una decisione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8"/>
          <p:cNvSpPr/>
          <p:nvPr/>
        </p:nvSpPr>
        <p:spPr>
          <a:xfrm>
            <a:off x="4709160" y="777240"/>
            <a:ext cx="4114440" cy="352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9"/>
          <p:cNvSpPr/>
          <p:nvPr/>
        </p:nvSpPr>
        <p:spPr>
          <a:xfrm>
            <a:off x="4709160" y="777240"/>
            <a:ext cx="4114440" cy="5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4800600" y="8870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❌  Svantaggi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1"/>
          <p:cNvSpPr/>
          <p:nvPr/>
        </p:nvSpPr>
        <p:spPr>
          <a:xfrm>
            <a:off x="4800600" y="1298520"/>
            <a:ext cx="39315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Tendenza all'overfitting se l'albero cresce troppo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Alta varianza: piccole variazioni nei dati → albero diverso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Prestazioni inferiori a modelli ensemble (es. Random Forest)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Non cattura bene relazioni lineari continue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2"/>
          <p:cNvSpPr/>
          <p:nvPr/>
        </p:nvSpPr>
        <p:spPr>
          <a:xfrm>
            <a:off x="320040" y="446220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💡  Soluzione al problema dell'overfitting → Random Forest (molti alberi insieme)!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⚔️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Support Vector Machine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Il confine di separazione ottimale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SVM – Principio del Margine Massimo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L'idea: trovare il confine che separa le classi con il MASSIMO margine possibile.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5"/>
          <p:cNvSpPr/>
          <p:nvPr/>
        </p:nvSpPr>
        <p:spPr>
          <a:xfrm>
            <a:off x="320040" y="1207080"/>
            <a:ext cx="411444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6"/>
          <p:cNvSpPr/>
          <p:nvPr/>
        </p:nvSpPr>
        <p:spPr>
          <a:xfrm>
            <a:off x="320040" y="1207080"/>
            <a:ext cx="63720" cy="1096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7"/>
          <p:cNvSpPr/>
          <p:nvPr/>
        </p:nvSpPr>
        <p:spPr>
          <a:xfrm>
            <a:off x="457200" y="129852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Cosa sono i Support Vectors?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8"/>
          <p:cNvSpPr/>
          <p:nvPr/>
        </p:nvSpPr>
        <p:spPr>
          <a:xfrm>
            <a:off x="457200" y="1554480"/>
            <a:ext cx="388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 punti più vicini al confine decisionale.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Sono i soli a determinare la posizione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otti la del confine — gli altri non contano.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9"/>
          <p:cNvSpPr/>
          <p:nvPr/>
        </p:nvSpPr>
        <p:spPr>
          <a:xfrm>
            <a:off x="320040" y="2395800"/>
            <a:ext cx="411444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0"/>
          <p:cNvSpPr/>
          <p:nvPr/>
        </p:nvSpPr>
        <p:spPr>
          <a:xfrm>
            <a:off x="320040" y="2395800"/>
            <a:ext cx="63720" cy="1188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1"/>
          <p:cNvSpPr/>
          <p:nvPr/>
        </p:nvSpPr>
        <p:spPr>
          <a:xfrm>
            <a:off x="457200" y="24872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b4f72"/>
                </a:solidFill>
                <a:effectLst/>
                <a:uFillTx/>
                <a:latin typeface="Calibri"/>
                <a:ea typeface="Calibri"/>
              </a:rPr>
              <a:t>Perché il margine massimo?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2"/>
          <p:cNvSpPr/>
          <p:nvPr/>
        </p:nvSpPr>
        <p:spPr>
          <a:xfrm>
            <a:off x="457200" y="2743200"/>
            <a:ext cx="3885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Un confine con ampio margine è più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generalizzabile su dati nuovi.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Riduce il rischio di overfitting.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3"/>
          <p:cNvSpPr/>
          <p:nvPr/>
        </p:nvSpPr>
        <p:spPr>
          <a:xfrm>
            <a:off x="320040" y="367596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4"/>
          <p:cNvSpPr/>
          <p:nvPr/>
        </p:nvSpPr>
        <p:spPr>
          <a:xfrm>
            <a:off x="320040" y="3675960"/>
            <a:ext cx="63720" cy="1005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5"/>
          <p:cNvSpPr/>
          <p:nvPr/>
        </p:nvSpPr>
        <p:spPr>
          <a:xfrm>
            <a:off x="457200" y="376740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Kernel Trick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6"/>
          <p:cNvSpPr/>
          <p:nvPr/>
        </p:nvSpPr>
        <p:spPr>
          <a:xfrm>
            <a:off x="457200" y="4023360"/>
            <a:ext cx="3885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Se le classi non sono separabili in 2D,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SVM proietta i dati in spazio superiore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dove diventano separabili.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7"/>
          <p:cNvSpPr/>
          <p:nvPr/>
        </p:nvSpPr>
        <p:spPr>
          <a:xfrm>
            <a:off x="4754880" y="1207080"/>
            <a:ext cx="4068720" cy="356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8"/>
          <p:cNvSpPr/>
          <p:nvPr/>
        </p:nvSpPr>
        <p:spPr>
          <a:xfrm>
            <a:off x="4846320" y="1298520"/>
            <a:ext cx="3885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Quando usare SVM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9"/>
          <p:cNvSpPr/>
          <p:nvPr/>
        </p:nvSpPr>
        <p:spPr>
          <a:xfrm>
            <a:off x="4846320" y="1664280"/>
            <a:ext cx="3885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Classificazione di immagini e testi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Riconoscimento facciale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Diagnosi mediche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Dati ad alta dimensionalità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Quando le classi sono ben separate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0"/>
          <p:cNvSpPr/>
          <p:nvPr/>
        </p:nvSpPr>
        <p:spPr>
          <a:xfrm>
            <a:off x="4846320" y="3931920"/>
            <a:ext cx="388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⚠️  Non ideale per grandi dataset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→ costoso computazionalmente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1"/>
          <p:cNvSpPr/>
          <p:nvPr/>
        </p:nvSpPr>
        <p:spPr>
          <a:xfrm>
            <a:off x="365760" y="470016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Libreria Python: sklearn.svm.SVC(kernel='rbf')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🔵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K-Means Clustering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Apprendimento non supervisionato — trovare gruppi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K-Means – L'Algoritmo Passo per Passo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K-Means è non supervisionato: non ci sono etichette, l'algoritmo trova i gruppi da solo.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5"/>
          <p:cNvSpPr/>
          <p:nvPr/>
        </p:nvSpPr>
        <p:spPr>
          <a:xfrm>
            <a:off x="320040" y="1207080"/>
            <a:ext cx="45684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320040" y="1207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7"/>
          <p:cNvSpPr/>
          <p:nvPr/>
        </p:nvSpPr>
        <p:spPr>
          <a:xfrm>
            <a:off x="868680" y="1207080"/>
            <a:ext cx="3931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8"/>
          <p:cNvSpPr/>
          <p:nvPr/>
        </p:nvSpPr>
        <p:spPr>
          <a:xfrm>
            <a:off x="960120" y="1252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Scegli K centri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9"/>
          <p:cNvSpPr/>
          <p:nvPr/>
        </p:nvSpPr>
        <p:spPr>
          <a:xfrm>
            <a:off x="960120" y="1536120"/>
            <a:ext cx="37486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Posiziona K centroidi in posizioni casuali nello spazio delle feature.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0"/>
          <p:cNvSpPr/>
          <p:nvPr/>
        </p:nvSpPr>
        <p:spPr>
          <a:xfrm>
            <a:off x="320040" y="2011680"/>
            <a:ext cx="45684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1"/>
          <p:cNvSpPr/>
          <p:nvPr/>
        </p:nvSpPr>
        <p:spPr>
          <a:xfrm>
            <a:off x="320040" y="2011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2"/>
          <p:cNvSpPr/>
          <p:nvPr/>
        </p:nvSpPr>
        <p:spPr>
          <a:xfrm>
            <a:off x="868680" y="2011680"/>
            <a:ext cx="3931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3"/>
          <p:cNvSpPr/>
          <p:nvPr/>
        </p:nvSpPr>
        <p:spPr>
          <a:xfrm>
            <a:off x="960120" y="20574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Assegna i punti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4"/>
          <p:cNvSpPr/>
          <p:nvPr/>
        </p:nvSpPr>
        <p:spPr>
          <a:xfrm>
            <a:off x="960120" y="2340720"/>
            <a:ext cx="37486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Ogni punto viene assegnato al centroide più vicino (distanza euclidea).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5"/>
          <p:cNvSpPr/>
          <p:nvPr/>
        </p:nvSpPr>
        <p:spPr>
          <a:xfrm>
            <a:off x="320040" y="2816280"/>
            <a:ext cx="45684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6"/>
          <p:cNvSpPr/>
          <p:nvPr/>
        </p:nvSpPr>
        <p:spPr>
          <a:xfrm>
            <a:off x="320040" y="2816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7"/>
          <p:cNvSpPr/>
          <p:nvPr/>
        </p:nvSpPr>
        <p:spPr>
          <a:xfrm>
            <a:off x="868680" y="2816280"/>
            <a:ext cx="3931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8"/>
          <p:cNvSpPr/>
          <p:nvPr/>
        </p:nvSpPr>
        <p:spPr>
          <a:xfrm>
            <a:off x="960120" y="28620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Ricalcola centri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9"/>
          <p:cNvSpPr/>
          <p:nvPr/>
        </p:nvSpPr>
        <p:spPr>
          <a:xfrm>
            <a:off x="960120" y="3145680"/>
            <a:ext cx="37486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Sposta ogni centroide alla media geometrica dei punti del suo cluster.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0"/>
          <p:cNvSpPr/>
          <p:nvPr/>
        </p:nvSpPr>
        <p:spPr>
          <a:xfrm>
            <a:off x="320040" y="3620880"/>
            <a:ext cx="45684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1"/>
          <p:cNvSpPr/>
          <p:nvPr/>
        </p:nvSpPr>
        <p:spPr>
          <a:xfrm>
            <a:off x="320040" y="3620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2"/>
          <p:cNvSpPr/>
          <p:nvPr/>
        </p:nvSpPr>
        <p:spPr>
          <a:xfrm>
            <a:off x="868680" y="3620880"/>
            <a:ext cx="3931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3"/>
          <p:cNvSpPr/>
          <p:nvPr/>
        </p:nvSpPr>
        <p:spPr>
          <a:xfrm>
            <a:off x="960120" y="36666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Ripeti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4"/>
          <p:cNvSpPr/>
          <p:nvPr/>
        </p:nvSpPr>
        <p:spPr>
          <a:xfrm>
            <a:off x="960120" y="3950280"/>
            <a:ext cx="37486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Ripeti i passi 2 e 3 fino a quando i centroidi non si spostano più (convergenza).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5"/>
          <p:cNvSpPr/>
          <p:nvPr/>
        </p:nvSpPr>
        <p:spPr>
          <a:xfrm>
            <a:off x="5166360" y="1207080"/>
            <a:ext cx="370296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6"/>
          <p:cNvSpPr/>
          <p:nvPr/>
        </p:nvSpPr>
        <p:spPr>
          <a:xfrm>
            <a:off x="5257800" y="12985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Scegliere K — Metodo del Gomito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7"/>
          <p:cNvSpPr/>
          <p:nvPr/>
        </p:nvSpPr>
        <p:spPr>
          <a:xfrm>
            <a:off x="5257800" y="1664280"/>
            <a:ext cx="35200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1. Prova K = 1, 2, 3, 4, 5...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2. Per ogni K calcola l'inerzia (somma distanze dai centri)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3. Traccia il grafico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4. Scegli il K dove la curva fa un 'gomito'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8"/>
          <p:cNvSpPr/>
          <p:nvPr/>
        </p:nvSpPr>
        <p:spPr>
          <a:xfrm>
            <a:off x="5257800" y="3154680"/>
            <a:ext cx="3200400" cy="360"/>
          </a:xfrm>
          <a:prstGeom prst="line">
            <a:avLst/>
          </a:prstGeom>
          <a:ln w="1905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29"/>
          <p:cNvSpPr/>
          <p:nvPr/>
        </p:nvSpPr>
        <p:spPr>
          <a:xfrm flipV="1">
            <a:off x="5257800" y="1874520"/>
            <a:ext cx="360" cy="1280160"/>
          </a:xfrm>
          <a:prstGeom prst="line">
            <a:avLst/>
          </a:prstGeom>
          <a:ln w="1905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30"/>
          <p:cNvSpPr/>
          <p:nvPr/>
        </p:nvSpPr>
        <p:spPr>
          <a:xfrm flipV="1">
            <a:off x="5349240" y="2514600"/>
            <a:ext cx="365760" cy="548640"/>
          </a:xfrm>
          <a:prstGeom prst="line">
            <a:avLst/>
          </a:prstGeom>
          <a:ln w="317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31"/>
          <p:cNvSpPr/>
          <p:nvPr/>
        </p:nvSpPr>
        <p:spPr>
          <a:xfrm flipV="1">
            <a:off x="5715000" y="2103120"/>
            <a:ext cx="365760" cy="411480"/>
          </a:xfrm>
          <a:prstGeom prst="line">
            <a:avLst/>
          </a:prstGeom>
          <a:ln w="317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2"/>
          <p:cNvSpPr/>
          <p:nvPr/>
        </p:nvSpPr>
        <p:spPr>
          <a:xfrm flipV="1">
            <a:off x="6080760" y="1965960"/>
            <a:ext cx="365760" cy="137160"/>
          </a:xfrm>
          <a:prstGeom prst="line">
            <a:avLst/>
          </a:prstGeom>
          <a:ln w="317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33"/>
          <p:cNvSpPr/>
          <p:nvPr/>
        </p:nvSpPr>
        <p:spPr>
          <a:xfrm flipV="1">
            <a:off x="6446520" y="1901880"/>
            <a:ext cx="365760" cy="64080"/>
          </a:xfrm>
          <a:prstGeom prst="line">
            <a:avLst/>
          </a:prstGeom>
          <a:ln w="317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34"/>
          <p:cNvSpPr/>
          <p:nvPr/>
        </p:nvSpPr>
        <p:spPr>
          <a:xfrm flipV="1">
            <a:off x="6812280" y="1865160"/>
            <a:ext cx="365760" cy="36720"/>
          </a:xfrm>
          <a:prstGeom prst="line">
            <a:avLst/>
          </a:prstGeom>
          <a:ln w="317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35"/>
          <p:cNvSpPr/>
          <p:nvPr/>
        </p:nvSpPr>
        <p:spPr>
          <a:xfrm>
            <a:off x="6035040" y="2030040"/>
            <a:ext cx="228240" cy="228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6"/>
          <p:cNvSpPr/>
          <p:nvPr/>
        </p:nvSpPr>
        <p:spPr>
          <a:xfrm>
            <a:off x="6291000" y="20300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K=3 ←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37"/>
          <p:cNvSpPr/>
          <p:nvPr/>
        </p:nvSpPr>
        <p:spPr>
          <a:xfrm>
            <a:off x="8229600" y="320040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K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38"/>
          <p:cNvSpPr/>
          <p:nvPr/>
        </p:nvSpPr>
        <p:spPr>
          <a:xfrm>
            <a:off x="5120640" y="169164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Inerzia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39"/>
          <p:cNvSpPr/>
          <p:nvPr/>
        </p:nvSpPr>
        <p:spPr>
          <a:xfrm>
            <a:off x="365760" y="470016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Libreria Python: sklearn.cluster.KMeans(n_clusters=3)  |  Alternativa: DBSCAN (gruppi irregolari)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🧠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Reti Neurali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Il cervello artificiale del Machine Learning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Reti Neurali – Architettura e Funzionamento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Ispirate al funzionamento del cervello biologico: neuroni artificiali che elaborano segnali.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5"/>
          <p:cNvSpPr/>
          <p:nvPr/>
        </p:nvSpPr>
        <p:spPr>
          <a:xfrm flipV="1">
            <a:off x="859320" y="1792080"/>
            <a:ext cx="1518120" cy="10044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6"/>
          <p:cNvSpPr/>
          <p:nvPr/>
        </p:nvSpPr>
        <p:spPr>
          <a:xfrm>
            <a:off x="859320" y="1892520"/>
            <a:ext cx="1518120" cy="30204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7"/>
          <p:cNvSpPr/>
          <p:nvPr/>
        </p:nvSpPr>
        <p:spPr>
          <a:xfrm>
            <a:off x="859320" y="1892520"/>
            <a:ext cx="1518120" cy="70416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8"/>
          <p:cNvSpPr/>
          <p:nvPr/>
        </p:nvSpPr>
        <p:spPr>
          <a:xfrm>
            <a:off x="859320" y="1892520"/>
            <a:ext cx="1518120" cy="110664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9"/>
          <p:cNvSpPr/>
          <p:nvPr/>
        </p:nvSpPr>
        <p:spPr>
          <a:xfrm flipV="1">
            <a:off x="859320" y="1792080"/>
            <a:ext cx="1518120" cy="60336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0"/>
          <p:cNvSpPr/>
          <p:nvPr/>
        </p:nvSpPr>
        <p:spPr>
          <a:xfrm flipV="1">
            <a:off x="859320" y="2194560"/>
            <a:ext cx="1518120" cy="20088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1"/>
          <p:cNvSpPr/>
          <p:nvPr/>
        </p:nvSpPr>
        <p:spPr>
          <a:xfrm>
            <a:off x="859320" y="2395440"/>
            <a:ext cx="1518120" cy="20124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2"/>
          <p:cNvSpPr/>
          <p:nvPr/>
        </p:nvSpPr>
        <p:spPr>
          <a:xfrm>
            <a:off x="859320" y="2395440"/>
            <a:ext cx="1518120" cy="60372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3"/>
          <p:cNvSpPr/>
          <p:nvPr/>
        </p:nvSpPr>
        <p:spPr>
          <a:xfrm flipV="1">
            <a:off x="859320" y="1792080"/>
            <a:ext cx="1518120" cy="110628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4"/>
          <p:cNvSpPr/>
          <p:nvPr/>
        </p:nvSpPr>
        <p:spPr>
          <a:xfrm flipV="1">
            <a:off x="859320" y="2194560"/>
            <a:ext cx="1518120" cy="70380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5"/>
          <p:cNvSpPr/>
          <p:nvPr/>
        </p:nvSpPr>
        <p:spPr>
          <a:xfrm flipV="1">
            <a:off x="859320" y="2596680"/>
            <a:ext cx="1518120" cy="30168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6"/>
          <p:cNvSpPr/>
          <p:nvPr/>
        </p:nvSpPr>
        <p:spPr>
          <a:xfrm>
            <a:off x="859320" y="2898360"/>
            <a:ext cx="1518120" cy="10080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7"/>
          <p:cNvSpPr/>
          <p:nvPr/>
        </p:nvSpPr>
        <p:spPr>
          <a:xfrm>
            <a:off x="2779560" y="1792080"/>
            <a:ext cx="1518120" cy="10044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8"/>
          <p:cNvSpPr/>
          <p:nvPr/>
        </p:nvSpPr>
        <p:spPr>
          <a:xfrm>
            <a:off x="2779560" y="1792080"/>
            <a:ext cx="1518120" cy="60336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19"/>
          <p:cNvSpPr/>
          <p:nvPr/>
        </p:nvSpPr>
        <p:spPr>
          <a:xfrm>
            <a:off x="2779560" y="1792080"/>
            <a:ext cx="1518120" cy="110628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20"/>
          <p:cNvSpPr/>
          <p:nvPr/>
        </p:nvSpPr>
        <p:spPr>
          <a:xfrm flipV="1">
            <a:off x="2779560" y="1892520"/>
            <a:ext cx="1518120" cy="30204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1"/>
          <p:cNvSpPr/>
          <p:nvPr/>
        </p:nvSpPr>
        <p:spPr>
          <a:xfrm>
            <a:off x="2779560" y="2194560"/>
            <a:ext cx="1518120" cy="20088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22"/>
          <p:cNvSpPr/>
          <p:nvPr/>
        </p:nvSpPr>
        <p:spPr>
          <a:xfrm>
            <a:off x="2779560" y="2194560"/>
            <a:ext cx="1518120" cy="70380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3"/>
          <p:cNvSpPr/>
          <p:nvPr/>
        </p:nvSpPr>
        <p:spPr>
          <a:xfrm flipV="1">
            <a:off x="2779560" y="1892520"/>
            <a:ext cx="1518120" cy="70416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24"/>
          <p:cNvSpPr/>
          <p:nvPr/>
        </p:nvSpPr>
        <p:spPr>
          <a:xfrm flipV="1">
            <a:off x="2779560" y="2395440"/>
            <a:ext cx="1518120" cy="20124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5"/>
          <p:cNvSpPr/>
          <p:nvPr/>
        </p:nvSpPr>
        <p:spPr>
          <a:xfrm>
            <a:off x="2779560" y="2596680"/>
            <a:ext cx="1518120" cy="30168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6"/>
          <p:cNvSpPr/>
          <p:nvPr/>
        </p:nvSpPr>
        <p:spPr>
          <a:xfrm flipV="1">
            <a:off x="2779560" y="1892520"/>
            <a:ext cx="1518120" cy="110664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7"/>
          <p:cNvSpPr/>
          <p:nvPr/>
        </p:nvSpPr>
        <p:spPr>
          <a:xfrm flipV="1">
            <a:off x="2779560" y="2395440"/>
            <a:ext cx="1518120" cy="60372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28"/>
          <p:cNvSpPr/>
          <p:nvPr/>
        </p:nvSpPr>
        <p:spPr>
          <a:xfrm flipV="1">
            <a:off x="2779560" y="2898360"/>
            <a:ext cx="1518120" cy="10080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9"/>
          <p:cNvSpPr/>
          <p:nvPr/>
        </p:nvSpPr>
        <p:spPr>
          <a:xfrm>
            <a:off x="4699800" y="1892520"/>
            <a:ext cx="1518120" cy="16776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30"/>
          <p:cNvSpPr/>
          <p:nvPr/>
        </p:nvSpPr>
        <p:spPr>
          <a:xfrm>
            <a:off x="4699800" y="1892520"/>
            <a:ext cx="1518120" cy="83844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31"/>
          <p:cNvSpPr/>
          <p:nvPr/>
        </p:nvSpPr>
        <p:spPr>
          <a:xfrm flipV="1">
            <a:off x="4699800" y="2060280"/>
            <a:ext cx="1518120" cy="33516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32"/>
          <p:cNvSpPr/>
          <p:nvPr/>
        </p:nvSpPr>
        <p:spPr>
          <a:xfrm>
            <a:off x="4699800" y="2395440"/>
            <a:ext cx="1518120" cy="33552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33"/>
          <p:cNvSpPr/>
          <p:nvPr/>
        </p:nvSpPr>
        <p:spPr>
          <a:xfrm flipV="1">
            <a:off x="4699800" y="2060280"/>
            <a:ext cx="1518120" cy="83808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34"/>
          <p:cNvSpPr/>
          <p:nvPr/>
        </p:nvSpPr>
        <p:spPr>
          <a:xfrm flipV="1">
            <a:off x="4699800" y="2730960"/>
            <a:ext cx="1518120" cy="167400"/>
          </a:xfrm>
          <a:prstGeom prst="line">
            <a:avLst/>
          </a:prstGeom>
          <a:ln w="1016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35"/>
          <p:cNvSpPr/>
          <p:nvPr/>
        </p:nvSpPr>
        <p:spPr>
          <a:xfrm>
            <a:off x="457200" y="1691640"/>
            <a:ext cx="402120" cy="4021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36"/>
          <p:cNvSpPr/>
          <p:nvPr/>
        </p:nvSpPr>
        <p:spPr>
          <a:xfrm>
            <a:off x="457200" y="2194560"/>
            <a:ext cx="402120" cy="4021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37"/>
          <p:cNvSpPr/>
          <p:nvPr/>
        </p:nvSpPr>
        <p:spPr>
          <a:xfrm>
            <a:off x="457200" y="2697480"/>
            <a:ext cx="402120" cy="4021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38"/>
          <p:cNvSpPr/>
          <p:nvPr/>
        </p:nvSpPr>
        <p:spPr>
          <a:xfrm>
            <a:off x="182880" y="327348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Input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(feature)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39"/>
          <p:cNvSpPr/>
          <p:nvPr/>
        </p:nvSpPr>
        <p:spPr>
          <a:xfrm>
            <a:off x="2377440" y="1591200"/>
            <a:ext cx="402120" cy="402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40"/>
          <p:cNvSpPr/>
          <p:nvPr/>
        </p:nvSpPr>
        <p:spPr>
          <a:xfrm>
            <a:off x="2377440" y="1993320"/>
            <a:ext cx="402120" cy="402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41"/>
          <p:cNvSpPr/>
          <p:nvPr/>
        </p:nvSpPr>
        <p:spPr>
          <a:xfrm>
            <a:off x="2377440" y="2395800"/>
            <a:ext cx="402120" cy="402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42"/>
          <p:cNvSpPr/>
          <p:nvPr/>
        </p:nvSpPr>
        <p:spPr>
          <a:xfrm>
            <a:off x="2377440" y="2797920"/>
            <a:ext cx="402120" cy="402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43"/>
          <p:cNvSpPr/>
          <p:nvPr/>
        </p:nvSpPr>
        <p:spPr>
          <a:xfrm>
            <a:off x="2103120" y="327348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Hidden 1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(forma)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44"/>
          <p:cNvSpPr/>
          <p:nvPr/>
        </p:nvSpPr>
        <p:spPr>
          <a:xfrm>
            <a:off x="4297680" y="1691640"/>
            <a:ext cx="402120" cy="402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45"/>
          <p:cNvSpPr/>
          <p:nvPr/>
        </p:nvSpPr>
        <p:spPr>
          <a:xfrm>
            <a:off x="4297680" y="2194560"/>
            <a:ext cx="402120" cy="402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46"/>
          <p:cNvSpPr/>
          <p:nvPr/>
        </p:nvSpPr>
        <p:spPr>
          <a:xfrm>
            <a:off x="4297680" y="2697480"/>
            <a:ext cx="402120" cy="402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47"/>
          <p:cNvSpPr/>
          <p:nvPr/>
        </p:nvSpPr>
        <p:spPr>
          <a:xfrm>
            <a:off x="4023360" y="327348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Hidden 2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(pattern)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48"/>
          <p:cNvSpPr/>
          <p:nvPr/>
        </p:nvSpPr>
        <p:spPr>
          <a:xfrm>
            <a:off x="6217920" y="1859400"/>
            <a:ext cx="402120" cy="402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49"/>
          <p:cNvSpPr/>
          <p:nvPr/>
        </p:nvSpPr>
        <p:spPr>
          <a:xfrm>
            <a:off x="6217920" y="2529720"/>
            <a:ext cx="402120" cy="402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50"/>
          <p:cNvSpPr/>
          <p:nvPr/>
        </p:nvSpPr>
        <p:spPr>
          <a:xfrm>
            <a:off x="5943600" y="327348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Output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(classe)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51"/>
          <p:cNvSpPr/>
          <p:nvPr/>
        </p:nvSpPr>
        <p:spPr>
          <a:xfrm>
            <a:off x="7132320" y="1188720"/>
            <a:ext cx="173700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52"/>
          <p:cNvSpPr/>
          <p:nvPr/>
        </p:nvSpPr>
        <p:spPr>
          <a:xfrm>
            <a:off x="7132320" y="1188720"/>
            <a:ext cx="63720" cy="77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53"/>
          <p:cNvSpPr/>
          <p:nvPr/>
        </p:nvSpPr>
        <p:spPr>
          <a:xfrm>
            <a:off x="7269480" y="12801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Pesi (w)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54"/>
          <p:cNvSpPr/>
          <p:nvPr/>
        </p:nvSpPr>
        <p:spPr>
          <a:xfrm>
            <a:off x="7269480" y="1536120"/>
            <a:ext cx="15084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Ogni connessione ha un peso che viene aggiornato durante l'apprendimento.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55"/>
          <p:cNvSpPr/>
          <p:nvPr/>
        </p:nvSpPr>
        <p:spPr>
          <a:xfrm>
            <a:off x="7132320" y="2084760"/>
            <a:ext cx="173700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56"/>
          <p:cNvSpPr/>
          <p:nvPr/>
        </p:nvSpPr>
        <p:spPr>
          <a:xfrm>
            <a:off x="7132320" y="2084760"/>
            <a:ext cx="63720" cy="776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57"/>
          <p:cNvSpPr/>
          <p:nvPr/>
        </p:nvSpPr>
        <p:spPr>
          <a:xfrm>
            <a:off x="7269480" y="217620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b4f72"/>
                </a:solidFill>
                <a:effectLst/>
                <a:uFillTx/>
                <a:latin typeface="Calibri"/>
                <a:ea typeface="Calibri"/>
              </a:rPr>
              <a:t>Attivazione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58"/>
          <p:cNvSpPr/>
          <p:nvPr/>
        </p:nvSpPr>
        <p:spPr>
          <a:xfrm>
            <a:off x="7269480" y="2432160"/>
            <a:ext cx="15084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Funzione non-lineare: ReLU, Sigmoid, Tanh.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Decide se un neurone si 'attiva'.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59"/>
          <p:cNvSpPr/>
          <p:nvPr/>
        </p:nvSpPr>
        <p:spPr>
          <a:xfrm>
            <a:off x="7132320" y="2980800"/>
            <a:ext cx="173700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60"/>
          <p:cNvSpPr/>
          <p:nvPr/>
        </p:nvSpPr>
        <p:spPr>
          <a:xfrm>
            <a:off x="7132320" y="2980800"/>
            <a:ext cx="63720" cy="77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61"/>
          <p:cNvSpPr/>
          <p:nvPr/>
        </p:nvSpPr>
        <p:spPr>
          <a:xfrm>
            <a:off x="7269480" y="30722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Backprop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62"/>
          <p:cNvSpPr/>
          <p:nvPr/>
        </p:nvSpPr>
        <p:spPr>
          <a:xfrm>
            <a:off x="7269480" y="3328560"/>
            <a:ext cx="15084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Algoritmo che calcola l'errore e aggiorna i pesi nella direzione giusta.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63"/>
          <p:cNvSpPr/>
          <p:nvPr/>
        </p:nvSpPr>
        <p:spPr>
          <a:xfrm>
            <a:off x="365760" y="3383280"/>
            <a:ext cx="6583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Come impara: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64"/>
          <p:cNvSpPr/>
          <p:nvPr/>
        </p:nvSpPr>
        <p:spPr>
          <a:xfrm>
            <a:off x="365760" y="3684960"/>
            <a:ext cx="65833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Fa una previsione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Confronta con la risposta corretta (loss)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Calcola gradiente e aggiorna i pesi (backpropagation)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Ripete migliaia di volte (epoche)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65"/>
          <p:cNvSpPr/>
          <p:nvPr/>
        </p:nvSpPr>
        <p:spPr>
          <a:xfrm>
            <a:off x="365760" y="470016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Librerie Python: TensorFlow/Keras, PyTorch  |  Usi: immagini, audio, testo, guida autonoma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🌲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Foreste Casuali (Random Forest)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La saggezza della folla — ensemble di alberi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Random Forest – Dall'Albero alla Foresta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4"/>
          <p:cNvSpPr/>
          <p:nvPr/>
        </p:nvSpPr>
        <p:spPr>
          <a:xfrm>
            <a:off x="365760" y="77724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Il problema di un singolo albero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5"/>
          <p:cNvSpPr/>
          <p:nvPr/>
        </p:nvSpPr>
        <p:spPr>
          <a:xfrm>
            <a:off x="365760" y="1143000"/>
            <a:ext cx="3931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Alta varianza: piccoli cambiamenti nei dati → albero completamente diverso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Overfitting: impara anche il rumore dei dati di training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Regioni decisionali frastagliate e irregolari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6"/>
          <p:cNvSpPr/>
          <p:nvPr/>
        </p:nvSpPr>
        <p:spPr>
          <a:xfrm>
            <a:off x="4846320" y="77724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La soluzione: tanti alberi diversi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7"/>
          <p:cNvSpPr/>
          <p:nvPr/>
        </p:nvSpPr>
        <p:spPr>
          <a:xfrm>
            <a:off x="4846320" y="1143000"/>
            <a:ext cx="3977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Ogni albero vede dati diversi (bootstrap sampling)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Ogni albero considera feature diverse in ogni nodo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Gli errori dei singoli alberi si compensano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Risultato più stabile e generalizzabile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8"/>
          <p:cNvSpPr/>
          <p:nvPr/>
        </p:nvSpPr>
        <p:spPr>
          <a:xfrm>
            <a:off x="320040" y="2743200"/>
            <a:ext cx="850356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9"/>
          <p:cNvSpPr/>
          <p:nvPr/>
        </p:nvSpPr>
        <p:spPr>
          <a:xfrm>
            <a:off x="3200400" y="28162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Dati Originali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10"/>
          <p:cNvSpPr/>
          <p:nvPr/>
        </p:nvSpPr>
        <p:spPr>
          <a:xfrm>
            <a:off x="1371600" y="2834640"/>
            <a:ext cx="1554480" cy="360"/>
          </a:xfrm>
          <a:prstGeom prst="line">
            <a:avLst/>
          </a:prstGeom>
          <a:ln w="1016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11"/>
          <p:cNvSpPr/>
          <p:nvPr/>
        </p:nvSpPr>
        <p:spPr>
          <a:xfrm>
            <a:off x="548640" y="3200400"/>
            <a:ext cx="1645560" cy="456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2"/>
          <p:cNvSpPr/>
          <p:nvPr/>
        </p:nvSpPr>
        <p:spPr>
          <a:xfrm>
            <a:off x="548640" y="32004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Albero 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13"/>
          <p:cNvSpPr/>
          <p:nvPr/>
        </p:nvSpPr>
        <p:spPr>
          <a:xfrm>
            <a:off x="1051560" y="3749040"/>
            <a:ext cx="639720" cy="383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14"/>
          <p:cNvSpPr/>
          <p:nvPr/>
        </p:nvSpPr>
        <p:spPr>
          <a:xfrm>
            <a:off x="1051560" y="374904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SÌ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15"/>
          <p:cNvSpPr/>
          <p:nvPr/>
        </p:nvSpPr>
        <p:spPr>
          <a:xfrm>
            <a:off x="3200400" y="2834640"/>
            <a:ext cx="1554480" cy="360"/>
          </a:xfrm>
          <a:prstGeom prst="line">
            <a:avLst/>
          </a:prstGeom>
          <a:ln w="1016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6"/>
          <p:cNvSpPr/>
          <p:nvPr/>
        </p:nvSpPr>
        <p:spPr>
          <a:xfrm>
            <a:off x="2377440" y="3200400"/>
            <a:ext cx="1645560" cy="456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7"/>
          <p:cNvSpPr/>
          <p:nvPr/>
        </p:nvSpPr>
        <p:spPr>
          <a:xfrm>
            <a:off x="2377440" y="32004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Albero 2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8"/>
          <p:cNvSpPr/>
          <p:nvPr/>
        </p:nvSpPr>
        <p:spPr>
          <a:xfrm>
            <a:off x="2880360" y="3749040"/>
            <a:ext cx="639720" cy="383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19"/>
          <p:cNvSpPr/>
          <p:nvPr/>
        </p:nvSpPr>
        <p:spPr>
          <a:xfrm>
            <a:off x="2880360" y="374904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SÌ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20"/>
          <p:cNvSpPr/>
          <p:nvPr/>
        </p:nvSpPr>
        <p:spPr>
          <a:xfrm>
            <a:off x="5029200" y="2834640"/>
            <a:ext cx="1554480" cy="360"/>
          </a:xfrm>
          <a:prstGeom prst="line">
            <a:avLst/>
          </a:prstGeom>
          <a:ln w="1016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21"/>
          <p:cNvSpPr/>
          <p:nvPr/>
        </p:nvSpPr>
        <p:spPr>
          <a:xfrm>
            <a:off x="4206240" y="3200400"/>
            <a:ext cx="1645560" cy="456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22"/>
          <p:cNvSpPr/>
          <p:nvPr/>
        </p:nvSpPr>
        <p:spPr>
          <a:xfrm>
            <a:off x="4206240" y="32004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Albero 3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23"/>
          <p:cNvSpPr/>
          <p:nvPr/>
        </p:nvSpPr>
        <p:spPr>
          <a:xfrm>
            <a:off x="4709160" y="3749040"/>
            <a:ext cx="639720" cy="383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4"/>
          <p:cNvSpPr/>
          <p:nvPr/>
        </p:nvSpPr>
        <p:spPr>
          <a:xfrm>
            <a:off x="4709160" y="374904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25"/>
          <p:cNvSpPr/>
          <p:nvPr/>
        </p:nvSpPr>
        <p:spPr>
          <a:xfrm>
            <a:off x="6035040" y="3200400"/>
            <a:ext cx="1645560" cy="456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26"/>
          <p:cNvSpPr/>
          <p:nvPr/>
        </p:nvSpPr>
        <p:spPr>
          <a:xfrm>
            <a:off x="6035040" y="32004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Albero N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27"/>
          <p:cNvSpPr/>
          <p:nvPr/>
        </p:nvSpPr>
        <p:spPr>
          <a:xfrm>
            <a:off x="6537960" y="3749040"/>
            <a:ext cx="639720" cy="383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28"/>
          <p:cNvSpPr/>
          <p:nvPr/>
        </p:nvSpPr>
        <p:spPr>
          <a:xfrm>
            <a:off x="6537960" y="3749040"/>
            <a:ext cx="63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SÌ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29"/>
          <p:cNvSpPr/>
          <p:nvPr/>
        </p:nvSpPr>
        <p:spPr>
          <a:xfrm>
            <a:off x="2926080" y="42246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VOTO FINALE: SÌ (3 a 1)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30"/>
          <p:cNvSpPr/>
          <p:nvPr/>
        </p:nvSpPr>
        <p:spPr>
          <a:xfrm>
            <a:off x="365760" y="470016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Libreria Python: sklearn.ensemble.RandomForestClassifier(n_estimators=100)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Random Forest – Bootstrap e Casualità nelle Feature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Due fonti di casualità rendono la foresta molto più robusta di un singolo albero: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5"/>
          <p:cNvSpPr/>
          <p:nvPr/>
        </p:nvSpPr>
        <p:spPr>
          <a:xfrm>
            <a:off x="320040" y="1207080"/>
            <a:ext cx="411444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6"/>
          <p:cNvSpPr/>
          <p:nvPr/>
        </p:nvSpPr>
        <p:spPr>
          <a:xfrm>
            <a:off x="320040" y="1207080"/>
            <a:ext cx="63720" cy="1828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7"/>
          <p:cNvSpPr/>
          <p:nvPr/>
        </p:nvSpPr>
        <p:spPr>
          <a:xfrm>
            <a:off x="457200" y="129852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1. Bootstrap Sampling (Bagging)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8"/>
          <p:cNvSpPr/>
          <p:nvPr/>
        </p:nvSpPr>
        <p:spPr>
          <a:xfrm>
            <a:off x="457200" y="1554480"/>
            <a:ext cx="388584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Per ogni albero: campiona N esempi con reinserimento dal dataset originale.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→ Ogni albero vede un sottoinsieme diverso.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→ Alcuni esempi vengono ripetuti, altri non appaiono.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→ Gli alberi sono diversi tra loro.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9"/>
          <p:cNvSpPr/>
          <p:nvPr/>
        </p:nvSpPr>
        <p:spPr>
          <a:xfrm>
            <a:off x="4709160" y="1207080"/>
            <a:ext cx="411444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10"/>
          <p:cNvSpPr/>
          <p:nvPr/>
        </p:nvSpPr>
        <p:spPr>
          <a:xfrm>
            <a:off x="4709160" y="1207080"/>
            <a:ext cx="63720" cy="1828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1"/>
          <p:cNvSpPr/>
          <p:nvPr/>
        </p:nvSpPr>
        <p:spPr>
          <a:xfrm>
            <a:off x="4846320" y="129852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b4f72"/>
                </a:solidFill>
                <a:effectLst/>
                <a:uFillTx/>
                <a:latin typeface="Calibri"/>
                <a:ea typeface="Calibri"/>
              </a:rPr>
              <a:t>2. Casualità nelle Feature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2"/>
          <p:cNvSpPr/>
          <p:nvPr/>
        </p:nvSpPr>
        <p:spPr>
          <a:xfrm>
            <a:off x="4846320" y="1554480"/>
            <a:ext cx="388584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In ogni nodo: invece di tutte le feature, considera solo un sottoinsieme casuale.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→ Due alberi vedono dati E feature diversi.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→ Questo decorrela gli errori tra gli alberi.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→ Effetto: gli errori non si sommano.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13"/>
          <p:cNvSpPr/>
          <p:nvPr/>
        </p:nvSpPr>
        <p:spPr>
          <a:xfrm>
            <a:off x="320040" y="3154680"/>
            <a:ext cx="850356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4"/>
          <p:cNvSpPr/>
          <p:nvPr/>
        </p:nvSpPr>
        <p:spPr>
          <a:xfrm>
            <a:off x="457200" y="32277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Perché funziona — La matematica dell'ensemble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5"/>
          <p:cNvSpPr/>
          <p:nvPr/>
        </p:nvSpPr>
        <p:spPr>
          <a:xfrm>
            <a:off x="457200" y="3584520"/>
            <a:ext cx="82292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Ogni albero commette errori diversi → la media/moda li riduce (legge dei grandi numeri)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Più alberi = meno varianza, stessa bias → curva bias-varianza migliorata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Alberi profondi (non potati) → basso bias per ogni albero; ensemble → bassa varianza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6"/>
          <p:cNvSpPr/>
          <p:nvPr/>
        </p:nvSpPr>
        <p:spPr>
          <a:xfrm>
            <a:off x="365760" y="466344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Regola pratica: aumentare n_estimators migliora sempre (fino a un plateau). Costo: più tempo di training.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Random Forest – Confronto con Albero Singolo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7" name="Table 0"/>
          <p:cNvGraphicFramePr/>
          <p:nvPr/>
        </p:nvGraphicFramePr>
        <p:xfrm>
          <a:off x="274320" y="777240"/>
          <a:ext cx="8595000" cy="3977280"/>
        </p:xfrm>
        <a:graphic>
          <a:graphicData uri="http://schemas.openxmlformats.org/drawingml/2006/table">
            <a:tbl>
              <a:tblPr/>
              <a:tblGrid>
                <a:gridCol w="2864880"/>
                <a:gridCol w="2864880"/>
                <a:gridCol w="2864880"/>
              </a:tblGrid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Caratteristica</a:t>
                      </a:r>
                      <a:endParaRPr lang="it-IT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Albero Decisionale</a:t>
                      </a:r>
                      <a:endParaRPr lang="it-IT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Random Forest</a:t>
                      </a:r>
                      <a:endParaRPr lang="it-IT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Interpretabilità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Alta — leggibile come regole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Bassa — 100 alberi sono opachi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Overfitting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Alto rischio se non potato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Molto ridotto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Varianza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Alta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Bassa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Bias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Basso (albero profondo)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Simile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Velocità training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Veloce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Più lenta (ma parallelizzabile)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Velocità predict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Veloce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Più lenta (somma di alberi)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Prestazioni generali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Moderate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Eccellenti su dati tabellari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Feature Importance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Disponibile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Più affidabile (media su alberi)</a:t>
                      </a:r>
                      <a:endParaRPr lang="it-IT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8" name="Text 4"/>
          <p:cNvSpPr/>
          <p:nvPr/>
        </p:nvSpPr>
        <p:spPr>
          <a:xfrm>
            <a:off x="365760" y="482796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i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Random Forest è uno degli algoritmi più usati in pratica per dati tabellari strutturati.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⚖️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Concetti Fondamentali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Overfitting, Underfitting e Valutazione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Overfitting e Underfitting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4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Il trade-off più importante nel Machine Learning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5"/>
          <p:cNvSpPr/>
          <p:nvPr/>
        </p:nvSpPr>
        <p:spPr>
          <a:xfrm>
            <a:off x="320040" y="1207080"/>
            <a:ext cx="27428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6"/>
          <p:cNvSpPr/>
          <p:nvPr/>
        </p:nvSpPr>
        <p:spPr>
          <a:xfrm>
            <a:off x="320040" y="1207080"/>
            <a:ext cx="2742840" cy="63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7"/>
          <p:cNvSpPr/>
          <p:nvPr/>
        </p:nvSpPr>
        <p:spPr>
          <a:xfrm>
            <a:off x="320040" y="13258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Underfitting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8"/>
          <p:cNvSpPr/>
          <p:nvPr/>
        </p:nvSpPr>
        <p:spPr>
          <a:xfrm>
            <a:off x="411480" y="1810440"/>
            <a:ext cx="255996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Il modello è troppo semplice: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→ Non cattura i pattern nei dati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→ Errore alto sia su training che test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→ Come studiare poco: non sai neanche le basi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9"/>
          <p:cNvSpPr/>
          <p:nvPr/>
        </p:nvSpPr>
        <p:spPr>
          <a:xfrm>
            <a:off x="3200400" y="1207080"/>
            <a:ext cx="27428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10"/>
          <p:cNvSpPr/>
          <p:nvPr/>
        </p:nvSpPr>
        <p:spPr>
          <a:xfrm>
            <a:off x="3200400" y="1207080"/>
            <a:ext cx="2742840" cy="63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11"/>
          <p:cNvSpPr/>
          <p:nvPr/>
        </p:nvSpPr>
        <p:spPr>
          <a:xfrm>
            <a:off x="3200400" y="13258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Il giusto equilibrio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2"/>
          <p:cNvSpPr/>
          <p:nvPr/>
        </p:nvSpPr>
        <p:spPr>
          <a:xfrm>
            <a:off x="3291840" y="1810440"/>
            <a:ext cx="255996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Bilanciamento ottimale: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→ Errore basso su training E test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→ Buona generalizzazione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→ Come studiare bene: sai la teoria e gli esercizi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13"/>
          <p:cNvSpPr/>
          <p:nvPr/>
        </p:nvSpPr>
        <p:spPr>
          <a:xfrm>
            <a:off x="6080760" y="1207080"/>
            <a:ext cx="27428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14"/>
          <p:cNvSpPr/>
          <p:nvPr/>
        </p:nvSpPr>
        <p:spPr>
          <a:xfrm>
            <a:off x="6080760" y="1207080"/>
            <a:ext cx="2742840" cy="63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15"/>
          <p:cNvSpPr/>
          <p:nvPr/>
        </p:nvSpPr>
        <p:spPr>
          <a:xfrm>
            <a:off x="6080760" y="13258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Overfitting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6"/>
          <p:cNvSpPr/>
          <p:nvPr/>
        </p:nvSpPr>
        <p:spPr>
          <a:xfrm>
            <a:off x="6172200" y="1810440"/>
            <a:ext cx="255996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Il modello è troppo complesso: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→ Memorizza i dati di training con il rumore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→ Errore basso su training, alto su test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→ Come copiare: vai bene in classe ma non all'esame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17"/>
          <p:cNvSpPr/>
          <p:nvPr/>
        </p:nvSpPr>
        <p:spPr>
          <a:xfrm>
            <a:off x="320040" y="3931920"/>
            <a:ext cx="850356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8"/>
          <p:cNvSpPr/>
          <p:nvPr/>
        </p:nvSpPr>
        <p:spPr>
          <a:xfrm>
            <a:off x="457200" y="400500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Soluzione: training/validation/test split + cross-validation + regularizzazione (L1, L2)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19"/>
          <p:cNvSpPr/>
          <p:nvPr/>
        </p:nvSpPr>
        <p:spPr>
          <a:xfrm>
            <a:off x="457200" y="43160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Training 70-80%: per addestrare  |  Validation 10-15%: per regolare iperparametri  |  Test 10-20%: valutazione finale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Metriche di Valutazione — Oltre l'Accuratezza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L'accuratezza non basta sempre — soprattutto con classi sbilanciate.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5"/>
          <p:cNvSpPr/>
          <p:nvPr/>
        </p:nvSpPr>
        <p:spPr>
          <a:xfrm>
            <a:off x="320040" y="1188720"/>
            <a:ext cx="4114440" cy="2377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6"/>
          <p:cNvSpPr/>
          <p:nvPr/>
        </p:nvSpPr>
        <p:spPr>
          <a:xfrm>
            <a:off x="411480" y="126180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Matrice di Confusione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63" name="Table 0"/>
          <p:cNvGraphicFramePr/>
          <p:nvPr/>
        </p:nvGraphicFramePr>
        <p:xfrm>
          <a:off x="411480" y="1600200"/>
          <a:ext cx="3931560" cy="1645920"/>
        </p:xfrm>
        <a:graphic>
          <a:graphicData uri="http://schemas.openxmlformats.org/drawingml/2006/table">
            <a:tbl>
              <a:tblPr/>
              <a:tblGrid>
                <a:gridCol w="1310400"/>
                <a:gridCol w="1310400"/>
                <a:gridCol w="13104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Pred. POS</a:t>
                      </a:r>
                      <a:endParaRPr lang="it-IT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Pred. NEG</a:t>
                      </a:r>
                      <a:endParaRPr lang="it-IT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Reale POS</a:t>
                      </a:r>
                      <a:endParaRPr lang="it-IT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TP ✅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</a:rPr>
                        <a:t>FN ❌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Reale NEG</a:t>
                      </a:r>
                      <a:endParaRPr lang="it-IT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</a:rPr>
                        <a:t>FP ❌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TN ✅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64" name="Text 7"/>
          <p:cNvSpPr/>
          <p:nvPr/>
        </p:nvSpPr>
        <p:spPr>
          <a:xfrm>
            <a:off x="411480" y="32918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TP=Vero Positivo, FP=Falso Positivo, FN=Falso Negativo, TN=Vero Negativo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8"/>
          <p:cNvSpPr/>
          <p:nvPr/>
        </p:nvSpPr>
        <p:spPr>
          <a:xfrm>
            <a:off x="4617720" y="1188720"/>
            <a:ext cx="4205880" cy="63972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9"/>
          <p:cNvSpPr/>
          <p:nvPr/>
        </p:nvSpPr>
        <p:spPr>
          <a:xfrm>
            <a:off x="4709160" y="123444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Accuratezza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10"/>
          <p:cNvSpPr/>
          <p:nvPr/>
        </p:nvSpPr>
        <p:spPr>
          <a:xfrm>
            <a:off x="4709160" y="149040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(TP+TN)/(TP+FP+FN+TN)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1"/>
          <p:cNvSpPr/>
          <p:nvPr/>
        </p:nvSpPr>
        <p:spPr>
          <a:xfrm>
            <a:off x="6400800" y="123444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% previsioni corrette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12"/>
          <p:cNvSpPr/>
          <p:nvPr/>
        </p:nvSpPr>
        <p:spPr>
          <a:xfrm>
            <a:off x="4617720" y="1920240"/>
            <a:ext cx="4205880" cy="63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3"/>
          <p:cNvSpPr/>
          <p:nvPr/>
        </p:nvSpPr>
        <p:spPr>
          <a:xfrm>
            <a:off x="4709160" y="19659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b4f72"/>
                </a:solidFill>
                <a:effectLst/>
                <a:uFillTx/>
                <a:latin typeface="Calibri"/>
              </a:rPr>
              <a:t>Precisione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4"/>
          <p:cNvSpPr/>
          <p:nvPr/>
        </p:nvSpPr>
        <p:spPr>
          <a:xfrm>
            <a:off x="4709160" y="22219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TP/(TP+FP)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15"/>
          <p:cNvSpPr/>
          <p:nvPr/>
        </p:nvSpPr>
        <p:spPr>
          <a:xfrm>
            <a:off x="6400800" y="19659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Di quelli predetti positivi, quanti lo sono davvero?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16"/>
          <p:cNvSpPr/>
          <p:nvPr/>
        </p:nvSpPr>
        <p:spPr>
          <a:xfrm>
            <a:off x="4617720" y="2651760"/>
            <a:ext cx="4205880" cy="63972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17"/>
          <p:cNvSpPr/>
          <p:nvPr/>
        </p:nvSpPr>
        <p:spPr>
          <a:xfrm>
            <a:off x="4709160" y="269748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Recall (Sensibilità)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8"/>
          <p:cNvSpPr/>
          <p:nvPr/>
        </p:nvSpPr>
        <p:spPr>
          <a:xfrm>
            <a:off x="4709160" y="295344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TP/(TP+FN)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9"/>
          <p:cNvSpPr/>
          <p:nvPr/>
        </p:nvSpPr>
        <p:spPr>
          <a:xfrm>
            <a:off x="6400800" y="269748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Di quelli realmente positivi, quanti li ho trovati?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20"/>
          <p:cNvSpPr/>
          <p:nvPr/>
        </p:nvSpPr>
        <p:spPr>
          <a:xfrm>
            <a:off x="4617720" y="3383280"/>
            <a:ext cx="4205880" cy="63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21"/>
          <p:cNvSpPr/>
          <p:nvPr/>
        </p:nvSpPr>
        <p:spPr>
          <a:xfrm>
            <a:off x="4709160" y="342900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F1-Score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22"/>
          <p:cNvSpPr/>
          <p:nvPr/>
        </p:nvSpPr>
        <p:spPr>
          <a:xfrm>
            <a:off x="4709160" y="36849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2·Prec·Recall/(Prec+Recall)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23"/>
          <p:cNvSpPr/>
          <p:nvPr/>
        </p:nvSpPr>
        <p:spPr>
          <a:xfrm>
            <a:off x="6400800" y="34290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Media armonica di precisione e recall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24"/>
          <p:cNvSpPr/>
          <p:nvPr/>
        </p:nvSpPr>
        <p:spPr>
          <a:xfrm>
            <a:off x="365760" y="461772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💡  In medicina, il Recall è cruciale: meglio avere falsi positivi che mancare un caso reale!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🗺️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Guida alla Scelta del Modello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Come scegliere l'algoritmo giusto per il proprio problema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Come Scegliere il Modello — Le Domande Chiave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4"/>
          <p:cNvSpPr/>
          <p:nvPr/>
        </p:nvSpPr>
        <p:spPr>
          <a:xfrm>
            <a:off x="320040" y="822960"/>
            <a:ext cx="411444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5"/>
          <p:cNvSpPr/>
          <p:nvPr/>
        </p:nvSpPr>
        <p:spPr>
          <a:xfrm>
            <a:off x="320040" y="822960"/>
            <a:ext cx="63720" cy="1782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6"/>
          <p:cNvSpPr/>
          <p:nvPr/>
        </p:nvSpPr>
        <p:spPr>
          <a:xfrm>
            <a:off x="457200" y="91440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1. Che tipo di output vuoi?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7"/>
          <p:cNvSpPr/>
          <p:nvPr/>
        </p:nvSpPr>
        <p:spPr>
          <a:xfrm>
            <a:off x="457200" y="1170360"/>
            <a:ext cx="388584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Numero continuo → Regressione (Lineare, RF Regressor)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SÌ/NO binario → Regressione Logistica, SVM, Alberi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Multiclasse → Alberi, RF, KNN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Gruppi naturali → K-Means, DBSCAN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8"/>
          <p:cNvSpPr/>
          <p:nvPr/>
        </p:nvSpPr>
        <p:spPr>
          <a:xfrm>
            <a:off x="4754880" y="822960"/>
            <a:ext cx="411444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9"/>
          <p:cNvSpPr/>
          <p:nvPr/>
        </p:nvSpPr>
        <p:spPr>
          <a:xfrm>
            <a:off x="4754880" y="822960"/>
            <a:ext cx="63720" cy="1782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10"/>
          <p:cNvSpPr/>
          <p:nvPr/>
        </p:nvSpPr>
        <p:spPr>
          <a:xfrm>
            <a:off x="4892040" y="91440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b4f72"/>
                </a:solidFill>
                <a:effectLst/>
                <a:uFillTx/>
                <a:latin typeface="Calibri"/>
                <a:ea typeface="Calibri"/>
              </a:rPr>
              <a:t>2. Hai le etichette?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11"/>
          <p:cNvSpPr/>
          <p:nvPr/>
        </p:nvSpPr>
        <p:spPr>
          <a:xfrm>
            <a:off x="4892040" y="1170360"/>
            <a:ext cx="388584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SÌ → Apprendimento Supervisionato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NO → Apprendimento Non Supervisionato (es. K-Means)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12"/>
          <p:cNvSpPr/>
          <p:nvPr/>
        </p:nvSpPr>
        <p:spPr>
          <a:xfrm>
            <a:off x="320040" y="2743200"/>
            <a:ext cx="411444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13"/>
          <p:cNvSpPr/>
          <p:nvPr/>
        </p:nvSpPr>
        <p:spPr>
          <a:xfrm>
            <a:off x="320040" y="2743200"/>
            <a:ext cx="63720" cy="1782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14"/>
          <p:cNvSpPr/>
          <p:nvPr/>
        </p:nvSpPr>
        <p:spPr>
          <a:xfrm>
            <a:off x="457200" y="28346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3. Quanti dati hai?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5"/>
          <p:cNvSpPr/>
          <p:nvPr/>
        </p:nvSpPr>
        <p:spPr>
          <a:xfrm>
            <a:off x="457200" y="3090600"/>
            <a:ext cx="388584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Pochi (&lt; 1000) → KNN, Albero semplice, Logistica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Medi → Random Forest, SVM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Molti (&gt; 100.000) → Reti Neurali, Gradient Boosting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16"/>
          <p:cNvSpPr/>
          <p:nvPr/>
        </p:nvSpPr>
        <p:spPr>
          <a:xfrm>
            <a:off x="4754880" y="2743200"/>
            <a:ext cx="411444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17"/>
          <p:cNvSpPr/>
          <p:nvPr/>
        </p:nvSpPr>
        <p:spPr>
          <a:xfrm>
            <a:off x="4754880" y="2743200"/>
            <a:ext cx="63720" cy="178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18"/>
          <p:cNvSpPr/>
          <p:nvPr/>
        </p:nvSpPr>
        <p:spPr>
          <a:xfrm>
            <a:off x="4892040" y="28346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4. Devi spiegare le decisioni?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9"/>
          <p:cNvSpPr/>
          <p:nvPr/>
        </p:nvSpPr>
        <p:spPr>
          <a:xfrm>
            <a:off x="4892040" y="3090600"/>
            <a:ext cx="388584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SÌ (interpretabilità) → Albero Decisionale, Regressione Logistica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NO → Random Forest, SVM, Reti Neurali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20"/>
          <p:cNvSpPr/>
          <p:nvPr/>
        </p:nvSpPr>
        <p:spPr>
          <a:xfrm>
            <a:off x="320040" y="4645080"/>
            <a:ext cx="8503560" cy="383760"/>
          </a:xfrm>
          <a:prstGeom prst="rect">
            <a:avLst/>
          </a:prstGeom>
          <a:solidFill>
            <a:srgbClr val="e8f4fd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21"/>
          <p:cNvSpPr/>
          <p:nvPr/>
        </p:nvSpPr>
        <p:spPr>
          <a:xfrm>
            <a:off x="457200" y="4681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💡  Strategia consigliata: inizia sempre dal modello più semplice, poi aumenta la complessità solo se serve.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Tabella Comparativa degli Algoritmi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5" name="Table 0"/>
          <p:cNvGraphicFramePr/>
          <p:nvPr/>
        </p:nvGraphicFramePr>
        <p:xfrm>
          <a:off x="137160" y="777240"/>
          <a:ext cx="8869320" cy="4251600"/>
        </p:xfrm>
        <a:graphic>
          <a:graphicData uri="http://schemas.openxmlformats.org/drawingml/2006/table">
            <a:tbl>
              <a:tblPr/>
              <a:tblGrid>
                <a:gridCol w="1266840"/>
                <a:gridCol w="1266840"/>
                <a:gridCol w="1266840"/>
                <a:gridCol w="1266840"/>
                <a:gridCol w="1266840"/>
                <a:gridCol w="1266840"/>
                <a:gridCol w="1266840"/>
              </a:tblGrid>
              <a:tr h="47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Algoritmo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Task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Difficoltà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Formula esplicita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Interpretabilità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Dati necessari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Applicazioni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Regressione Lineare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Regressione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★☆☆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Sì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Alta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Pochi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Prezzo case, temperature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Regressione Logistica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Classificazione bin.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★☆☆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Sì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Alta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Pochi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Spam, diagnosi semplici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KNN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Class./Regressione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★★☆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Alta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Pochi-medi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Raccomandazioni, OCR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Albero Decisionale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Class./Regressione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★★☆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Alta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Medi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Prestiti, priorità ticket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SVM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Classificazione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★★★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Media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Medi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Immagini, testo, bio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K-Means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Clustering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★★☆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Media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Medi-grandi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Segmentazione clienti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Reti Neurali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Qualunque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★★★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Bassa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Grandi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Computer vision, NLP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Random Forest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Class./Regressione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★★☆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Bassa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Medi-grandi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Crediti, diagnosi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fd7ed"/>
                      </a:solidFill>
                      <a:prstDash val="solid"/>
                    </a:lnL>
                    <a:lnR w="6480">
                      <a:solidFill>
                        <a:srgbClr val="bfd7ed"/>
                      </a:solidFill>
                      <a:prstDash val="solid"/>
                    </a:lnR>
                    <a:lnT w="6480">
                      <a:solidFill>
                        <a:srgbClr val="bfd7ed"/>
                      </a:solidFill>
                      <a:prstDash val="solid"/>
                    </a:lnT>
                    <a:lnB w="6480">
                      <a:solidFill>
                        <a:srgbClr val="bfd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6" name="Text 4"/>
          <p:cNvSpPr/>
          <p:nvPr/>
        </p:nvSpPr>
        <p:spPr>
          <a:xfrm>
            <a:off x="365760" y="5139000"/>
            <a:ext cx="841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★☆☆ = Bassa  |  ★★☆ = Media  |  ★★★ = Alta  difficoltà implementativa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Schema Decisionale — Scegli il Tuo Algoritmo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4"/>
          <p:cNvSpPr/>
          <p:nvPr/>
        </p:nvSpPr>
        <p:spPr>
          <a:xfrm>
            <a:off x="3566160" y="822960"/>
            <a:ext cx="2011320" cy="438480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5"/>
          <p:cNvSpPr/>
          <p:nvPr/>
        </p:nvSpPr>
        <p:spPr>
          <a:xfrm>
            <a:off x="3566160" y="82296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Hai le etichette?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6"/>
          <p:cNvSpPr/>
          <p:nvPr/>
        </p:nvSpPr>
        <p:spPr>
          <a:xfrm flipH="1">
            <a:off x="2286000" y="1261800"/>
            <a:ext cx="1600200" cy="384120"/>
          </a:xfrm>
          <a:prstGeom prst="line">
            <a:avLst/>
          </a:prstGeom>
          <a:ln w="1524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7"/>
          <p:cNvSpPr/>
          <p:nvPr/>
        </p:nvSpPr>
        <p:spPr>
          <a:xfrm>
            <a:off x="5257800" y="1261800"/>
            <a:ext cx="1600200" cy="384120"/>
          </a:xfrm>
          <a:prstGeom prst="line">
            <a:avLst/>
          </a:prstGeom>
          <a:ln w="1524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8"/>
          <p:cNvSpPr/>
          <p:nvPr/>
        </p:nvSpPr>
        <p:spPr>
          <a:xfrm>
            <a:off x="2377440" y="132588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SÌ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9"/>
          <p:cNvSpPr/>
          <p:nvPr/>
        </p:nvSpPr>
        <p:spPr>
          <a:xfrm>
            <a:off x="6903720" y="132588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NO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0"/>
          <p:cNvSpPr/>
          <p:nvPr/>
        </p:nvSpPr>
        <p:spPr>
          <a:xfrm>
            <a:off x="1188720" y="1645920"/>
            <a:ext cx="2011320" cy="438480"/>
          </a:xfrm>
          <a:prstGeom prst="rect">
            <a:avLst/>
          </a:prstGeom>
          <a:solidFill>
            <a:srgbClr val="1b4f72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1"/>
          <p:cNvSpPr/>
          <p:nvPr/>
        </p:nvSpPr>
        <p:spPr>
          <a:xfrm>
            <a:off x="1188720" y="16459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Tipo di output?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12"/>
          <p:cNvSpPr/>
          <p:nvPr/>
        </p:nvSpPr>
        <p:spPr>
          <a:xfrm flipH="1">
            <a:off x="457200" y="2084760"/>
            <a:ext cx="1005840" cy="384120"/>
          </a:xfrm>
          <a:prstGeom prst="line">
            <a:avLst/>
          </a:prstGeom>
          <a:ln w="1524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3"/>
          <p:cNvSpPr/>
          <p:nvPr/>
        </p:nvSpPr>
        <p:spPr>
          <a:xfrm>
            <a:off x="2286000" y="2084760"/>
            <a:ext cx="731520" cy="384120"/>
          </a:xfrm>
          <a:prstGeom prst="line">
            <a:avLst/>
          </a:prstGeom>
          <a:ln w="1524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14"/>
          <p:cNvSpPr/>
          <p:nvPr/>
        </p:nvSpPr>
        <p:spPr>
          <a:xfrm>
            <a:off x="274320" y="214884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1b4f72"/>
                </a:solidFill>
                <a:effectLst/>
                <a:uFillTx/>
                <a:latin typeface="Calibri"/>
              </a:rPr>
              <a:t>Numero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5"/>
          <p:cNvSpPr/>
          <p:nvPr/>
        </p:nvSpPr>
        <p:spPr>
          <a:xfrm>
            <a:off x="2377440" y="21488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1b4f72"/>
                </a:solidFill>
                <a:effectLst/>
                <a:uFillTx/>
                <a:latin typeface="Calibri"/>
              </a:rPr>
              <a:t>Categoria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16"/>
          <p:cNvSpPr/>
          <p:nvPr/>
        </p:nvSpPr>
        <p:spPr>
          <a:xfrm>
            <a:off x="0" y="2487240"/>
            <a:ext cx="2194200" cy="50256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7"/>
          <p:cNvSpPr/>
          <p:nvPr/>
        </p:nvSpPr>
        <p:spPr>
          <a:xfrm>
            <a:off x="0" y="248724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Regressione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Lineare / RF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Shape 18"/>
          <p:cNvSpPr/>
          <p:nvPr/>
        </p:nvSpPr>
        <p:spPr>
          <a:xfrm>
            <a:off x="2560320" y="2487240"/>
            <a:ext cx="2011320" cy="438480"/>
          </a:xfrm>
          <a:prstGeom prst="rect">
            <a:avLst/>
          </a:prstGeom>
          <a:solidFill>
            <a:srgbClr val="1b4f72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19"/>
          <p:cNvSpPr/>
          <p:nvPr/>
        </p:nvSpPr>
        <p:spPr>
          <a:xfrm>
            <a:off x="2560320" y="248724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Interpretabilità?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20"/>
          <p:cNvSpPr/>
          <p:nvPr/>
        </p:nvSpPr>
        <p:spPr>
          <a:xfrm flipH="1">
            <a:off x="2103120" y="2926080"/>
            <a:ext cx="731520" cy="411480"/>
          </a:xfrm>
          <a:prstGeom prst="line">
            <a:avLst/>
          </a:prstGeom>
          <a:ln w="1524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21"/>
          <p:cNvSpPr/>
          <p:nvPr/>
        </p:nvSpPr>
        <p:spPr>
          <a:xfrm>
            <a:off x="3474720" y="2926080"/>
            <a:ext cx="640080" cy="411480"/>
          </a:xfrm>
          <a:prstGeom prst="line">
            <a:avLst/>
          </a:prstGeom>
          <a:ln w="1524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22"/>
          <p:cNvSpPr/>
          <p:nvPr/>
        </p:nvSpPr>
        <p:spPr>
          <a:xfrm>
            <a:off x="1325880" y="3337560"/>
            <a:ext cx="2194200" cy="50256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23"/>
          <p:cNvSpPr/>
          <p:nvPr/>
        </p:nvSpPr>
        <p:spPr>
          <a:xfrm>
            <a:off x="1325880" y="333756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Albero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Decisionale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24"/>
          <p:cNvSpPr/>
          <p:nvPr/>
        </p:nvSpPr>
        <p:spPr>
          <a:xfrm>
            <a:off x="3383280" y="3337560"/>
            <a:ext cx="2194200" cy="50256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25"/>
          <p:cNvSpPr/>
          <p:nvPr/>
        </p:nvSpPr>
        <p:spPr>
          <a:xfrm>
            <a:off x="3383280" y="333756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RF / SVM 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Rete Neurale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26"/>
          <p:cNvSpPr/>
          <p:nvPr/>
        </p:nvSpPr>
        <p:spPr>
          <a:xfrm>
            <a:off x="5943600" y="1645920"/>
            <a:ext cx="2011320" cy="438480"/>
          </a:xfrm>
          <a:prstGeom prst="rect">
            <a:avLst/>
          </a:prstGeom>
          <a:solidFill>
            <a:srgbClr val="f59e0b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27"/>
          <p:cNvSpPr/>
          <p:nvPr/>
        </p:nvSpPr>
        <p:spPr>
          <a:xfrm>
            <a:off x="5943600" y="16459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Trovare gruppi?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28"/>
          <p:cNvSpPr/>
          <p:nvPr/>
        </p:nvSpPr>
        <p:spPr>
          <a:xfrm>
            <a:off x="6583680" y="2084760"/>
            <a:ext cx="360" cy="402120"/>
          </a:xfrm>
          <a:prstGeom prst="line">
            <a:avLst/>
          </a:prstGeom>
          <a:ln w="1524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29"/>
          <p:cNvSpPr/>
          <p:nvPr/>
        </p:nvSpPr>
        <p:spPr>
          <a:xfrm>
            <a:off x="5486400" y="2487240"/>
            <a:ext cx="2194200" cy="50256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30"/>
          <p:cNvSpPr/>
          <p:nvPr/>
        </p:nvSpPr>
        <p:spPr>
          <a:xfrm>
            <a:off x="5486400" y="248724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K-Means 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DBSCAN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31"/>
          <p:cNvSpPr/>
          <p:nvPr/>
        </p:nvSpPr>
        <p:spPr>
          <a:xfrm>
            <a:off x="1188720" y="3337560"/>
            <a:ext cx="2011320" cy="438480"/>
          </a:xfrm>
          <a:prstGeom prst="rect">
            <a:avLst/>
          </a:prstGeom>
          <a:solidFill>
            <a:srgbClr val="1b4f72"/>
          </a:solidFill>
          <a:ln w="635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32"/>
          <p:cNvSpPr/>
          <p:nvPr/>
        </p:nvSpPr>
        <p:spPr>
          <a:xfrm>
            <a:off x="1188720" y="333756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Pochi dati?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33"/>
          <p:cNvSpPr/>
          <p:nvPr/>
        </p:nvSpPr>
        <p:spPr>
          <a:xfrm flipH="1">
            <a:off x="731520" y="3776400"/>
            <a:ext cx="640080" cy="384120"/>
          </a:xfrm>
          <a:prstGeom prst="line">
            <a:avLst/>
          </a:prstGeom>
          <a:ln w="1524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34"/>
          <p:cNvSpPr/>
          <p:nvPr/>
        </p:nvSpPr>
        <p:spPr>
          <a:xfrm>
            <a:off x="2103120" y="3776400"/>
            <a:ext cx="640080" cy="384120"/>
          </a:xfrm>
          <a:prstGeom prst="line">
            <a:avLst/>
          </a:prstGeom>
          <a:ln w="1524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35"/>
          <p:cNvSpPr/>
          <p:nvPr/>
        </p:nvSpPr>
        <p:spPr>
          <a:xfrm>
            <a:off x="182880" y="4160520"/>
            <a:ext cx="2194200" cy="50256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36"/>
          <p:cNvSpPr/>
          <p:nvPr/>
        </p:nvSpPr>
        <p:spPr>
          <a:xfrm>
            <a:off x="182880" y="416052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KNN / Log.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Logistica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37"/>
          <p:cNvSpPr/>
          <p:nvPr/>
        </p:nvSpPr>
        <p:spPr>
          <a:xfrm>
            <a:off x="2194560" y="4160520"/>
            <a:ext cx="2194200" cy="50256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38"/>
          <p:cNvSpPr/>
          <p:nvPr/>
        </p:nvSpPr>
        <p:spPr>
          <a:xfrm>
            <a:off x="2194560" y="416052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Random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Forest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1"/>
          <p:cNvSpPr/>
          <p:nvPr/>
        </p:nvSpPr>
        <p:spPr>
          <a:xfrm>
            <a:off x="7132320" y="-914400"/>
            <a:ext cx="3200040" cy="32000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2"/>
          <p:cNvSpPr/>
          <p:nvPr/>
        </p:nvSpPr>
        <p:spPr>
          <a:xfrm>
            <a:off x="7772400" y="3200400"/>
            <a:ext cx="1828440" cy="182844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3"/>
          <p:cNvSpPr/>
          <p:nvPr/>
        </p:nvSpPr>
        <p:spPr>
          <a:xfrm>
            <a:off x="457200" y="82296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4"/>
          <p:cNvSpPr/>
          <p:nvPr/>
        </p:nvSpPr>
        <p:spPr>
          <a:xfrm>
            <a:off x="457200" y="164592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Riepilogo Finale</a:t>
            </a:r>
            <a:endParaRPr lang="it-IT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5"/>
          <p:cNvSpPr/>
          <p:nvPr/>
        </p:nvSpPr>
        <p:spPr>
          <a:xfrm>
            <a:off x="457200" y="29260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Tutto quello che abbiamo imparato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IIS Fermi Sacconi Cpia - Ascoli Piceno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Mappa dei Concetti — Machine Learning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4"/>
          <p:cNvSpPr/>
          <p:nvPr/>
        </p:nvSpPr>
        <p:spPr>
          <a:xfrm>
            <a:off x="3429000" y="822960"/>
            <a:ext cx="2285640" cy="502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5"/>
          <p:cNvSpPr/>
          <p:nvPr/>
        </p:nvSpPr>
        <p:spPr>
          <a:xfrm>
            <a:off x="3429000" y="82296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Machine Learning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6"/>
          <p:cNvSpPr/>
          <p:nvPr/>
        </p:nvSpPr>
        <p:spPr>
          <a:xfrm>
            <a:off x="182880" y="1737360"/>
            <a:ext cx="2102760" cy="438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7"/>
          <p:cNvSpPr/>
          <p:nvPr/>
        </p:nvSpPr>
        <p:spPr>
          <a:xfrm>
            <a:off x="182880" y="173736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Supervisionato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8"/>
          <p:cNvSpPr/>
          <p:nvPr/>
        </p:nvSpPr>
        <p:spPr>
          <a:xfrm>
            <a:off x="3520440" y="1737360"/>
            <a:ext cx="2102760" cy="438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9"/>
          <p:cNvSpPr/>
          <p:nvPr/>
        </p:nvSpPr>
        <p:spPr>
          <a:xfrm>
            <a:off x="3520440" y="173736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Non Supervisionato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10"/>
          <p:cNvSpPr/>
          <p:nvPr/>
        </p:nvSpPr>
        <p:spPr>
          <a:xfrm>
            <a:off x="6858000" y="1737360"/>
            <a:ext cx="2102760" cy="438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11"/>
          <p:cNvSpPr/>
          <p:nvPr/>
        </p:nvSpPr>
        <p:spPr>
          <a:xfrm>
            <a:off x="6858000" y="173736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 Rinforzo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12"/>
          <p:cNvSpPr/>
          <p:nvPr/>
        </p:nvSpPr>
        <p:spPr>
          <a:xfrm>
            <a:off x="-91440" y="2606040"/>
            <a:ext cx="1462680" cy="548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3"/>
          <p:cNvSpPr/>
          <p:nvPr/>
        </p:nvSpPr>
        <p:spPr>
          <a:xfrm>
            <a:off x="-91440" y="26060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Regressione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Lineare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14"/>
          <p:cNvSpPr/>
          <p:nvPr/>
        </p:nvSpPr>
        <p:spPr>
          <a:xfrm>
            <a:off x="1463040" y="2606040"/>
            <a:ext cx="1462680" cy="548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5"/>
          <p:cNvSpPr/>
          <p:nvPr/>
        </p:nvSpPr>
        <p:spPr>
          <a:xfrm>
            <a:off x="1463040" y="26060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Reg. Logistica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KNN, SVM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16"/>
          <p:cNvSpPr/>
          <p:nvPr/>
        </p:nvSpPr>
        <p:spPr>
          <a:xfrm>
            <a:off x="3108960" y="2606040"/>
            <a:ext cx="1462680" cy="548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7"/>
          <p:cNvSpPr/>
          <p:nvPr/>
        </p:nvSpPr>
        <p:spPr>
          <a:xfrm>
            <a:off x="3108960" y="26060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Alberi 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Random Forest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18"/>
          <p:cNvSpPr/>
          <p:nvPr/>
        </p:nvSpPr>
        <p:spPr>
          <a:xfrm>
            <a:off x="4754880" y="2606040"/>
            <a:ext cx="1462680" cy="548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19"/>
          <p:cNvSpPr/>
          <p:nvPr/>
        </p:nvSpPr>
        <p:spPr>
          <a:xfrm>
            <a:off x="4754880" y="26060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K-Means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DBSCAN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20"/>
          <p:cNvSpPr/>
          <p:nvPr/>
        </p:nvSpPr>
        <p:spPr>
          <a:xfrm>
            <a:off x="6858000" y="2606040"/>
            <a:ext cx="1462680" cy="548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21"/>
          <p:cNvSpPr/>
          <p:nvPr/>
        </p:nvSpPr>
        <p:spPr>
          <a:xfrm>
            <a:off x="6858000" y="26060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Reti Neurali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(Deep RL)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22"/>
          <p:cNvSpPr/>
          <p:nvPr/>
        </p:nvSpPr>
        <p:spPr>
          <a:xfrm flipH="1">
            <a:off x="1234440" y="1078920"/>
            <a:ext cx="3337560" cy="658440"/>
          </a:xfrm>
          <a:prstGeom prst="line">
            <a:avLst/>
          </a:prstGeom>
          <a:ln w="1270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23"/>
          <p:cNvSpPr/>
          <p:nvPr/>
        </p:nvSpPr>
        <p:spPr>
          <a:xfrm>
            <a:off x="4572000" y="1078920"/>
            <a:ext cx="360" cy="658440"/>
          </a:xfrm>
          <a:prstGeom prst="line">
            <a:avLst/>
          </a:prstGeom>
          <a:ln w="1270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24"/>
          <p:cNvSpPr/>
          <p:nvPr/>
        </p:nvSpPr>
        <p:spPr>
          <a:xfrm>
            <a:off x="4572000" y="1078920"/>
            <a:ext cx="3337560" cy="658440"/>
          </a:xfrm>
          <a:prstGeom prst="line">
            <a:avLst/>
          </a:prstGeom>
          <a:ln w="1270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25"/>
          <p:cNvSpPr/>
          <p:nvPr/>
        </p:nvSpPr>
        <p:spPr>
          <a:xfrm flipH="1">
            <a:off x="640080" y="2176200"/>
            <a:ext cx="594360" cy="429840"/>
          </a:xfrm>
          <a:prstGeom prst="line">
            <a:avLst/>
          </a:prstGeom>
          <a:ln w="1270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26"/>
          <p:cNvSpPr/>
          <p:nvPr/>
        </p:nvSpPr>
        <p:spPr>
          <a:xfrm>
            <a:off x="1234440" y="2176200"/>
            <a:ext cx="960120" cy="429840"/>
          </a:xfrm>
          <a:prstGeom prst="line">
            <a:avLst/>
          </a:prstGeom>
          <a:ln w="1270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27"/>
          <p:cNvSpPr/>
          <p:nvPr/>
        </p:nvSpPr>
        <p:spPr>
          <a:xfrm flipH="1">
            <a:off x="3840480" y="2176200"/>
            <a:ext cx="731520" cy="429840"/>
          </a:xfrm>
          <a:prstGeom prst="line">
            <a:avLst/>
          </a:prstGeom>
          <a:ln w="1270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28"/>
          <p:cNvSpPr/>
          <p:nvPr/>
        </p:nvSpPr>
        <p:spPr>
          <a:xfrm>
            <a:off x="4572000" y="2176200"/>
            <a:ext cx="914400" cy="429840"/>
          </a:xfrm>
          <a:prstGeom prst="line">
            <a:avLst/>
          </a:prstGeom>
          <a:ln w="12700">
            <a:solidFill>
              <a:srgbClr val="8ea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29"/>
          <p:cNvSpPr/>
          <p:nvPr/>
        </p:nvSpPr>
        <p:spPr>
          <a:xfrm>
            <a:off x="365760" y="333756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Concetti trasversali a tutti gli algoritmi: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30"/>
          <p:cNvSpPr/>
          <p:nvPr/>
        </p:nvSpPr>
        <p:spPr>
          <a:xfrm>
            <a:off x="320040" y="365760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📊  Training / Test split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31"/>
          <p:cNvSpPr/>
          <p:nvPr/>
        </p:nvSpPr>
        <p:spPr>
          <a:xfrm>
            <a:off x="320040" y="39135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Il modello impara sul training, viene valutato sul test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32"/>
          <p:cNvSpPr/>
          <p:nvPr/>
        </p:nvSpPr>
        <p:spPr>
          <a:xfrm>
            <a:off x="4754880" y="365760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⚖️  Overfitting / Underfitting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33"/>
          <p:cNvSpPr/>
          <p:nvPr/>
        </p:nvSpPr>
        <p:spPr>
          <a:xfrm>
            <a:off x="4754880" y="39135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Trade-off bias-varianza: né troppo semplice né troppo complesso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34"/>
          <p:cNvSpPr/>
          <p:nvPr/>
        </p:nvSpPr>
        <p:spPr>
          <a:xfrm>
            <a:off x="320040" y="427932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📐  Standardizzazione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35"/>
          <p:cNvSpPr/>
          <p:nvPr/>
        </p:nvSpPr>
        <p:spPr>
          <a:xfrm>
            <a:off x="320040" y="45352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Feature sulla stessa scala per algoritmi sensibili alle distanze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36"/>
          <p:cNvSpPr/>
          <p:nvPr/>
        </p:nvSpPr>
        <p:spPr>
          <a:xfrm>
            <a:off x="4754880" y="427932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🎯  Metriche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37"/>
          <p:cNvSpPr/>
          <p:nvPr/>
        </p:nvSpPr>
        <p:spPr>
          <a:xfrm>
            <a:off x="4754880" y="45352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Accuratezza, Precisione, Recall, F1-Score, MSE, R²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Checklist Pratica per un Progetto ML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4"/>
          <p:cNvSpPr/>
          <p:nvPr/>
        </p:nvSpPr>
        <p:spPr>
          <a:xfrm>
            <a:off x="320040" y="777240"/>
            <a:ext cx="4114440" cy="196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5"/>
          <p:cNvSpPr/>
          <p:nvPr/>
        </p:nvSpPr>
        <p:spPr>
          <a:xfrm>
            <a:off x="320040" y="777240"/>
            <a:ext cx="4114440" cy="63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6"/>
          <p:cNvSpPr/>
          <p:nvPr/>
        </p:nvSpPr>
        <p:spPr>
          <a:xfrm>
            <a:off x="411480" y="8686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1. Definizione del problema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7"/>
          <p:cNvSpPr/>
          <p:nvPr/>
        </p:nvSpPr>
        <p:spPr>
          <a:xfrm>
            <a:off x="411480" y="1234440"/>
            <a:ext cx="3931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Qual è il tipo di task? (classificazione, regressione, clustering)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Quale metrica di successo voglio ottimizzare?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Serve interpretabilità del modello?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8"/>
          <p:cNvSpPr/>
          <p:nvPr/>
        </p:nvSpPr>
        <p:spPr>
          <a:xfrm>
            <a:off x="4754880" y="777240"/>
            <a:ext cx="4114440" cy="196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9"/>
          <p:cNvSpPr/>
          <p:nvPr/>
        </p:nvSpPr>
        <p:spPr>
          <a:xfrm>
            <a:off x="4754880" y="777240"/>
            <a:ext cx="4114440" cy="63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10"/>
          <p:cNvSpPr/>
          <p:nvPr/>
        </p:nvSpPr>
        <p:spPr>
          <a:xfrm>
            <a:off x="4846320" y="8686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2. Preparazione dei dati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11"/>
          <p:cNvSpPr/>
          <p:nvPr/>
        </p:nvSpPr>
        <p:spPr>
          <a:xfrm>
            <a:off x="4846320" y="1234440"/>
            <a:ext cx="3931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Raccolta dati da sorgenti affidabili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Pulizia: gestione valori mancanti, outlier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Encoding variabili categoriche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Standardizzazione / Normalizzazione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12"/>
          <p:cNvSpPr/>
          <p:nvPr/>
        </p:nvSpPr>
        <p:spPr>
          <a:xfrm>
            <a:off x="320040" y="2880360"/>
            <a:ext cx="4114440" cy="196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13"/>
          <p:cNvSpPr/>
          <p:nvPr/>
        </p:nvSpPr>
        <p:spPr>
          <a:xfrm>
            <a:off x="320040" y="2880360"/>
            <a:ext cx="4114440" cy="63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14"/>
          <p:cNvSpPr/>
          <p:nvPr/>
        </p:nvSpPr>
        <p:spPr>
          <a:xfrm>
            <a:off x="411480" y="29718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3. Modellazione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15"/>
          <p:cNvSpPr/>
          <p:nvPr/>
        </p:nvSpPr>
        <p:spPr>
          <a:xfrm>
            <a:off x="411480" y="3337560"/>
            <a:ext cx="3931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Split training / validation / test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Partire dal modello più semplice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Tuning degli iperparametri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Confronto tra modelli diversi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16"/>
          <p:cNvSpPr/>
          <p:nvPr/>
        </p:nvSpPr>
        <p:spPr>
          <a:xfrm>
            <a:off x="4754880" y="2880360"/>
            <a:ext cx="4114440" cy="196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17"/>
          <p:cNvSpPr/>
          <p:nvPr/>
        </p:nvSpPr>
        <p:spPr>
          <a:xfrm>
            <a:off x="4754880" y="2880360"/>
            <a:ext cx="4114440" cy="63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18"/>
          <p:cNvSpPr/>
          <p:nvPr/>
        </p:nvSpPr>
        <p:spPr>
          <a:xfrm>
            <a:off x="4846320" y="29718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4. Valutazione e Deploy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19"/>
          <p:cNvSpPr/>
          <p:nvPr/>
        </p:nvSpPr>
        <p:spPr>
          <a:xfrm>
            <a:off x="4846320" y="3337560"/>
            <a:ext cx="3931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Valutazione finale sul test set (mai toccato prima)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Analisi matrice di confusione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Salvataggio modello (joblib, pickle)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☐ Monitoraggio in produzione (data drift)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20"/>
          <p:cNvSpPr/>
          <p:nvPr/>
        </p:nvSpPr>
        <p:spPr>
          <a:xfrm>
            <a:off x="365760" y="480060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Librerie Python essenziali: pandas, numpy, scikit-learn, matplotlib, seaborn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Implementazione Python — Template Base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4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Schema standard con scikit-learn (vale per quasi tutti gli algoritmi)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5"/>
          <p:cNvSpPr/>
          <p:nvPr/>
        </p:nvSpPr>
        <p:spPr>
          <a:xfrm>
            <a:off x="320040" y="1170360"/>
            <a:ext cx="4114440" cy="3474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1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6"/>
          <p:cNvSpPr/>
          <p:nvPr/>
        </p:nvSpPr>
        <p:spPr>
          <a:xfrm>
            <a:off x="411480" y="1243440"/>
            <a:ext cx="393156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# 1. Import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import pandas as pd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from sklearn.model_selection import train_test_split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from sklearn.preprocessing import StandardScaler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from sklearn.ensemble import RandomForestClassifier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from sklearn.metrics import accuracy_score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# 2. Load &amp; prepare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df = pd.read_csv('data.csv')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X = df.drop('target', axis=1)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y = df['target']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# 3. Split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X_tr, X_te, y_tr, y_te = train_test_split(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    X, y, test_size=0.2, stratify=y)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7"/>
          <p:cNvSpPr/>
          <p:nvPr/>
        </p:nvSpPr>
        <p:spPr>
          <a:xfrm>
            <a:off x="4709160" y="1170360"/>
            <a:ext cx="4114440" cy="3474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1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8"/>
          <p:cNvSpPr/>
          <p:nvPr/>
        </p:nvSpPr>
        <p:spPr>
          <a:xfrm>
            <a:off x="4800600" y="1243440"/>
            <a:ext cx="393156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# 4. Scale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scaler = StandardScaler()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X_tr = scaler.fit_transform(X_tr)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X_te = scaler.transform(X_te)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# 5. Train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model = RandomForestClassifier(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    n_estimators=100, max_depth=None)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model.fit(X_tr, y_tr)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# 6. Evaluate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preds = model.predict(X_te)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acc = accuracy_score(y_te, preds)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print(f'Accuracy: {acc:.2%}')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d5ba"/>
                </a:solidFill>
                <a:effectLst/>
                <a:uFillTx/>
                <a:latin typeface="Consolas"/>
                <a:ea typeface="Consolas"/>
              </a:rPr>
              <a:t># → Accuracy: 87.50%</a:t>
            </a:r>
            <a:endParaRPr lang="it-IT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9"/>
          <p:cNvSpPr/>
          <p:nvPr/>
        </p:nvSpPr>
        <p:spPr>
          <a:xfrm>
            <a:off x="365760" y="477324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Cambia solo il modello nella riga 7 → stesso template per Logistica, Albero, KNN, SVM, K-Means...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Il Futuro del Machine Learning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Dove sta andando il Machine Learning?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5"/>
          <p:cNvSpPr/>
          <p:nvPr/>
        </p:nvSpPr>
        <p:spPr>
          <a:xfrm>
            <a:off x="320040" y="1234440"/>
            <a:ext cx="27428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6"/>
          <p:cNvSpPr/>
          <p:nvPr/>
        </p:nvSpPr>
        <p:spPr>
          <a:xfrm>
            <a:off x="320040" y="13075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🚗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7"/>
          <p:cNvSpPr/>
          <p:nvPr/>
        </p:nvSpPr>
        <p:spPr>
          <a:xfrm>
            <a:off x="411480" y="1764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Guida Autonoma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8"/>
          <p:cNvSpPr/>
          <p:nvPr/>
        </p:nvSpPr>
        <p:spPr>
          <a:xfrm>
            <a:off x="411480" y="20116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Reti neurali profonde + sistemi di sensori per veicoli che si guidano da soli.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9"/>
          <p:cNvSpPr/>
          <p:nvPr/>
        </p:nvSpPr>
        <p:spPr>
          <a:xfrm>
            <a:off x="3246120" y="1234440"/>
            <a:ext cx="27428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10"/>
          <p:cNvSpPr/>
          <p:nvPr/>
        </p:nvSpPr>
        <p:spPr>
          <a:xfrm>
            <a:off x="3246120" y="13075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🏥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11"/>
          <p:cNvSpPr/>
          <p:nvPr/>
        </p:nvSpPr>
        <p:spPr>
          <a:xfrm>
            <a:off x="3337560" y="1764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Diagnostica Medica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12"/>
          <p:cNvSpPr/>
          <p:nvPr/>
        </p:nvSpPr>
        <p:spPr>
          <a:xfrm>
            <a:off x="3337560" y="20116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Identificazione precoce di tumori, malattie cardiovascolari, supporto al medico.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13"/>
          <p:cNvSpPr/>
          <p:nvPr/>
        </p:nvSpPr>
        <p:spPr>
          <a:xfrm>
            <a:off x="6172200" y="1234440"/>
            <a:ext cx="27428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14"/>
          <p:cNvSpPr/>
          <p:nvPr/>
        </p:nvSpPr>
        <p:spPr>
          <a:xfrm>
            <a:off x="6172200" y="13075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🗣️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15"/>
          <p:cNvSpPr/>
          <p:nvPr/>
        </p:nvSpPr>
        <p:spPr>
          <a:xfrm>
            <a:off x="6263640" y="1764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Assistenti Vocali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6"/>
          <p:cNvSpPr/>
          <p:nvPr/>
        </p:nvSpPr>
        <p:spPr>
          <a:xfrm>
            <a:off x="6263640" y="20116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NLP avanzato: Siri, Alexa, Google Assistant sempre più capaci.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17"/>
          <p:cNvSpPr/>
          <p:nvPr/>
        </p:nvSpPr>
        <p:spPr>
          <a:xfrm>
            <a:off x="320040" y="2651760"/>
            <a:ext cx="27428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18"/>
          <p:cNvSpPr/>
          <p:nvPr/>
        </p:nvSpPr>
        <p:spPr>
          <a:xfrm>
            <a:off x="320040" y="2724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🎨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19"/>
          <p:cNvSpPr/>
          <p:nvPr/>
        </p:nvSpPr>
        <p:spPr>
          <a:xfrm>
            <a:off x="411480" y="31820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AI Generativa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20"/>
          <p:cNvSpPr/>
          <p:nvPr/>
        </p:nvSpPr>
        <p:spPr>
          <a:xfrm>
            <a:off x="411480" y="34290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GPT, Stable Diffusion: creazione di testo, immagini, musica, codice.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21"/>
          <p:cNvSpPr/>
          <p:nvPr/>
        </p:nvSpPr>
        <p:spPr>
          <a:xfrm>
            <a:off x="3246120" y="2651760"/>
            <a:ext cx="27428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22"/>
          <p:cNvSpPr/>
          <p:nvPr/>
        </p:nvSpPr>
        <p:spPr>
          <a:xfrm>
            <a:off x="3246120" y="2724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🌍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3"/>
          <p:cNvSpPr/>
          <p:nvPr/>
        </p:nvSpPr>
        <p:spPr>
          <a:xfrm>
            <a:off x="3337560" y="31820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Clima e Ambiente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24"/>
          <p:cNvSpPr/>
          <p:nvPr/>
        </p:nvSpPr>
        <p:spPr>
          <a:xfrm>
            <a:off x="3337560" y="34290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Previsioni meteorologiche, ottimizzazione energetica, monitoraggio ecosistemi.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25"/>
          <p:cNvSpPr/>
          <p:nvPr/>
        </p:nvSpPr>
        <p:spPr>
          <a:xfrm>
            <a:off x="6172200" y="2651760"/>
            <a:ext cx="27428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26"/>
          <p:cNvSpPr/>
          <p:nvPr/>
        </p:nvSpPr>
        <p:spPr>
          <a:xfrm>
            <a:off x="6172200" y="2724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🔐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7"/>
          <p:cNvSpPr/>
          <p:nvPr/>
        </p:nvSpPr>
        <p:spPr>
          <a:xfrm>
            <a:off x="6263640" y="31820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Cybersecurity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28"/>
          <p:cNvSpPr/>
          <p:nvPr/>
        </p:nvSpPr>
        <p:spPr>
          <a:xfrm>
            <a:off x="6263640" y="34290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Rilevamento anomalie, intrusioni, malware con modelli ML in tempo reale.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29"/>
          <p:cNvSpPr/>
          <p:nvPr/>
        </p:nvSpPr>
        <p:spPr>
          <a:xfrm>
            <a:off x="365760" y="448056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Sfide aperte: privacy, bias algoritmici, consumo energetico, trasparenza, impatto occupazionale.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30"/>
          <p:cNvSpPr/>
          <p:nvPr/>
        </p:nvSpPr>
        <p:spPr>
          <a:xfrm>
            <a:off x="365760" y="480060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Prepararsi: Python, matematica, statistica, curiosità e senso etico.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 10 Concetti da Ricordare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4"/>
          <p:cNvSpPr/>
          <p:nvPr/>
        </p:nvSpPr>
        <p:spPr>
          <a:xfrm>
            <a:off x="320040" y="804600"/>
            <a:ext cx="438480" cy="365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5"/>
          <p:cNvSpPr/>
          <p:nvPr/>
        </p:nvSpPr>
        <p:spPr>
          <a:xfrm>
            <a:off x="320040" y="80460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6"/>
          <p:cNvSpPr/>
          <p:nvPr/>
        </p:nvSpPr>
        <p:spPr>
          <a:xfrm>
            <a:off x="841320" y="804600"/>
            <a:ext cx="8028000" cy="365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7"/>
          <p:cNvSpPr/>
          <p:nvPr/>
        </p:nvSpPr>
        <p:spPr>
          <a:xfrm>
            <a:off x="914400" y="84132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Il ML impara dai dati, non da regole fisse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8"/>
          <p:cNvSpPr/>
          <p:nvPr/>
        </p:nvSpPr>
        <p:spPr>
          <a:xfrm>
            <a:off x="320040" y="1229760"/>
            <a:ext cx="438480" cy="365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9"/>
          <p:cNvSpPr/>
          <p:nvPr/>
        </p:nvSpPr>
        <p:spPr>
          <a:xfrm>
            <a:off x="320040" y="122976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10"/>
          <p:cNvSpPr/>
          <p:nvPr/>
        </p:nvSpPr>
        <p:spPr>
          <a:xfrm>
            <a:off x="841320" y="1229760"/>
            <a:ext cx="802800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11"/>
          <p:cNvSpPr/>
          <p:nvPr/>
        </p:nvSpPr>
        <p:spPr>
          <a:xfrm>
            <a:off x="914400" y="126648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Supervisionato (etichette), Non Supervisionato (no etichette), Rinforzo (ricompense)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12"/>
          <p:cNvSpPr/>
          <p:nvPr/>
        </p:nvSpPr>
        <p:spPr>
          <a:xfrm>
            <a:off x="320040" y="1654920"/>
            <a:ext cx="438480" cy="365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13"/>
          <p:cNvSpPr/>
          <p:nvPr/>
        </p:nvSpPr>
        <p:spPr>
          <a:xfrm>
            <a:off x="320040" y="165492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14"/>
          <p:cNvSpPr/>
          <p:nvPr/>
        </p:nvSpPr>
        <p:spPr>
          <a:xfrm>
            <a:off x="841320" y="1654920"/>
            <a:ext cx="8028000" cy="365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15"/>
          <p:cNvSpPr/>
          <p:nvPr/>
        </p:nvSpPr>
        <p:spPr>
          <a:xfrm>
            <a:off x="914400" y="169164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Regressione Lineare per numeri continui, Logistica per classificazione binaria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Shape 16"/>
          <p:cNvSpPr/>
          <p:nvPr/>
        </p:nvSpPr>
        <p:spPr>
          <a:xfrm>
            <a:off x="320040" y="2080440"/>
            <a:ext cx="438480" cy="365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17"/>
          <p:cNvSpPr/>
          <p:nvPr/>
        </p:nvSpPr>
        <p:spPr>
          <a:xfrm>
            <a:off x="320040" y="208044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18"/>
          <p:cNvSpPr/>
          <p:nvPr/>
        </p:nvSpPr>
        <p:spPr>
          <a:xfrm>
            <a:off x="841320" y="2080440"/>
            <a:ext cx="802800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19"/>
          <p:cNvSpPr/>
          <p:nvPr/>
        </p:nvSpPr>
        <p:spPr>
          <a:xfrm>
            <a:off x="914400" y="21168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KNN: classifica per prossimità — la distanza euclidea è la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20"/>
          <p:cNvSpPr/>
          <p:nvPr/>
        </p:nvSpPr>
        <p:spPr>
          <a:xfrm>
            <a:off x="320040" y="2505600"/>
            <a:ext cx="438480" cy="365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21"/>
          <p:cNvSpPr/>
          <p:nvPr/>
        </p:nvSpPr>
        <p:spPr>
          <a:xfrm>
            <a:off x="320040" y="250560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22"/>
          <p:cNvSpPr/>
          <p:nvPr/>
        </p:nvSpPr>
        <p:spPr>
          <a:xfrm>
            <a:off x="841320" y="2505600"/>
            <a:ext cx="8028000" cy="365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23"/>
          <p:cNvSpPr/>
          <p:nvPr/>
        </p:nvSpPr>
        <p:spPr>
          <a:xfrm>
            <a:off x="914400" y="254196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Distribuzione Gaussiana: media (centro) + σ (dispersione) + regola 68-95-99.7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Shape 24"/>
          <p:cNvSpPr/>
          <p:nvPr/>
        </p:nvSpPr>
        <p:spPr>
          <a:xfrm>
            <a:off x="320040" y="2930760"/>
            <a:ext cx="438480" cy="365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25"/>
          <p:cNvSpPr/>
          <p:nvPr/>
        </p:nvSpPr>
        <p:spPr>
          <a:xfrm>
            <a:off x="320040" y="293076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26"/>
          <p:cNvSpPr/>
          <p:nvPr/>
        </p:nvSpPr>
        <p:spPr>
          <a:xfrm>
            <a:off x="841320" y="2930760"/>
            <a:ext cx="802800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27"/>
          <p:cNvSpPr/>
          <p:nvPr/>
        </p:nvSpPr>
        <p:spPr>
          <a:xfrm>
            <a:off x="914400" y="296712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Alberi Decisionali: altamente interpretabili ma soggetti a overfitting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Shape 28"/>
          <p:cNvSpPr/>
          <p:nvPr/>
        </p:nvSpPr>
        <p:spPr>
          <a:xfrm>
            <a:off x="320040" y="3355920"/>
            <a:ext cx="438480" cy="365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29"/>
          <p:cNvSpPr/>
          <p:nvPr/>
        </p:nvSpPr>
        <p:spPr>
          <a:xfrm>
            <a:off x="320040" y="335592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07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30"/>
          <p:cNvSpPr/>
          <p:nvPr/>
        </p:nvSpPr>
        <p:spPr>
          <a:xfrm>
            <a:off x="841320" y="3355920"/>
            <a:ext cx="8028000" cy="365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31"/>
          <p:cNvSpPr/>
          <p:nvPr/>
        </p:nvSpPr>
        <p:spPr>
          <a:xfrm>
            <a:off x="914400" y="339228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Random Forest: combina 100 alberi — errori si compensano, risultato più robusto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Shape 32"/>
          <p:cNvSpPr/>
          <p:nvPr/>
        </p:nvSpPr>
        <p:spPr>
          <a:xfrm>
            <a:off x="320040" y="3781080"/>
            <a:ext cx="438480" cy="365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33"/>
          <p:cNvSpPr/>
          <p:nvPr/>
        </p:nvSpPr>
        <p:spPr>
          <a:xfrm>
            <a:off x="320040" y="378108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08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34"/>
          <p:cNvSpPr/>
          <p:nvPr/>
        </p:nvSpPr>
        <p:spPr>
          <a:xfrm>
            <a:off x="841320" y="3781080"/>
            <a:ext cx="802800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35"/>
          <p:cNvSpPr/>
          <p:nvPr/>
        </p:nvSpPr>
        <p:spPr>
          <a:xfrm>
            <a:off x="914400" y="38178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Overfitting = memorizza il training; Underfitting = troppo semplice; serve il giusto equilibrio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36"/>
          <p:cNvSpPr/>
          <p:nvPr/>
        </p:nvSpPr>
        <p:spPr>
          <a:xfrm>
            <a:off x="320040" y="4206240"/>
            <a:ext cx="438480" cy="365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37"/>
          <p:cNvSpPr/>
          <p:nvPr/>
        </p:nvSpPr>
        <p:spPr>
          <a:xfrm>
            <a:off x="320040" y="420624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09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38"/>
          <p:cNvSpPr/>
          <p:nvPr/>
        </p:nvSpPr>
        <p:spPr>
          <a:xfrm>
            <a:off x="841320" y="4206240"/>
            <a:ext cx="8028000" cy="365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39"/>
          <p:cNvSpPr/>
          <p:nvPr/>
        </p:nvSpPr>
        <p:spPr>
          <a:xfrm>
            <a:off x="914400" y="424296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Training/Test split: mai valutare sul training set! Usa dati mai visti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40"/>
          <p:cNvSpPr/>
          <p:nvPr/>
        </p:nvSpPr>
        <p:spPr>
          <a:xfrm>
            <a:off x="320040" y="4631400"/>
            <a:ext cx="438480" cy="365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41"/>
          <p:cNvSpPr/>
          <p:nvPr/>
        </p:nvSpPr>
        <p:spPr>
          <a:xfrm>
            <a:off x="320040" y="4631400"/>
            <a:ext cx="43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42"/>
          <p:cNvSpPr/>
          <p:nvPr/>
        </p:nvSpPr>
        <p:spPr>
          <a:xfrm>
            <a:off x="841320" y="4631400"/>
            <a:ext cx="802800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 43"/>
          <p:cNvSpPr/>
          <p:nvPr/>
        </p:nvSpPr>
        <p:spPr>
          <a:xfrm>
            <a:off x="914400" y="466812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Inizia semplice (logistica, albero), poi aumenta complessità (RF, reti neurali) solo se serve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1"/>
          <p:cNvSpPr/>
          <p:nvPr/>
        </p:nvSpPr>
        <p:spPr>
          <a:xfrm>
            <a:off x="0" y="658440"/>
            <a:ext cx="9143640" cy="5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2"/>
          <p:cNvSpPr/>
          <p:nvPr/>
        </p:nvSpPr>
        <p:spPr>
          <a:xfrm>
            <a:off x="320040" y="730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Risorse per Approfondire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3"/>
          <p:cNvSpPr/>
          <p:nvPr/>
        </p:nvSpPr>
        <p:spPr>
          <a:xfrm>
            <a:off x="274320" y="48463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Prof. Fedeli Massimo  |  Machine Learning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4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Come continuare a imparare il Machine Learning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5"/>
          <p:cNvSpPr/>
          <p:nvPr/>
        </p:nvSpPr>
        <p:spPr>
          <a:xfrm>
            <a:off x="320040" y="1261800"/>
            <a:ext cx="41144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 6"/>
          <p:cNvSpPr/>
          <p:nvPr/>
        </p:nvSpPr>
        <p:spPr>
          <a:xfrm>
            <a:off x="411480" y="135324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📚  Librerie Python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 7"/>
          <p:cNvSpPr/>
          <p:nvPr/>
        </p:nvSpPr>
        <p:spPr>
          <a:xfrm>
            <a:off x="411480" y="170064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scikit-learn, pandas, numpy, matplotlib, seaborn, TensorFlow/Keras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8"/>
          <p:cNvSpPr/>
          <p:nvPr/>
        </p:nvSpPr>
        <p:spPr>
          <a:xfrm>
            <a:off x="4754880" y="1261800"/>
            <a:ext cx="41144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9"/>
          <p:cNvSpPr/>
          <p:nvPr/>
        </p:nvSpPr>
        <p:spPr>
          <a:xfrm>
            <a:off x="4846320" y="135324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🎓  Corsi online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10"/>
          <p:cNvSpPr/>
          <p:nvPr/>
        </p:nvSpPr>
        <p:spPr>
          <a:xfrm>
            <a:off x="4846320" y="170064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Coursera (Andrew Ng – ML Specialization), fast.ai, DeepLearning.AI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11"/>
          <p:cNvSpPr/>
          <p:nvPr/>
        </p:nvSpPr>
        <p:spPr>
          <a:xfrm>
            <a:off x="320040" y="2432160"/>
            <a:ext cx="41144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12"/>
          <p:cNvSpPr/>
          <p:nvPr/>
        </p:nvSpPr>
        <p:spPr>
          <a:xfrm>
            <a:off x="411480" y="25236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📺  YouTube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13"/>
          <p:cNvSpPr/>
          <p:nvPr/>
        </p:nvSpPr>
        <p:spPr>
          <a:xfrm>
            <a:off x="411480" y="287136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3Blue1Brown (animazioni eccellenti), Sentdex, StatQuest with Josh Starmer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14"/>
          <p:cNvSpPr/>
          <p:nvPr/>
        </p:nvSpPr>
        <p:spPr>
          <a:xfrm>
            <a:off x="4754880" y="2432160"/>
            <a:ext cx="41144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15"/>
          <p:cNvSpPr/>
          <p:nvPr/>
        </p:nvSpPr>
        <p:spPr>
          <a:xfrm>
            <a:off x="4846320" y="25236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🏆  Pratica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16"/>
          <p:cNvSpPr/>
          <p:nvPr/>
        </p:nvSpPr>
        <p:spPr>
          <a:xfrm>
            <a:off x="4846320" y="287136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Kaggle: dataset reali e competizioni con classifica globale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17"/>
          <p:cNvSpPr/>
          <p:nvPr/>
        </p:nvSpPr>
        <p:spPr>
          <a:xfrm>
            <a:off x="320040" y="3602880"/>
            <a:ext cx="41144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18"/>
          <p:cNvSpPr/>
          <p:nvPr/>
        </p:nvSpPr>
        <p:spPr>
          <a:xfrm>
            <a:off x="411480" y="369432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📖  Libri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19"/>
          <p:cNvSpPr/>
          <p:nvPr/>
        </p:nvSpPr>
        <p:spPr>
          <a:xfrm>
            <a:off x="411480" y="404172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'Python Machine Learning' (Raschka), 'Hands-On ML' (Géron)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20"/>
          <p:cNvSpPr/>
          <p:nvPr/>
        </p:nvSpPr>
        <p:spPr>
          <a:xfrm>
            <a:off x="4754880" y="3602880"/>
            <a:ext cx="41144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21"/>
          <p:cNvSpPr/>
          <p:nvPr/>
        </p:nvSpPr>
        <p:spPr>
          <a:xfrm>
            <a:off x="4846320" y="369432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🔬  Dataset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22"/>
          <p:cNvSpPr/>
          <p:nvPr/>
        </p:nvSpPr>
        <p:spPr>
          <a:xfrm>
            <a:off x="4846320" y="404172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UCI ML Repository, Kaggle Datasets, sklearn.datasets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23"/>
          <p:cNvSpPr/>
          <p:nvPr/>
        </p:nvSpPr>
        <p:spPr>
          <a:xfrm>
            <a:off x="320040" y="4663440"/>
            <a:ext cx="8503560" cy="365400"/>
          </a:xfrm>
          <a:prstGeom prst="rect">
            <a:avLst/>
          </a:prstGeom>
          <a:solidFill>
            <a:srgbClr val="e8f4fd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24"/>
          <p:cNvSpPr/>
          <p:nvPr/>
        </p:nvSpPr>
        <p:spPr>
          <a:xfrm>
            <a:off x="457200" y="470016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🚀  'Il ML non è magia — è matematica, logica e tanto lavoro. Ma i risultati possono sembrare magici!'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1"/>
          <p:cNvSpPr/>
          <p:nvPr/>
        </p:nvSpPr>
        <p:spPr>
          <a:xfrm>
            <a:off x="5943600" y="-914400"/>
            <a:ext cx="4114440" cy="411444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2"/>
          <p:cNvSpPr/>
          <p:nvPr/>
        </p:nvSpPr>
        <p:spPr>
          <a:xfrm>
            <a:off x="457200" y="9144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Grazie!</a:t>
            </a:r>
            <a:endParaRPr lang="it-IT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3"/>
          <p:cNvSpPr/>
          <p:nvPr/>
        </p:nvSpPr>
        <p:spPr>
          <a:xfrm>
            <a:off x="457200" y="20116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Machine Learning — dal dato alla decisione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4"/>
          <p:cNvSpPr/>
          <p:nvPr/>
        </p:nvSpPr>
        <p:spPr>
          <a:xfrm>
            <a:off x="457200" y="2651760"/>
            <a:ext cx="3657240" cy="45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5"/>
          <p:cNvSpPr/>
          <p:nvPr/>
        </p:nvSpPr>
        <p:spPr>
          <a:xfrm>
            <a:off x="457200" y="2834640"/>
            <a:ext cx="5486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Prof. Fedeli Massimo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6"/>
          <p:cNvSpPr/>
          <p:nvPr/>
        </p:nvSpPr>
        <p:spPr>
          <a:xfrm>
            <a:off x="457200" y="324612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IIS Fermi Sacconi Cpia  |  Ascoli Piceno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7"/>
          <p:cNvSpPr/>
          <p:nvPr/>
        </p:nvSpPr>
        <p:spPr>
          <a:xfrm>
            <a:off x="457200" y="35661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A.S. 2025-2026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Shape 8"/>
          <p:cNvSpPr/>
          <p:nvPr/>
        </p:nvSpPr>
        <p:spPr>
          <a:xfrm>
            <a:off x="5029200" y="2926080"/>
            <a:ext cx="1188360" cy="100548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9"/>
          <p:cNvSpPr/>
          <p:nvPr/>
        </p:nvSpPr>
        <p:spPr>
          <a:xfrm>
            <a:off x="5029200" y="2944440"/>
            <a:ext cx="1188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it-IT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10"/>
          <p:cNvSpPr/>
          <p:nvPr/>
        </p:nvSpPr>
        <p:spPr>
          <a:xfrm>
            <a:off x="5029200" y="351144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Algoritmi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11"/>
          <p:cNvSpPr/>
          <p:nvPr/>
        </p:nvSpPr>
        <p:spPr>
          <a:xfrm>
            <a:off x="6400800" y="2926080"/>
            <a:ext cx="1188360" cy="100548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 12"/>
          <p:cNvSpPr/>
          <p:nvPr/>
        </p:nvSpPr>
        <p:spPr>
          <a:xfrm>
            <a:off x="6400800" y="2944440"/>
            <a:ext cx="1188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it-IT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13"/>
          <p:cNvSpPr/>
          <p:nvPr/>
        </p:nvSpPr>
        <p:spPr>
          <a:xfrm>
            <a:off x="6400800" y="351144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Sezioni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14"/>
          <p:cNvSpPr/>
          <p:nvPr/>
        </p:nvSpPr>
        <p:spPr>
          <a:xfrm>
            <a:off x="7772400" y="2926080"/>
            <a:ext cx="1188360" cy="100548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15"/>
          <p:cNvSpPr/>
          <p:nvPr/>
        </p:nvSpPr>
        <p:spPr>
          <a:xfrm>
            <a:off x="7772400" y="2944440"/>
            <a:ext cx="1188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46</a:t>
            </a:r>
            <a:endParaRPr lang="it-IT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16"/>
          <p:cNvSpPr/>
          <p:nvPr/>
        </p:nvSpPr>
        <p:spPr>
          <a:xfrm>
            <a:off x="7772400" y="351144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eadbe"/>
                </a:solidFill>
                <a:effectLst/>
                <a:uFillTx/>
                <a:latin typeface="Calibri"/>
              </a:rPr>
              <a:t>Slide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2026-03-17T16:51:00Z</dcterms:created>
  <dc:creator>Prof. Fedeli Massimo</dc:creator>
  <dc:description/>
  <dc:language>it-IT</dc:language>
  <cp:lastModifiedBy/>
  <dcterms:modified xsi:type="dcterms:W3CDTF">2026-03-17T17:54:16Z</dcterms:modified>
  <cp:revision>2</cp:revision>
  <dc:subject>PptxGenJS Presentation</dc:subject>
  <dc:title>Machine Learning - Riepilogo Completo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47</vt:i4>
  </property>
  <property fmtid="{D5CDD505-2E9C-101B-9397-08002B2CF9AE}" pid="3" name="PresentationFormat">
    <vt:lpwstr>On-screen Show (16:9)</vt:lpwstr>
  </property>
  <property fmtid="{D5CDD505-2E9C-101B-9397-08002B2CF9AE}" pid="4" name="Slides">
    <vt:i4>47</vt:i4>
  </property>
</Properties>
</file>