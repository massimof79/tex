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2103120" cy="2103120"/>
          </a:xfrm>
          <a:prstGeom prst="ellipse">
            <a:avLst/>
          </a:prstGeom>
          <a:solidFill>
            <a:srgbClr val="2563EB">
              <a:alpha val="2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EEF2FF"/>
                </a:solidFill>
              </a:rPr>
              <a:t>ETICA DELL'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9E0B"/>
                </a:solidFill>
              </a:rPr>
              <a:t>INTELLIGENZA ARTIFICIALE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FDF"/>
                </a:solidFill>
              </a:rPr>
              <a:t>Aspetti etici e sociali dell'IA · Sicurezza, Bias, Privacy e Governance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Fonti: Zanichelli «Informatica» Cap. 2 · Rivista «Lessico di Etica Pubblica» 2/2024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INDICE DEI CONTENUTI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" cy="38404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252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L'IA: opportunità e rischi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384048" cy="38404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Sicurezza e scelte etiche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384048" cy="384048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Le Leggi di Asimov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384048" cy="38404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364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Conseguenze imprevedibili dell'IA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384048" cy="38404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0782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Bias e amplificazione dei pregiudizi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252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Fake news, deepfake e disinformazione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01952"/>
            <a:ext cx="384048" cy="384048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38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IA nell'educazione: opportunità e rischi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384048" cy="384048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Privacy, GDPR e AI Act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28416"/>
            <a:ext cx="384048" cy="38404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64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Governance e soluzioni pratiche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41648"/>
            <a:ext cx="384048" cy="38404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782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Principi etici e conclusioni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Etica dell'Intelligenza Artificiale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256032" cy="4114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L'IA: OPPORTUNITÀ E RISCHI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657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4754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OPPORTUNITÀ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Diagnosi mediche avanzate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Soluzioni alla fame nel mondo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Ottimizzazione energetica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Apprendimento personalizzato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Ricerca scientifica accelerata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023360" cy="3657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4023360" cy="47548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RISCHI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Perdita del controllo (Hawking, 2014)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Superamento dell'intelligenza umana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Dipendenza tecnologica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Uso improprio e dannoso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Conseguenze imprevedibili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01 · L'IA: Opportunità e rischi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EEF2FF"/>
                </a:solidFill>
              </a:rPr>
              <a:t>VOCI DAL MONDO SCIENTIFICO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6002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Stephen Hawking  ·  2014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0"/>
                </a:solidFill>
              </a:rPr>
              <a:t>«Lo sviluppo di un'intelligenza artificiale generale potrebbe significare la fine della specie umana, principalmente perché gli esseri umani, limitati da una lenta evoluzione biologica, non potrebbero competere con le macchine intelligenti.»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33375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Bill Gates  ·  2015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0"/>
                </a:solidFill>
              </a:rPr>
              <a:t>«Prima le macchine faranno un sacco di lavoro per noi e non saranno super intelligenti. Sarà positivo. Un paio di decenni più tardi, penso, questa intelligenza diventerà un problema.»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01 · Voci illustri sui rischi dell'IA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SICUREZZA E PRINCIPIO DI TRASPARENZA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07008"/>
            <a:ext cx="8046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Principio di Trasparenza: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un sistema di IA deve essere in grado di spiegare il processo seguito per giungere a una decisione. Dove non possibile (reti neurali), deve essere garantita la tracciabilità: registrazione delle decisioni e dei dati utilizzati.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01168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04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7 maggio 2016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Primo incidente mortale con auto a guida autonoma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Un'auto in Florida non frena davanti a un tir. Né il conducente né il sistema intervengono. Il fianco bianco del mezzo confuso con il cielo.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93592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593592"/>
            <a:ext cx="201168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66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18 maggio 2018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913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Prima vittima pedonale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233672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 veicolo investe una donna a Tempe, Arizona. L'autista era distratta dal cellulare. La fiducia nel sistema aveva ridotto l'attenzione.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02 · Sicurezza e trasparenza nei sistemi 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IL DILEMMA DEL CARRELLO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Philippa Ruth Foot, 1967 · Applicazione all'IA e ai veicoli autonomi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303520" cy="21945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303520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81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 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Un tram fuori controllo può imboccare due binari: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Binario A: 5 operai (non possono salvarsi)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Binario B: 1 operaio (non può salvarsi)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 scelta spetta al conducente — o all'algoritmo.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834640" cy="2194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554480"/>
            <a:ext cx="28346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581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DOMANDE ETICHE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048256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Nulla? → 5 morti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Cambiare? → 1 morto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 fosse un bambino?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 fosse un tuo caro?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Come programmi l'IA?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90448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Rilevanza per l'IA: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Le auto a guida autonoma devono avere programmato un comportamento in situazioni di emergenza. La risposta è ancora oggetto di dibattito etico e normativo a livello internazionale.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02 · Il dilemma del carrello e l'etica algoritmica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F"/>
                </a:solidFill>
              </a:rPr>
              <a:t>03  LE LEGGI DI ASIMOV  (1941)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</a:rPr>
              <a:t>Legge Zero — aggiunta successivamente, la piu' generale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</a:rPr>
              <a:t>Un robot NON puo' recare danno all'UMANITA', ne' permettere che l'umanita' riceva danno per il suo mancato intervento.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67128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0756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A580C"/>
                </a:solidFill>
              </a:rPr>
              <a:t>Prima Legge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304288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</a:rPr>
              <a:t>Un robot NON puo' recar danno a un essere umano ne' permettere che un essere umano riceva danno, purche' non contrasti con la Legge Zero.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841248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9981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99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0083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Seconda Legge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3236976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</a:rPr>
              <a:t>Un robot DEVE obbedire agli ordini degli esseri umani, purche' non contravvenga alla Prima Legge o alla Legge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841248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32504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32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941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</a:rPr>
              <a:t>Terza Legge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4169664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</a:rPr>
              <a:t>Un robot DEVE proteggere la propria esistenza, purche' non contrasti con le leggi precedenti.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90AA"/>
                </a:solidFill>
              </a:rPr>
              <a:t>Queste leggi restano principi di riferimento per progettisti e programmatori di sistemi IA.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03 · Le Leggi di Asimov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ROBUSTEZZA E PREVENZIONE DEI DANNI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Algoritmi Corretti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Il software deve essere testato e validato prima del rilascio per evitare comportamenti errati.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Robustezza Tecnica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78308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Il sistema deve comportarsi ragionevolmente anche in situazioni impreviste e non contemplate nelle specifiche.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402336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090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Resistenza agli Attacchi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56616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 sistemi devono resistere ad attacchi hacker che potrebbero prendere il controllo o alterare il comportamento.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40233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090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Supervisione Umana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56616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L'ultima decisione deve restare sempre all'essere umano, che e' responsabile delle azioni del sistema 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03 · Requisiti di sicurezza dei sistemi 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CONSEGUENZE IMPREVEDIBILI DELL'IA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01168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563EB"/>
                </a:solidFill>
              </a:rPr>
              <a:t>2013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IBM Watson e le parolacce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922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Watson fu aggiornato con lo slang di Urban Dictionary. Risultato: linguaggio volgare nelle risposte. I tecnici dovettero tornare alla versione precedente aggiungendo un filtro.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201168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C2626"/>
                </a:solidFill>
              </a:rPr>
              <a:t>2016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715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Microsoft Tay su Twitter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02666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chatbot Tay, progettata per imitare una ragazza di 19 anni, fu rimossa dopo 16 ore: aveva appreso dai troll e iniziato a pubblicare contenuti xenofobi e nazisti.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201168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A580C"/>
                </a:solidFill>
              </a:rPr>
              <a:t>2010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950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Flash Crash di Wall Street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42611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Il 6 maggio 2010, algoritmi di trading con strategie simili eseguirono le stesse vendite in massa, causando il crollo improvviso dell'indice Dow Jones.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04 · Conseguenze imprevedibili dell'IA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2FF"/>
                </a:solidFill>
              </a:rPr>
              <a:t>04  PERCHE' L'IA PUO' SFUGGIRE AL CONTROLLO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5272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252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Errori umani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I programmatori possono commettere errori o non prevedere tutte le implicazioni dei sistemi da loro creati.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25272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252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Apprendimento continuo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95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I sistemi IA che imparano durante l'utilizzo evolvono in modo imprevedibile e possono arrivare a errori.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125272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252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Dati corrotti o parziali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295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Se i dati di training contengono errori o bias, l'IA li apprende e li amplifica nel tempo.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03580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Interazioni complesse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In reti e mercati finanziari, piu' algoritmi simili interagiscono con effetti a cascata imprevedibili.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03580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Obiettivi mal definiti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Un obiettivo mal specificato puo' portare a comportamenti ottimizzati ma dannosi per l'essere umano.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3035808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Attacchi avversariali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40782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Input appositamente costruiti per ingannare il modello e generare errori o comportamenti malevoli.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04 · Perche' l'IA puo' sfuggire al controllo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256032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BIAS E AMPLIFICAZIONE DEI PREGIUDIZI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07008"/>
            <a:ext cx="8046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Bias: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errori sistematici negli algoritmi causati da dati di training non rappresentativi, incompleti o storicamente discriminatori. L'IA non crea pregiudizi: li apprende dai dati umani e li amplifica automaticamente.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201168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30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Riconoscimento facciale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Studio Buolamwini (MIT): piu' errori con donne afroamericane rispetto agli uomini bianchi. Causa: meno volti di colore nel training set.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05740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057400"/>
            <a:ext cx="201168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30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COMPAS (giustizia USA)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Algoritmo per valutare il rischio di recidiva: predice rischio piu' alto per afroamericani a parita' di condizioni oggettive.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201168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47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Selezione del personale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Amazon (2017): algoritmo di recruiting scartava le donne. Addestrato su CV maschili storici, replicava il bias di genere preesistente.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201168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547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Credito bancario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8862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Algoritmi di credit scoring penalizzavano minoranze etniche e residenti in aree svantaggiate, riproducendo discriminazioni storiche.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05 · Bias algoritmici e casi reali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TIPOLOGIE DI DISCRIMINAZIONE ALGORITMICA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Razziale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45720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280160"/>
            <a:ext cx="37490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82%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126187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Dati storici con pregiudizi razziali appresi e replicati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Genere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029968"/>
            <a:ext cx="45720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2029968"/>
            <a:ext cx="338328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842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74%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20116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Stereotipi di genere orientano verso percorsi tradizionali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73405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Socioeconomica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779776"/>
            <a:ext cx="45720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779776"/>
            <a:ext cx="310896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7340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68%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7614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Divario digitale penalizza studenti con meno risorse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4838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Linguistica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3529584"/>
            <a:ext cx="45720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3529584"/>
            <a:ext cx="25146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4838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55%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351129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Standard linguistici di maggioranza penalizzano i non madrelingua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2336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Neurodiversita'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4279392"/>
            <a:ext cx="457200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4279392"/>
            <a:ext cx="219456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23367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48%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426110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Studenti con ADHD classificati erroneamente come poco motivati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Dati indicativi a fini didattici, elaborati dalla letteratura citata nelle fonti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05 · Tipologie di discriminazione algoritmica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2FF"/>
                </a:solidFill>
              </a:rPr>
              <a:t>05  AUTONOMIA UMANA E RESPONSABILITA'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61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Principio fondamentale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EF2FF"/>
                </a:solidFill>
              </a:rPr>
              <a:t>Le scelte fatte da un sistema di IA non possono diventare automaticamente effettive. L'ultima parola deve essere sempre quella dell'essere umano, che si assume la responsabilita' della decisione.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7772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40280"/>
            <a:ext cx="20116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Corte Suprema del Wisconsin (2016)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</a:rPr>
              <a:t>COMPAS puo' essere usato solo come strumento di supporto e non sostitutivo della discrezionalita' del giudice.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8412480" cy="7772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154680"/>
            <a:ext cx="201168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Raccomandazione 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5021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</a:rPr>
              <a:t>I sistemi IA devono essere progettati con supervisione umana significativa, specialmente in ambiti ad alto rischio.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069080"/>
            <a:ext cx="201168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Principio di Accountability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</a:rPr>
              <a:t>Le decisioni algoritmiche devono essere comprensibili, verificabili e, se necessario, contestabili e modificabili.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05 · Autonomia umana e responsabilita' nelle decisioni IA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256032" cy="4114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DEEPFAKE E DISINFORMAZIONE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02920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Cos'e' il Deepfake?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Tecnica IA basata su GAN (Generative Adversarial Network):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Modifica video facendo dire cio' che si vuole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Riproduce voce e fattezze in modo realistico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Sostituisce il volto su un altro corpo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Genera persone che non esistono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143000"/>
            <a:ext cx="3200400" cy="21031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143000"/>
            <a:ext cx="3200400" cy="4754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170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Usi illeciti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1691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Furto di identita'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Manipolazione politica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Fake news virali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Cyber attacchi biometrici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Violazione della privacy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8412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924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Facebook DEC (2020) · La risposta dell'IA all'IA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Deep Entity Classification: software che analizza comportamenti degli utenti e individua profili falsi e contenuti deepfake. La "battaglia tra macchine" e' iniziata: IA attaccante vs IA difensiva.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06 · Deepfake, disinformazione e contrasto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F"/>
                </a:solidFill>
              </a:rPr>
              <a:t>06  FAKE NEWS E MANIPOLAZIONE DELL'OPINIONE PUBBLICA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2344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Sondaggio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Algoritmi scansionano i social per individuare argomenti che appassionano il pubblico.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23444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127248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Creazione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4688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Generano contenuti falsi personalizzati per diversi segmenti di pubblico.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6088" y="1234440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276088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Diffusione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Diffondono i contenuti attraverso bot e reti di falsi profili opportunamente creati.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19659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24928" y="123444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424928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Effetti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4688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Polarizzazione, sfiducia, manipolazione elettorale, erosione della democrazia.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3616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2FF"/>
                </a:solidFill>
              </a:rPr>
              <a:t>"La disinformazione e' una minaccia alla liberta' di pensiero e crea una societa' in cui nessuno crede piu' a nulla. Tutto e' plausibile, ma nulla e' sicuramente vero."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06 · Fake news e manipolazione algoritmica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IA NELL'EDUCAZIONE: OPPORTUNITA'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26187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61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Personalizzazione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Percorsi su misura per ogni studente, adattati a stili e ritmi individuali.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26187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261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28016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Monitoraggio progressi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73736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Analisi in tempo reale dei risultati e identificazione precoce di difficolta'.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26187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261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28016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Predizione abbandono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73736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Strumenti predittivi per individuare studenti a rischio e intervenire prima.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71800"/>
            <a:ext cx="265176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" y="304495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Inclusione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52044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Supporto differenziato per studenti con BES, DSA o disabilita'.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9718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71800"/>
            <a:ext cx="2651760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3310128" y="304495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Accesso globale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52044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Riduzione delle barriere geografiche e sociali all'accesso a risorse educative.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971800"/>
            <a:ext cx="265176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044952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447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Ottimizzazione gestione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3520440"/>
            <a:ext cx="242316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Automazione di attivita' amministrative per liberare tempo ai docenti.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07 · IA nell'educazione: opportunita'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IA NELL'EDUCAZIONE: RISCHI ETICI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01168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Bias di genere e razziale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Algoritmi possono orientare studenti verso percorsi basati su stereotipi, limitando la liberta' di scelta.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201168" cy="10789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Divario digitale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Studenti senza dispositivi o connessione adeguata vengono penalizzati nella valutazione non per competenze, ma per mancanza di accesso.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188720"/>
            <a:ext cx="201168" cy="10789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Bias e neurodiversita'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Software di monitoraggio dell'attenzione classificano erroneamente studenti con ADHD come 'poco motivati'.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23160"/>
            <a:ext cx="201168" cy="1078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Amplificazione disuguaglianze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Algoritmi favoriscono studenti gia' avvantaggiati. Scuole in aree svantaggiate ricevono meno supporto dagli strumenti 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23160"/>
            <a:ext cx="201168" cy="10789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Sorveglianza e manipolazione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Raccolta di dati biometrici senza piena consapevolezza. Rischio di influenzare motivazione e aspirazioni senza che lo studente lo sappia.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23160"/>
            <a:ext cx="416052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23160"/>
            <a:ext cx="201168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Correttori automatici penalizzanti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Sistemi di valutazione penalizzano studenti con background linguistico diverso, non per contenuto ma per differenze stilistiche.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07 · Rischi etici dell'IA in ambito educativo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F"/>
                </a:solidFill>
              </a:rPr>
              <a:t>08  PRIVACY, GDPR E AI 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" cy="1600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GDPR — Regolamento Generale sulla Protezione dei Dati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Raccogliere solo i dati strettamente necessari (minimizzazione)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Informare chiaramente studenti e famiglie sull'uso dei dati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Garantire il diritto di accesso, rettifica e cancellazione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Protezione speciale per i dati di minori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841248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88920"/>
            <a:ext cx="201168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AI Act — Regolamento UE sull'Intelligenza Artificiale (2024)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Classificazione dei sistemi IA per livello di rischio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Sistemi ad alto rischio (educazione, giustizia, occupazione) soggetti a requisiti stringenti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Obbligo di trasparenza, tracciabilita' e supervisione umana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D0"/>
                </a:solidFill>
              </a:rPr>
              <a:t>Divieto di sistemi di social scoring e manipolazione psicologica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5262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F2FF"/>
                </a:solidFill>
              </a:rPr>
              <a:t>GDPR e AI Act non sono ostacoli, ma garanzie fondamentali per proteggere i diritti di tutti e costruire un sistema educativo sicuro e moderno.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08 · Privacy, GDPR e AI Act nell'educazione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09  GOVERNANCE DELL'IA: CHI CONTROLLA?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1615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Scuole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Adottano DPIA, formano docenti, informano famiglie e studenti, scelgono piattaforme sicure.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188720"/>
            <a:ext cx="19659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1615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Istituzioni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Definiscono standard, validano algoritmi, offrono indicazioni pratiche, finanziano la formazione.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1615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Aziende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Garantiscono conformita' normativa, trasparenza degli algoritmi e aggiornamenti costanti.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188720"/>
            <a:ext cx="19659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1615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Famiglie &amp; Studenti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17373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Parte attiva nelle scelte, informati sui rischi, protagonisti del dibattito — non semplici utenti passivi.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20116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502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 soluzione sta nel lavoro di squadra: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standard condivisi  ·  verifiche indipendenti  ·  formazione continua dei docenti  ·  coinvolgimento della comunita'  ·  politiche pubbliche di supporto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09 · Governance dell'IA nell'educazione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256032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09  SOLUZIONI PRATICHE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35608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DPIA — Valutazione d'Impatto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6184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Adottare sistematicamente la Data Protection Impact Assessment prima di introdurre nuovi strumenti 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3560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2392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Alfabetizzazione digitale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2392" y="16184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Integrare nei curricula l'educazione alla protezione dei dati, sicurezza informatica e uso critico delle tecnologie.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15768"/>
            <a:ext cx="438912" cy="43891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Audit continui degli algoritmi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8986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Monitoraggio periodico per individuare e correggere bias algoritmici prima che producano discriminazioni.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715768"/>
            <a:ext cx="438912" cy="438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15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22392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Stewardship partecipata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28986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Modelli in cui scuole e famiglie controllano in modo trasparente i dati generati dagli studenti.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995928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Crittografia e sicurezza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Crittografia avanzata, autenticazione sicura e formazione del personale sulla gestione di dati sensibili.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40690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99592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22392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Supervisione umana effettiva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22392" y="41788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Ogni decisione algoritmica deve essere accompagnata da revisione umana qualificata e possibilita' di contestazione.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09 · Soluzioni pratiche per un'IA responsabile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EF2FF"/>
                </a:solidFill>
              </a:rPr>
              <a:t>10  I 7 PRINCIPI ETICI UE PER L'IA AFFIDABILE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0700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07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Supervisione umana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20700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07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298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Robustezza tecnica e sicurezza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16712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258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Privacy e governance dei dati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167128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258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Trasparenza e spiegabilita'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127248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Diversita', non discriminazione ed equita'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127248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Benessere sociale e ambientale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14600" y="4041648"/>
            <a:ext cx="41148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51760" y="4151376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41513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7560" y="42428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</a:rPr>
              <a:t>Responsabilita' (Accountability)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10 · 7 Principi etici UE per l'IA affidabile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F"/>
                </a:solidFill>
              </a:rPr>
              <a:t>10  SINTESI: L'IA TRA OPPORTUNITA' E RESPONSABILITA'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1234440"/>
            <a:ext cx="640080" cy="41148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764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L'IA non e' ne' buona ne' cattiva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2677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E' il suo uso che la rende vantaggiosa o dannosa. La tecnologia e' uno strumento: dipende da chi la progetta, per chi e con quali valori.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9748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0248" y="1234440"/>
            <a:ext cx="640080" cy="411480"/>
          </a:xfrm>
          <a:prstGeom prst="ellipse">
            <a:avLst/>
          </a:prstGeom>
          <a:solidFill>
            <a:srgbClr val="EA580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55848" y="1764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 bias riflettono noi stessi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2677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L'IA apprende dai dati umani. Se i dati contengono discriminazioni storiche, l'algoritmo le amplifica. Il problema e' prima di tutto umano.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6974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7150608" y="1234440"/>
            <a:ext cx="640080" cy="411480"/>
          </a:xfrm>
          <a:prstGeom prst="ellipse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50608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36208" y="1764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 governance e' una scelta collettiva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22677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Scuole, istituzioni, aziende, famiglie e studenti devono collaborare. Non puo' esistere solitudine decisionale di fronte a strumenti cosi' impattanti.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8412480" cy="7772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F2FF"/>
                </a:solidFill>
              </a:rPr>
              <a:t>"Solo combinando competenze critiche, regole trasparenti e garanzie solide sulla privacy sara' possibile costruire un'IA che sia uno strumento di supporto equo e responsabile per tutti."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10 · Sintesi conclusiva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256032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DOMANDE PER LA CLASSE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43584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 un'auto a guida autonoma dovesse scegliere tra investire un pedone o proteggere il passeggero, quale algoritmo programmeresti?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65836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57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002536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Un algoritmo che predice le tue attitudini scolastiche potrebbe limitare la tua liberta' di scelta? Come ti sentiresti ad essere 'classificato'?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81635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76148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 social network che bloccano account che diffondono fake news stanno limitando la liberta' di espressione?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8412480" cy="65836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575304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575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52044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Chi dovrebbe avere l'ultima parola sull'uso dell'IA nelle scuole: i dirigenti, il Ministero, le famiglie o gli studenti?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334256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279392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 un'IA creasse un'opera d'arte o musicale, a chi spetterebbero i diritti d'autore? Le macchine possono essere creative?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Domande di approfondimento per la classe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EF2FF"/>
                </a:solidFill>
              </a:rPr>
              <a:t>FONTI E RIFERIMENTI BIBLIOGRAFICI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TESTO SCOLASTICO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Zanichelli — «Informatica» Cap. 2: Aspetti etici e sociali dell'intelligenza artificiale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928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RIVISTA SCIENTIFICA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Patrizia Natale — «Didattica e intelligenza artificiale: risvolti etici, problemi di privacy e sorveglianza», Lessico di Etica Pubblica, 2/2024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8833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NORMATIVA 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GDPR — Regolamento (UE) 2016/679  |  AI Act — Regolamento UE sull'IA (2024)  |  White Paper on AI, Commissione Europea, 2020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48386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LETTERATURA CITATA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Holmes et al. — AI in Education: Promises and Implications (2019)  |  Baker &amp; Hawn — Algorithmic Bias in Education (2021)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Angwin et al. — Machine Bias, ProPublica (2016)  |  Reuters — Amazon hiring AI gender bias (2018)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2793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APPROFONDIMENTI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1713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Asimov, Isaac — Le Tre Leggi della Robotica (1941-1985)  |  Foot, Philippa R. — Dilemma del Carrello (1967)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0"/>
                </a:solidFill>
              </a:rPr>
              <a:t>Buolamwini, Joy — Bias nel riconoscimento facciale, MIT Media Lab (2018)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BCC"/>
                </a:solidFill>
              </a:rPr>
              <a:t>Fonti e riferimenti bibliografici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731520"/>
            <a:ext cx="1645920" cy="16459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926080"/>
            <a:ext cx="1371600" cy="1371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F2FF"/>
                </a:solidFill>
              </a:rPr>
              <a:t>"L'IA non e' ne' buona ne' cattiva,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e' il suo uso che puo' renderla vantaggiosa o dannosa."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0" y="2240280"/>
            <a:ext cx="4572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090AA"/>
                </a:solidFill>
              </a:rPr>
              <a:t>Cap. 2 — Informatica, Zanichelli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EEF2FF"/>
                </a:solidFill>
              </a:rPr>
              <a:t>Etica dell'Intelligenza Artificiale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IIS Fermi Sacconi Ceci — Ascoli Piceno  |  digitalmenti.eu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Etica dell'Intelligenza Artificiale</dc:title>
  <dc:subject>PptxGenJS Presentation</dc:subject>
  <dc:creator>Massimo Ferretti</dc:creator>
  <cp:lastModifiedBy>Massimo Ferretti</cp:lastModifiedBy>
  <cp:revision>1</cp:revision>
  <dcterms:created xsi:type="dcterms:W3CDTF">2026-03-15T20:45:30Z</dcterms:created>
  <dcterms:modified xsi:type="dcterms:W3CDTF">2026-03-15T20:45:30Z</dcterms:modified>
</cp:coreProperties>
</file>