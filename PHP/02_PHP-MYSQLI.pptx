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embeddedFontLst>
    <p:embeddedFont>
      <p:font typeface="Raleway"/>
      <p:regular r:id="rId65"/>
      <p:bold r:id="rId66"/>
      <p:italic r:id="rId67"/>
      <p:boldItalic r:id="rId68"/>
    </p:embeddedFont>
    <p:embeddedFont>
      <p:font typeface="Robot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Robot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-italic.fntdata"/><Relationship Id="rId70" Type="http://schemas.openxmlformats.org/officeDocument/2006/relationships/font" Target="fonts/Robot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aleway-bold.fntdata"/><Relationship Id="rId21" Type="http://schemas.openxmlformats.org/officeDocument/2006/relationships/slide" Target="slides/slide16.xml"/><Relationship Id="rId65" Type="http://schemas.openxmlformats.org/officeDocument/2006/relationships/font" Target="fonts/Raleway-regular.fntdata"/><Relationship Id="rId24" Type="http://schemas.openxmlformats.org/officeDocument/2006/relationships/slide" Target="slides/slide19.xml"/><Relationship Id="rId68" Type="http://schemas.openxmlformats.org/officeDocument/2006/relationships/font" Target="fonts/Raleway-boldItalic.fntdata"/><Relationship Id="rId23" Type="http://schemas.openxmlformats.org/officeDocument/2006/relationships/slide" Target="slides/slide18.xml"/><Relationship Id="rId67" Type="http://schemas.openxmlformats.org/officeDocument/2006/relationships/font" Target="fonts/Raleway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8cf74fc3c8ff37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8cf74fc3c8ff37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8cf74fc3c8ff37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8cf74fc3c8ff37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83a51eb3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83a51eb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3a51eb3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83a51eb3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83a51eb30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83a51eb3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a871e3a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a871e3a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a871e3a1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a871e3a1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79c8c54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79c8c54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88da2b45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88da2b4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e9217d8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e9217d8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e9217d8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8e9217d8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88da2b459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88da2b45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149cbc18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149cbc18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a871e3a1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a871e3a1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149cbc1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149cbc1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a871e3a1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a871e3a1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a871e3a1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a871e3a1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a871e3a1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a871e3a1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a871e3a1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a871e3a1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a871e3a1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aa871e3a1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a871e3a1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aa871e3a1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a871e3a1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a871e3a1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aeda461f4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aeda461f4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aeda461f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aeda461f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b13dce33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b13dce33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eda461f4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aeda461f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aeda461f4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aeda461f4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a871e3a1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a871e3a1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eda461f4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aeda461f4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b2633bd7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b2633bd7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2633bd7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2633bd7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2633bd7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2633bd7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2633bd7a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b2633bd7a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2633bd7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b2633bd7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a871e3a1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aa871e3a1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a871e3a1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aa871e3a1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a871e3a1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aa871e3a1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879c8c54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879c8c54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6a84bd872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6a84bd872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aa871e3a1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aa871e3a1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aa871e3a1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aa871e3a1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a871e3a1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aa871e3a1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aa871e3a1b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aa871e3a1b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aa871e3a1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aa871e3a1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aa871e3a1b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aa871e3a1b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aa871e3a1b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aa871e3a1b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a871e3a1b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aa871e3a1b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aa871e3a1b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aa871e3a1b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aa871e3a1b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aa871e3a1b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aa871e3a1b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aa871e3a1b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aa871e3a1b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aa871e3a1b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aa871e3a1b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aa871e3a1b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b1623b34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b1623b34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a871e3a1b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aa871e3a1b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a871e3a1b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aa871e3a1b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a871e3a1b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aa871e3a1b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a871e3a1b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aa871e3a1b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aa871e3a1b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aa871e3a1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hyperlink" Target="https://www.w3schools.com/php/func_mysqli_connect_errno.asp" TargetMode="External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php/func_mysqli_connect_error.as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php.net/manual/en/mysqli.close.php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php.net/manual/en/mysqli.close.ph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hyperlink" Target="https://www.w3schools.com/php/func_mysqli_fetch_assoc.asp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hyperlink" Target="https://www.w3schools.com/php/func_mysqli_fetch_row.as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901450" y="34622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PHP - MYSQLi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93052" y="20305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Fedeli Massimo - IIS E.Fermi - Sacconi - Ceci    2023/24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175" y="152400"/>
            <a:ext cx="621452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27650" y="119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DBMS MYSQL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88925" y="6871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it" sz="2000">
                <a:solidFill>
                  <a:schemeClr val="dk2"/>
                </a:solidFill>
              </a:rPr>
              <a:t>MySQL è  un  DBMS  Server  basato  su  SQL, multipiattaforma, </a:t>
            </a:r>
            <a:r>
              <a:rPr b="1" lang="it" sz="2000">
                <a:solidFill>
                  <a:schemeClr val="dk2"/>
                </a:solidFill>
              </a:rPr>
              <a:t>relazionale</a:t>
            </a:r>
            <a:r>
              <a:rPr lang="it" sz="2000">
                <a:solidFill>
                  <a:schemeClr val="dk2"/>
                </a:solidFill>
              </a:rPr>
              <a:t>, con licenza </a:t>
            </a:r>
            <a:r>
              <a:rPr b="1" lang="it" sz="2000">
                <a:solidFill>
                  <a:schemeClr val="dk2"/>
                </a:solidFill>
              </a:rPr>
              <a:t>open source</a:t>
            </a:r>
            <a:r>
              <a:rPr lang="it" sz="2000">
                <a:solidFill>
                  <a:schemeClr val="dk2"/>
                </a:solidFill>
              </a:rPr>
              <a:t>.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it" sz="2000">
                <a:solidFill>
                  <a:schemeClr val="dk2"/>
                </a:solidFill>
              </a:rPr>
              <a:t>Per utilizzare MySQL dobbiamo innanzitutto attivare il servizio, facendo clic sul  pulsante  “</a:t>
            </a:r>
            <a:r>
              <a:rPr b="1" lang="it" sz="2000">
                <a:solidFill>
                  <a:schemeClr val="dk2"/>
                </a:solidFill>
              </a:rPr>
              <a:t>Start</a:t>
            </a:r>
            <a:r>
              <a:rPr lang="it" sz="2000">
                <a:solidFill>
                  <a:schemeClr val="dk2"/>
                </a:solidFill>
              </a:rPr>
              <a:t>” posto  accanto  alla scritta MySQL del pannello di amministrazione XAMPP.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it" sz="2000">
                <a:solidFill>
                  <a:schemeClr val="dk2"/>
                </a:solidFill>
              </a:rPr>
              <a:t>L’ambiente di amministrazione di MYSQL è denominato  </a:t>
            </a:r>
            <a:r>
              <a:rPr b="1" lang="it" sz="2000">
                <a:solidFill>
                  <a:schemeClr val="dk2"/>
                </a:solidFill>
              </a:rPr>
              <a:t>phpMyAdmin.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it" sz="2000">
                <a:solidFill>
                  <a:schemeClr val="dk2"/>
                </a:solidFill>
              </a:rPr>
              <a:t>Per  entrare  nell’ambiente di amministrazione, dobbiamo fare clic sul pulsante Admin, posto accanto al pulsante MySQL presente nel pannello di controllo di XAMPP.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61600" y="7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DBMS MYSQL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50" y="610800"/>
            <a:ext cx="6799449" cy="44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 rot="-1778654">
            <a:off x="4001838" y="2623356"/>
            <a:ext cx="1143925" cy="2443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877525" y="95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DBMS MYSQL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877525" y="699475"/>
            <a:ext cx="7688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Attraverso l’</a:t>
            </a:r>
            <a:r>
              <a:rPr lang="it" sz="2000"/>
              <a:t>ambiente di amministrazione </a:t>
            </a:r>
            <a:r>
              <a:rPr b="1" lang="it" sz="2000"/>
              <a:t>phpMyAdmin</a:t>
            </a:r>
            <a:r>
              <a:rPr lang="it" sz="2000"/>
              <a:t> </a:t>
            </a:r>
            <a:r>
              <a:rPr lang="it" sz="2000"/>
              <a:t>possiamo accedere a un database selezionandolo nella colonna di sinistra, come mostrato nella figura della slide successiva.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La finestra che si apre consente di creare tabelle e database offrendo un ambiente di tipo GUI.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838775" y="8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DBMS MYSQL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894175" y="622475"/>
            <a:ext cx="798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In questo esempio selezioniamo il database di nome </a:t>
            </a:r>
            <a:r>
              <a:rPr b="1" lang="it" sz="1800"/>
              <a:t>test</a:t>
            </a:r>
            <a:r>
              <a:rPr lang="it" sz="1800"/>
              <a:t>, </a:t>
            </a:r>
            <a:r>
              <a:rPr lang="it" sz="1800"/>
              <a:t>espando il simbolo “+” si possono visualizzare le tabelle contenute al suo interno.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Un click sul nome del database permette di accedere a delle funzioni di amministrazione.</a:t>
            </a:r>
            <a:endParaRPr sz="18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675" y="2046400"/>
            <a:ext cx="8077194" cy="27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894175" y="3806200"/>
            <a:ext cx="522300" cy="83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MYSQLi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727650" y="672150"/>
            <a:ext cx="78726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Il linguaggio PHP dispone della classe denominata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mysqli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per l’interazione con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DBMS MySQL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Caratteristica di questa libreria è il fatto di esporre sia un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approccio procedurale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, sia un approccio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orientato agli oggetti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due approcci possono essere utilizzati anche nel contesto dello stesso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script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727650" y="102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Classe</a:t>
            </a:r>
            <a:r>
              <a:rPr lang="it"/>
              <a:t> mysqli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350" y="255050"/>
            <a:ext cx="4734850" cy="47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179250" y="715050"/>
            <a:ext cx="38394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Il linguaggio PHP dispone della libreria denominata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mysqli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per l’interazione con il DBMS MySQL.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Caratteristica di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questa libreria è il fatto di esporre sia un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approccio procedurale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, sia un approccio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orientato agli oggetti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: i due approcci possono essere utilizzati anche nel contesto dello stesso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script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179250" y="102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Interfaccia mysqli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693575" y="109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Connessione al database</a:t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727625" y="702550"/>
            <a:ext cx="8150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La sintassi per creare la connessione tra PHP e un database MySQL è la seguente: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$conn</a:t>
            </a:r>
            <a:r>
              <a:rPr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= new </a:t>
            </a:r>
            <a:r>
              <a:rPr b="1"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mysqli </a:t>
            </a:r>
            <a:r>
              <a:rPr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(«nomeHost»,</a:t>
            </a:r>
            <a:r>
              <a:rPr lang="it" sz="2000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«username</a:t>
            </a:r>
            <a:r>
              <a:rPr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»,</a:t>
            </a:r>
            <a:r>
              <a:rPr lang="it" sz="2000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password»,</a:t>
            </a:r>
            <a:r>
              <a:rPr lang="it" sz="2000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it" sz="20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dbname»)</a:t>
            </a:r>
            <a:endParaRPr sz="20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Parametri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: 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$nomeHost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: macchina che esegue il DBMS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$username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: utente per l’accesso al database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it" sz="20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$password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: password associata all’utente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it" sz="20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$dbname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: nome del database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La variabile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$conn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, è l’oggetto che rappresenta la connessione.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93575" y="109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Valori restituiti</a:t>
            </a:r>
            <a:endParaRPr/>
          </a:p>
        </p:txBody>
      </p:sp>
      <p:sp>
        <p:nvSpPr>
          <p:cNvPr id="121" name="Google Shape;121;p23"/>
          <p:cNvSpPr txBox="1"/>
          <p:nvPr/>
        </p:nvSpPr>
        <p:spPr>
          <a:xfrm>
            <a:off x="727625" y="702550"/>
            <a:ext cx="81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150" y="754000"/>
            <a:ext cx="5314449" cy="409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224100" y="760300"/>
            <a:ext cx="2520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Il costruttore usato in stile object-oriented restituisce </a:t>
            </a:r>
            <a:r>
              <a:rPr b="1"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True </a:t>
            </a: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se la connessione ha successo altrimenti </a:t>
            </a:r>
            <a:r>
              <a:rPr b="1"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693575" y="109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Valori restituiti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727625" y="702550"/>
            <a:ext cx="815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424900" y="3330850"/>
            <a:ext cx="82809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Il costruttore usato in </a:t>
            </a:r>
            <a:r>
              <a:rPr b="1"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stile procedurale </a:t>
            </a: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restituisce un oggetto della classe MySqli se ha la connessione avviene con successo altrimenti false.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00" y="817350"/>
            <a:ext cx="8839202" cy="2341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metodo connect_errno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727650" y="654725"/>
            <a:ext cx="8150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Il metodo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connect_errno()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consente di verificare successivamente se la connessione è avvenuta regolarmente, in particolare restituisce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zero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se la connessione è avvenuta senza problemi.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0" y="1985325"/>
            <a:ext cx="7229400" cy="27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56700" y="4743300"/>
            <a:ext cx="57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https://www.w3schools.com/php/func_mysqli_connect_errno.asp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9238" y="4362300"/>
            <a:ext cx="64674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Connessione al database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605025" y="724175"/>
            <a:ext cx="81504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Possiamo ottenere il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codice specifico dell’errore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che si è eventualmente verificato mediante la funzione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$conn-&gt;connect_errno()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Per ottenere la descrizione dell’errore possiamo usare la funzione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$connect-&gt; connect_error()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2"/>
                </a:solidFill>
              </a:rPr>
              <a:t>Fatal error</a:t>
            </a:r>
            <a:r>
              <a:rPr lang="it" sz="1700">
                <a:solidFill>
                  <a:schemeClr val="dk2"/>
                </a:solidFill>
              </a:rPr>
              <a:t>: Uncaught mysqli_sql_exception: Access denied for user 'root'@'localhost' (using password: YES) 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7" name="Google Shape;147;p26"/>
          <p:cNvSpPr txBox="1"/>
          <p:nvPr/>
        </p:nvSpPr>
        <p:spPr>
          <a:xfrm>
            <a:off x="727650" y="4478750"/>
            <a:ext cx="875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https://www.w3schools.com/php/func_mysqli_connect_error.asp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Connessione al database</a:t>
            </a:r>
            <a:endParaRPr/>
          </a:p>
        </p:txBody>
      </p:sp>
      <p:sp>
        <p:nvSpPr>
          <p:cNvPr id="153" name="Google Shape;153;p27"/>
          <p:cNvSpPr txBox="1"/>
          <p:nvPr/>
        </p:nvSpPr>
        <p:spPr>
          <a:xfrm>
            <a:off x="605025" y="724175"/>
            <a:ext cx="81504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Al termine dello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script 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bisogna rilasciare la risorsa, soprattutto per evitare problemi di sovraccarico del Web server, che altrimenti sarebbe costretto a lasciare un canale aperto a ogni connessione terminata.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Per chiudere la connessione si utilizza il metodo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$conn-&gt;close()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https://www.php.net/manual/en/mysqli.close.php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dice la documentazione sul “close”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605025" y="724175"/>
            <a:ext cx="8150400" cy="5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2000">
                <a:latin typeface="Roboto"/>
                <a:ea typeface="Roboto"/>
                <a:cs typeface="Roboto"/>
                <a:sym typeface="Roboto"/>
              </a:rPr>
              <a:t>“Open non-persistent MySQL connections and result sets </a:t>
            </a:r>
            <a:r>
              <a:rPr b="1" i="1" lang="it" sz="2000">
                <a:latin typeface="Roboto"/>
                <a:ea typeface="Roboto"/>
                <a:cs typeface="Roboto"/>
                <a:sym typeface="Roboto"/>
              </a:rPr>
              <a:t>are automatically closed </a:t>
            </a:r>
            <a:r>
              <a:rPr i="1" lang="it" sz="2000">
                <a:latin typeface="Roboto"/>
                <a:ea typeface="Roboto"/>
                <a:cs typeface="Roboto"/>
                <a:sym typeface="Roboto"/>
              </a:rPr>
              <a:t>when their objects are destroyed. Explicitly closing open connections and freeing result sets </a:t>
            </a:r>
            <a:r>
              <a:rPr b="1" i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is optional</a:t>
            </a:r>
            <a:r>
              <a:rPr i="1" lang="it" sz="2000">
                <a:latin typeface="Roboto"/>
                <a:ea typeface="Roboto"/>
                <a:cs typeface="Roboto"/>
                <a:sym typeface="Roboto"/>
              </a:rPr>
              <a:t>. 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However,</a:t>
            </a:r>
            <a:r>
              <a:rPr i="1" lang="it" sz="2000">
                <a:latin typeface="Roboto"/>
                <a:ea typeface="Roboto"/>
                <a:cs typeface="Roboto"/>
                <a:sym typeface="Roboto"/>
              </a:rPr>
              <a:t> it's a good idea to close the connection as soon as the script finishes performing all of its database operations, if it still has a lot of processing to do after getting the results.</a:t>
            </a:r>
            <a:r>
              <a:rPr i="1" lang="it" sz="2000">
                <a:latin typeface="Roboto"/>
                <a:ea typeface="Roboto"/>
                <a:cs typeface="Roboto"/>
                <a:sym typeface="Roboto"/>
              </a:rPr>
              <a:t> “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https://www.php.net/manual/en/mysqli.close.php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query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792425" y="717350"/>
            <a:ext cx="81504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Attraverso il metodo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query()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inviamo una query SQL, passata come parametro tra parentesi, al database aperto.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Esempio.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$sql 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= “Select * from Anagrafica where Cognome like ‘Ros%’;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$ris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= $con→query($sql);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query</a:t>
            </a:r>
            <a:endParaRPr/>
          </a:p>
        </p:txBody>
      </p:sp>
      <p:sp>
        <p:nvSpPr>
          <p:cNvPr id="171" name="Google Shape;171;p30"/>
          <p:cNvSpPr txBox="1"/>
          <p:nvPr/>
        </p:nvSpPr>
        <p:spPr>
          <a:xfrm>
            <a:off x="727650" y="654725"/>
            <a:ext cx="76887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Descrizione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Il metodo query è utilizzato per eseguire le query SQL su un database MySQL utilizzando l'interfaccia object-oriented di mysqli in PHP.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Può essere impiegato per eseguire operazioni di interrogazione del database come SELECT, INSERT, UPDATE, DELETE e altre.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Parametri in Ingresso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$query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(string): la stringa contenente la query SQL da eseguire sul database.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query - valori restituiti</a:t>
            </a:r>
            <a:endParaRPr/>
          </a:p>
        </p:txBody>
      </p:sp>
      <p:sp>
        <p:nvSpPr>
          <p:cNvPr id="177" name="Google Shape;177;p31"/>
          <p:cNvSpPr txBox="1"/>
          <p:nvPr/>
        </p:nvSpPr>
        <p:spPr>
          <a:xfrm>
            <a:off x="727650" y="654725"/>
            <a:ext cx="76887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latin typeface="Roboto"/>
                <a:ea typeface="Roboto"/>
                <a:cs typeface="Roboto"/>
                <a:sym typeface="Roboto"/>
              </a:rPr>
              <a:t>Se la query è di tipo SELECT o altre operazioni che restituiscono risultati, il metodo restituirà un oggetto</a:t>
            </a:r>
            <a:r>
              <a:rPr b="1" lang="it" sz="1900">
                <a:latin typeface="Roboto"/>
                <a:ea typeface="Roboto"/>
                <a:cs typeface="Roboto"/>
                <a:sym typeface="Roboto"/>
              </a:rPr>
              <a:t> mysqli_result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 contenente i dati risultanti.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latin typeface="Roboto"/>
                <a:ea typeface="Roboto"/>
                <a:cs typeface="Roboto"/>
                <a:sym typeface="Roboto"/>
              </a:rPr>
              <a:t>Per le query di tipo </a:t>
            </a:r>
            <a:r>
              <a:rPr b="1" lang="it" sz="1900">
                <a:latin typeface="Roboto"/>
                <a:ea typeface="Roboto"/>
                <a:cs typeface="Roboto"/>
                <a:sym typeface="Roboto"/>
              </a:rPr>
              <a:t>UPDATE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1900">
                <a:latin typeface="Roboto"/>
                <a:ea typeface="Roboto"/>
                <a:cs typeface="Roboto"/>
                <a:sym typeface="Roboto"/>
              </a:rPr>
              <a:t>INSERT 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b="1" lang="it" sz="1900">
                <a:latin typeface="Roboto"/>
                <a:ea typeface="Roboto"/>
                <a:cs typeface="Roboto"/>
                <a:sym typeface="Roboto"/>
              </a:rPr>
              <a:t>DELETE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, restituirà </a:t>
            </a:r>
            <a:r>
              <a:rPr b="1" lang="it" sz="19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true 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se l'operazione è stata eseguita con </a:t>
            </a:r>
            <a:r>
              <a:rPr b="1" lang="it" sz="19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successo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latin typeface="Roboto"/>
                <a:ea typeface="Roboto"/>
                <a:cs typeface="Roboto"/>
                <a:sym typeface="Roboto"/>
              </a:rPr>
              <a:t>In caso di </a:t>
            </a:r>
            <a:r>
              <a:rPr b="1" lang="it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errore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, restituirà </a:t>
            </a:r>
            <a:r>
              <a:rPr b="1" lang="it" sz="19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it" sz="1900">
                <a:latin typeface="Roboto"/>
                <a:ea typeface="Roboto"/>
                <a:cs typeface="Roboto"/>
                <a:sym typeface="Roboto"/>
              </a:rPr>
              <a:t>. 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latin typeface="Roboto"/>
                <a:ea typeface="Roboto"/>
                <a:cs typeface="Roboto"/>
                <a:sym typeface="Roboto"/>
              </a:rPr>
              <a:t>È possibile ottenere informazioni dettagliate sull'errore utilizzando altri metodi come error dell'oggetto di connessione ($conn-&gt;error)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mysqli_result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727650" y="654725"/>
            <a:ext cx="7688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L'oggetto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mysqli_result 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rappresenta il risultato di una query eseguita su un database MySQL utilizzando l'estensione mysqli di PHP.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Roboto"/>
                <a:ea typeface="Roboto"/>
                <a:cs typeface="Roboto"/>
                <a:sym typeface="Roboto"/>
              </a:rPr>
              <a:t>Si tratta di un oggetto della classe </a:t>
            </a:r>
            <a:r>
              <a:rPr b="1" lang="it" sz="2000">
                <a:latin typeface="Roboto"/>
                <a:ea typeface="Roboto"/>
                <a:cs typeface="Roboto"/>
                <a:sym typeface="Roboto"/>
              </a:rPr>
              <a:t>mysqli_result</a:t>
            </a:r>
            <a:r>
              <a:rPr lang="it" sz="2000">
                <a:latin typeface="Roboto"/>
                <a:ea typeface="Roboto"/>
                <a:cs typeface="Roboto"/>
                <a:sym typeface="Roboto"/>
              </a:rPr>
              <a:t> contenente proprietà e metodi utili per manipolare i dati contenuti nell’oggetto.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75" y="3871550"/>
            <a:ext cx="2961750" cy="10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/>
        </p:nvSpPr>
        <p:spPr>
          <a:xfrm>
            <a:off x="3744025" y="3887238"/>
            <a:ext cx="19389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latin typeface="Source Sans Pro"/>
                <a:ea typeface="Source Sans Pro"/>
                <a:cs typeface="Source Sans Pro"/>
                <a:sym typeface="Source Sans Pro"/>
              </a:rPr>
              <a:t>Metodo query</a:t>
            </a:r>
            <a:endParaRPr b="1" sz="2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86" name="Google Shape;186;p32"/>
          <p:cNvCxnSpPr>
            <a:stCxn id="184" idx="3"/>
            <a:endCxn id="185" idx="1"/>
          </p:cNvCxnSpPr>
          <p:nvPr/>
        </p:nvCxnSpPr>
        <p:spPr>
          <a:xfrm>
            <a:off x="3205525" y="4385387"/>
            <a:ext cx="5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32"/>
          <p:cNvCxnSpPr/>
          <p:nvPr/>
        </p:nvCxnSpPr>
        <p:spPr>
          <a:xfrm>
            <a:off x="5682925" y="4296525"/>
            <a:ext cx="538500" cy="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32"/>
          <p:cNvSpPr txBox="1"/>
          <p:nvPr/>
        </p:nvSpPr>
        <p:spPr>
          <a:xfrm>
            <a:off x="6401150" y="3887238"/>
            <a:ext cx="1938900" cy="9963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latin typeface="Source Sans Pro"/>
                <a:ea typeface="Source Sans Pro"/>
                <a:cs typeface="Source Sans Pro"/>
                <a:sym typeface="Source Sans Pro"/>
              </a:rPr>
              <a:t>mysqli_result</a:t>
            </a:r>
            <a:endParaRPr b="1" sz="2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mysqli_result</a:t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600" y="736475"/>
            <a:ext cx="6715095" cy="418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727650" y="11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mysqli_result - Metodi Principali</a:t>
            </a:r>
            <a:endParaRPr/>
          </a:p>
        </p:txBody>
      </p:sp>
      <p:sp>
        <p:nvSpPr>
          <p:cNvPr id="200" name="Google Shape;200;p34"/>
          <p:cNvSpPr txBox="1"/>
          <p:nvPr/>
        </p:nvSpPr>
        <p:spPr>
          <a:xfrm>
            <a:off x="727650" y="654725"/>
            <a:ext cx="76887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Roboto"/>
              <a:buChar char="●"/>
            </a:pPr>
            <a:r>
              <a:rPr b="1"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fetch_assoc()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: restituisce la riga corrente del risultato come un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array associativo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spostando l'indicatore interno alla riga successiva.</a:t>
            </a:r>
            <a:endParaRPr sz="20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Roboto"/>
              <a:buChar char="●"/>
            </a:pPr>
            <a:r>
              <a:rPr b="1"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fetch_row()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: restituisce la riga corrente del risultato come un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array numerico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spostando l'indicatore interno alla riga successiva.</a:t>
            </a:r>
            <a:endParaRPr sz="20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Roboto"/>
              <a:buChar char="●"/>
            </a:pPr>
            <a:r>
              <a:rPr b="1"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fetch_array()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: restituisce la riga corrente del risultato come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un array sia associativo che numerico</a:t>
            </a:r>
            <a:r>
              <a:rPr lang="it" sz="20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dando la possibilità di accedere ai dati utilizzando sia indici numerici che chiavi associative.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mysqli_fetch_assoc</a:t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25" y="680775"/>
            <a:ext cx="717232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 txBox="1"/>
          <p:nvPr/>
        </p:nvSpPr>
        <p:spPr>
          <a:xfrm>
            <a:off x="585175" y="3764650"/>
            <a:ext cx="71193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Restituisce un array associativo contenente una riga della tabella.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585175" y="4358900"/>
            <a:ext cx="806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u="sng">
                <a:solidFill>
                  <a:schemeClr val="hlink"/>
                </a:solidFill>
                <a:hlinkClick r:id="rId4"/>
              </a:rPr>
              <a:t>https://www.w3schools.com/php/func_mysqli_fetch_assoc.asp</a:t>
            </a:r>
            <a:endParaRPr sz="1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mysqli_fetch_assoc</a:t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25" y="2354675"/>
            <a:ext cx="58483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425" y="1055475"/>
            <a:ext cx="359092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mysqli_fetch_row</a:t>
            </a:r>
            <a:endParaRPr/>
          </a:p>
        </p:txBody>
      </p:sp>
      <p:sp>
        <p:nvSpPr>
          <p:cNvPr id="221" name="Google Shape;221;p37"/>
          <p:cNvSpPr txBox="1"/>
          <p:nvPr/>
        </p:nvSpPr>
        <p:spPr>
          <a:xfrm>
            <a:off x="536088" y="2989775"/>
            <a:ext cx="71193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Restituisce un </a:t>
            </a:r>
            <a:r>
              <a:rPr b="1"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array numerico</a:t>
            </a:r>
            <a:r>
              <a:rPr lang="it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 contenente una riga della tabella.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5" y="687600"/>
            <a:ext cx="6905625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7"/>
          <p:cNvSpPr txBox="1"/>
          <p:nvPr/>
        </p:nvSpPr>
        <p:spPr>
          <a:xfrm>
            <a:off x="642925" y="3793775"/>
            <a:ext cx="9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u="sng">
                <a:solidFill>
                  <a:schemeClr val="hlink"/>
                </a:solidFill>
                <a:hlinkClick r:id="rId4"/>
              </a:rPr>
              <a:t>https://www.w3schools.com/php/func_mysqli_fetch_row.asp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29177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Oggetto mysqli_fetch_row</a:t>
            </a:r>
            <a:endParaRPr/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00" y="687600"/>
            <a:ext cx="82772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6000"/>
            <a:ext cx="6641377" cy="18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213700" y="54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Recuperare tutte le righe - fetch_assoc</a:t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0" y="680775"/>
            <a:ext cx="8839201" cy="1852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00" y="2835180"/>
            <a:ext cx="8839199" cy="141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Recuperare tutte le righe - fetch_row</a:t>
            </a:r>
            <a:endParaRPr/>
          </a:p>
        </p:txBody>
      </p:sp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0" y="2835180"/>
            <a:ext cx="8839199" cy="1411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00" y="660350"/>
            <a:ext cx="8839200" cy="19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729450" y="11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fetch_all</a:t>
            </a:r>
            <a:endParaRPr/>
          </a:p>
        </p:txBody>
      </p:sp>
      <p:sp>
        <p:nvSpPr>
          <p:cNvPr id="250" name="Google Shape;250;p41"/>
          <p:cNvSpPr txBox="1"/>
          <p:nvPr/>
        </p:nvSpPr>
        <p:spPr>
          <a:xfrm>
            <a:off x="729450" y="707875"/>
            <a:ext cx="81504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Descrizione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Il metodo </a:t>
            </a: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mysqli_fetch_all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restituisce tutte le righe del risultato di una query come un </a:t>
            </a:r>
            <a:r>
              <a:rPr b="1" lang="it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array bidimensionale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. Ogni riga è rappresentata come un array associativo o numerico, a seconda dei parametri passati.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Parametri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result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(oggetto mysqli_result): l'oggetto contenente il risultato della query.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Roboto"/>
                <a:ea typeface="Roboto"/>
                <a:cs typeface="Roboto"/>
                <a:sym typeface="Roboto"/>
              </a:rPr>
              <a:t>resulttype 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(costante opzionale): specifica il tipo di array da utilizzare per rappresentare le righe. Può essere </a:t>
            </a:r>
            <a:r>
              <a:rPr b="1" lang="it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MYSQLI_ASSOC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 (predefinito), </a:t>
            </a:r>
            <a:r>
              <a:rPr b="1" lang="it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MYSQLI_NUM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, o </a:t>
            </a:r>
            <a:r>
              <a:rPr b="1" lang="it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MYSQLI_BOTH</a:t>
            </a:r>
            <a:r>
              <a:rPr lang="it" sz="1800"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Recuperare tutte le righe - fetch_all</a:t>
            </a:r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2650"/>
            <a:ext cx="8355800" cy="26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25" y="3220078"/>
            <a:ext cx="9143999" cy="187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Recuperare tutte le righe - fetch_all</a:t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75" y="833975"/>
            <a:ext cx="8839200" cy="3170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fetch_all(MYSQLI_ASSOC)</a:t>
            </a:r>
            <a:endParaRPr/>
          </a:p>
        </p:txBody>
      </p:sp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633125"/>
            <a:ext cx="7838750" cy="43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fetch_all(MYSQLI_ASSOC)</a:t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25" y="676700"/>
            <a:ext cx="77533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5"/>
          <p:cNvSpPr txBox="1"/>
          <p:nvPr/>
        </p:nvSpPr>
        <p:spPr>
          <a:xfrm>
            <a:off x="503450" y="3927375"/>
            <a:ext cx="79986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Restituisce solo array bidimensionale associativo</a:t>
            </a:r>
            <a:endParaRPr sz="20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fetch_all(MYSQLI_NUM)</a:t>
            </a:r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7600"/>
            <a:ext cx="7457835" cy="430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fetch_all(MYSQLI_ROW)</a:t>
            </a:r>
            <a:endParaRPr/>
          </a:p>
        </p:txBody>
      </p:sp>
      <p:sp>
        <p:nvSpPr>
          <p:cNvPr id="288" name="Google Shape;288;p47"/>
          <p:cNvSpPr txBox="1"/>
          <p:nvPr/>
        </p:nvSpPr>
        <p:spPr>
          <a:xfrm>
            <a:off x="503450" y="3927375"/>
            <a:ext cx="79986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Restituisce solo array bidimensionale numerico</a:t>
            </a:r>
            <a:endParaRPr sz="20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50" y="622200"/>
            <a:ext cx="5861427" cy="30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729450" y="11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</a:t>
            </a:r>
            <a:r>
              <a:rPr lang="it"/>
              <a:t>close</a:t>
            </a:r>
            <a:endParaRPr/>
          </a:p>
        </p:txBody>
      </p:sp>
      <p:sp>
        <p:nvSpPr>
          <p:cNvPr id="295" name="Google Shape;295;p48"/>
          <p:cNvSpPr txBox="1"/>
          <p:nvPr/>
        </p:nvSpPr>
        <p:spPr>
          <a:xfrm>
            <a:off x="729450" y="707875"/>
            <a:ext cx="8150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Il metodo </a:t>
            </a:r>
            <a:r>
              <a:rPr b="1" lang="it" sz="1800"/>
              <a:t>mysqli_close </a:t>
            </a:r>
            <a:r>
              <a:rPr lang="it" sz="1800"/>
              <a:t>chiude la connessione al database MySQL aperta con mysqli_connect o mysqli_real_connect. È importante </a:t>
            </a:r>
            <a:r>
              <a:rPr b="1" lang="it" sz="1800">
                <a:solidFill>
                  <a:srgbClr val="FF0000"/>
                </a:solidFill>
              </a:rPr>
              <a:t>chiudere la connessione</a:t>
            </a:r>
            <a:r>
              <a:rPr lang="it" sz="1800"/>
              <a:t> quando non è più necessaria per liberare risorse e prevenire connessioni persistenti non gestite.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/>
              <a:t>Parametri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link </a:t>
            </a:r>
            <a:r>
              <a:rPr lang="it" sz="1800"/>
              <a:t>(oggetto opzionale): l'oggetto di connessione a cui applicare la chiusura. Se non viene specificato, la connessione corrente viene chiusa.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/>
              <a:t>Valori Restituiti</a:t>
            </a:r>
            <a:endParaRPr b="1"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Restituisce </a:t>
            </a:r>
            <a:r>
              <a:rPr b="1" lang="it" sz="1800">
                <a:solidFill>
                  <a:srgbClr val="0000FF"/>
                </a:solidFill>
              </a:rPr>
              <a:t>true </a:t>
            </a:r>
            <a:r>
              <a:rPr lang="it" sz="1800"/>
              <a:t>in caso di successo e </a:t>
            </a:r>
            <a:r>
              <a:rPr b="1" lang="it" sz="1800">
                <a:solidFill>
                  <a:srgbClr val="FF0000"/>
                </a:solidFill>
              </a:rPr>
              <a:t>false </a:t>
            </a:r>
            <a:r>
              <a:rPr lang="it" sz="1800"/>
              <a:t>in caso di errore.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729450" y="112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Proprietà num_rows</a:t>
            </a:r>
            <a:endParaRPr/>
          </a:p>
        </p:txBody>
      </p:sp>
      <p:sp>
        <p:nvSpPr>
          <p:cNvPr id="301" name="Google Shape;301;p49"/>
          <p:cNvSpPr txBox="1"/>
          <p:nvPr/>
        </p:nvSpPr>
        <p:spPr>
          <a:xfrm>
            <a:off x="729450" y="707875"/>
            <a:ext cx="8150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Rappresenta il </a:t>
            </a:r>
            <a:r>
              <a:rPr b="1" lang="it" sz="1800">
                <a:solidFill>
                  <a:srgbClr val="0000FF"/>
                </a:solidFill>
              </a:rPr>
              <a:t>numero di righe</a:t>
            </a:r>
            <a:r>
              <a:rPr lang="it" sz="1800"/>
              <a:t> nel risultato di una query SELECT restituito da un oggetto </a:t>
            </a:r>
            <a:r>
              <a:rPr b="1" lang="it" sz="1800"/>
              <a:t>mysqli_result</a:t>
            </a:r>
            <a:r>
              <a:rPr lang="it" sz="1800"/>
              <a:t>.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CRUD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844900" y="115300"/>
            <a:ext cx="85287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Inserimento di record</a:t>
            </a:r>
            <a:endParaRPr/>
          </a:p>
        </p:txBody>
      </p:sp>
      <p:sp>
        <p:nvSpPr>
          <p:cNvPr id="312" name="Google Shape;312;p51"/>
          <p:cNvSpPr txBox="1"/>
          <p:nvPr/>
        </p:nvSpPr>
        <p:spPr>
          <a:xfrm>
            <a:off x="844900" y="724650"/>
            <a:ext cx="8077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it" sz="1600" u="sng"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it" sz="1600" u="sng">
                <a:latin typeface="Roboto"/>
                <a:ea typeface="Roboto"/>
                <a:cs typeface="Roboto"/>
                <a:sym typeface="Roboto"/>
              </a:rPr>
              <a:t>er aggiungere nuovi record</a:t>
            </a:r>
            <a:r>
              <a:rPr lang="it" sz="1600">
                <a:latin typeface="Roboto"/>
                <a:ea typeface="Roboto"/>
                <a:cs typeface="Roboto"/>
                <a:sym typeface="Roboto"/>
              </a:rPr>
              <a:t> in una tabella MySQL utilizziamo la stringa </a:t>
            </a:r>
            <a:r>
              <a:rPr b="1" lang="it" sz="1600">
                <a:latin typeface="Roboto"/>
                <a:ea typeface="Roboto"/>
                <a:cs typeface="Roboto"/>
                <a:sym typeface="Roboto"/>
              </a:rPr>
              <a:t>$sql</a:t>
            </a:r>
            <a:r>
              <a:rPr lang="it" sz="1600">
                <a:latin typeface="Roboto"/>
                <a:ea typeface="Roboto"/>
                <a:cs typeface="Roboto"/>
                <a:sym typeface="Roboto"/>
              </a:rPr>
              <a:t>, che contiene il comando SQL necessario per inserire record, rappresentato da INSERT.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it" sz="1600">
                <a:latin typeface="Roboto"/>
                <a:ea typeface="Roboto"/>
                <a:cs typeface="Roboto"/>
                <a:sym typeface="Roboto"/>
              </a:rPr>
              <a:t>In questo caso, i valori posti tra parentesi nella clausola </a:t>
            </a:r>
            <a:r>
              <a:rPr b="1" lang="it" sz="1600">
                <a:latin typeface="Roboto"/>
                <a:ea typeface="Roboto"/>
                <a:cs typeface="Roboto"/>
                <a:sym typeface="Roboto"/>
              </a:rPr>
              <a:t>VALUES </a:t>
            </a:r>
            <a:r>
              <a:rPr lang="it" sz="1600">
                <a:latin typeface="Roboto"/>
                <a:ea typeface="Roboto"/>
                <a:cs typeface="Roboto"/>
                <a:sym typeface="Roboto"/>
              </a:rPr>
              <a:t>devono essere sostituiti dalle variabili del programma,come indicato nel codice di esempio seguente: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5" y="2571750"/>
            <a:ext cx="8776199" cy="8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1"/>
          <p:cNvSpPr txBox="1"/>
          <p:nvPr/>
        </p:nvSpPr>
        <p:spPr>
          <a:xfrm>
            <a:off x="970275" y="3524475"/>
            <a:ext cx="7690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it" sz="1600">
                <a:latin typeface="Roboto"/>
                <a:ea typeface="Roboto"/>
                <a:cs typeface="Roboto"/>
                <a:sym typeface="Roboto"/>
              </a:rPr>
              <a:t>La stringa viene poi passata come parametro al </a:t>
            </a:r>
            <a:r>
              <a:rPr b="1" lang="it" sz="1600">
                <a:latin typeface="Roboto"/>
                <a:ea typeface="Roboto"/>
                <a:cs typeface="Roboto"/>
                <a:sym typeface="Roboto"/>
              </a:rPr>
              <a:t>metodo query()</a:t>
            </a:r>
            <a:r>
              <a:rPr lang="it" sz="1600">
                <a:latin typeface="Roboto"/>
                <a:ea typeface="Roboto"/>
                <a:cs typeface="Roboto"/>
                <a:sym typeface="Roboto"/>
              </a:rPr>
              <a:t> per essere processata dal database. È necessario porre molta attenzione alla creazione di questa query in quanto </a:t>
            </a:r>
            <a:r>
              <a:rPr lang="it" sz="16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i valori dei campi testuali dovranno essere racchiusi tra singoli apici</a:t>
            </a:r>
            <a:r>
              <a:rPr lang="it" sz="1600">
                <a:latin typeface="Roboto"/>
                <a:ea typeface="Roboto"/>
                <a:cs typeface="Roboto"/>
                <a:sym typeface="Roboto"/>
              </a:rPr>
              <a:t>, mentre quelli dei campi numerici no.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838100" y="115300"/>
            <a:ext cx="85287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Aggiornamento dati in una tabella</a:t>
            </a:r>
            <a:endParaRPr/>
          </a:p>
        </p:txBody>
      </p:sp>
      <p:sp>
        <p:nvSpPr>
          <p:cNvPr id="320" name="Google Shape;320;p52"/>
          <p:cNvSpPr txBox="1"/>
          <p:nvPr/>
        </p:nvSpPr>
        <p:spPr>
          <a:xfrm>
            <a:off x="838100" y="843925"/>
            <a:ext cx="791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Anche in questo caso utilizziamo la stringa di comando SQL per effettuare l’aggiornamento di un record mediante il comando </a:t>
            </a:r>
            <a:r>
              <a:rPr b="1" lang="it" sz="1800"/>
              <a:t>SQL UPDATE</a:t>
            </a:r>
            <a:r>
              <a:rPr lang="it" sz="1800"/>
              <a:t> la cui sintassi è:</a:t>
            </a:r>
            <a:endParaRPr sz="1800"/>
          </a:p>
        </p:txBody>
      </p:sp>
      <p:pic>
        <p:nvPicPr>
          <p:cNvPr id="321" name="Google Shape;3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00" y="2380475"/>
            <a:ext cx="8839199" cy="71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/>
          <p:nvPr>
            <p:ph type="title"/>
          </p:nvPr>
        </p:nvSpPr>
        <p:spPr>
          <a:xfrm>
            <a:off x="838100" y="115300"/>
            <a:ext cx="85287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Cancellazione di un record</a:t>
            </a:r>
            <a:endParaRPr/>
          </a:p>
        </p:txBody>
      </p:sp>
      <p:sp>
        <p:nvSpPr>
          <p:cNvPr id="327" name="Google Shape;327;p53"/>
          <p:cNvSpPr txBox="1"/>
          <p:nvPr/>
        </p:nvSpPr>
        <p:spPr>
          <a:xfrm>
            <a:off x="838100" y="843925"/>
            <a:ext cx="7915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La cancellazione dei record avviene per mezzo del comando SQL DELETE. Potremmo sintetizzare in questo modo la sintassi utilizzata:</a:t>
            </a:r>
            <a:endParaRPr sz="1800"/>
          </a:p>
        </p:txBody>
      </p:sp>
      <p:pic>
        <p:nvPicPr>
          <p:cNvPr id="328" name="Google Shape;32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75" y="1866700"/>
            <a:ext cx="85058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Ottimizzazioni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39" name="Google Shape;339;p55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L'utilizzo di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PHP è una pratica comune quando si interagisce con i database, in particolare per eseguire query SQL.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L'approccio di utilizzare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PHP per eseguire query SQL offre diversi vantaggi in termini di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sicurezza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prestazioni.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Prevenzione degli attacchi SQL injection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utilizzando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prepare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bind_param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è possibile</a:t>
            </a:r>
            <a:r>
              <a:rPr b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separare i dati dalle istruzioni SQL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Ciò riduce significativamente il rischio di attacchi SQL injection, in quanto i parametri vengono trattati separatamente dalle query SQL e non possono essere interpretati come parte dell'istruzione SQL.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6" name="Google Shape;34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938" y="3366150"/>
            <a:ext cx="30575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6"/>
          <p:cNvSpPr txBox="1"/>
          <p:nvPr/>
        </p:nvSpPr>
        <p:spPr>
          <a:xfrm>
            <a:off x="45775" y="3491475"/>
            <a:ext cx="44133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❖"/>
            </a:pPr>
            <a:r>
              <a:rPr lang="it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Parametri disassociati dalla query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53" name="Google Shape;353;p57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 startAt="2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Prestazioni ottimizzate: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preparazione di una query consente al database di ottimizzare l'esecuzione, poiché può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memorizzare in cache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il codice che riguarda le istruzioni da eseguire.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può portare ad un miglioramento delle prestazioni quando la stessa query viene eseguita più volte con parametri diversi.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 startAt="3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Leggibilità del codice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l'utilizzo di un segnaposto nella query rende il codice più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leggibile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in quanto </a:t>
            </a:r>
            <a:r>
              <a:rPr b="1" lang="it" sz="2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separa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chiaramente la struttura della query dai dati.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facilita la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manutenzione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 codice e la </a:t>
            </a:r>
            <a:r>
              <a:rPr b="1" lang="it" sz="20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comprensione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della logica delle query.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65" name="Google Shape;365;p59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 startAt="4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Gestione sicura dei tipi di dati: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utilizzando bind_param, è possibile specificare il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tipo di dati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 ciascun parametro, garantendo che i dati siano trattati </a:t>
            </a:r>
            <a:r>
              <a:rPr b="1" lang="it" sz="2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correttamente dal database. </a:t>
            </a:r>
            <a:endParaRPr b="1" sz="20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aiuta a prevenire errori di tipo e contribuisce alla sicurezza complessiva dell'applicazione.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Metodi Prepare e Bind_Param</a:t>
            </a:r>
            <a:endParaRPr/>
          </a:p>
        </p:txBody>
      </p:sp>
      <p:sp>
        <p:nvSpPr>
          <p:cNvPr id="371" name="Google Shape;371;p60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 startAt="5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Compatibilità con diverse tipologie di database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questo approccio è compatibile con vari tipi di database supportati da PHP, consentendo una certa flessibilità nell'utilizzo del codice con sistemi di gestione di database diversi.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1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usare i due metodi</a:t>
            </a:r>
            <a:endParaRPr/>
          </a:p>
        </p:txBody>
      </p:sp>
      <p:sp>
        <p:nvSpPr>
          <p:cNvPr id="377" name="Google Shape;377;p61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Il metodo prepare viene utilizzato per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preparare una query SQL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prima dell'esecuzione. Quando si prepara una query, il sistema di gestione del database (DBMS) </a:t>
            </a:r>
            <a:r>
              <a:rPr b="1" lang="it" sz="2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analizza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ottimizza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l'istruzione SQL, creando un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piano di esecuzione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preparazione è utile per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migliorare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 prestazioni quando si eseguono query </a:t>
            </a:r>
            <a:r>
              <a:rPr b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più volte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in quanto consente al DBMS di memorizzare in cache il piano di esecuzione.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usare i due metodi</a:t>
            </a:r>
            <a:endParaRPr/>
          </a:p>
        </p:txBody>
      </p:sp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 startAt="2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bind_param: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dopo aver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preparato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query, è necessario </a:t>
            </a:r>
            <a:r>
              <a:rPr b="1" lang="it" sz="2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associare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valori ai segnaposto nella query stessa.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viene fatto utilizzando il metodo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bind_param.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 associa le </a:t>
            </a:r>
            <a:r>
              <a:rPr b="1" lang="it" sz="20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variabili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</a:t>
            </a:r>
            <a:r>
              <a:rPr b="1" lang="it" sz="20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segnaposto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nella query e specifica i tipi di dati di ciascuna variabile.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passo è fondamentale per garantire la corretta gestione dei dati e prevenire attacchi di tipo </a:t>
            </a:r>
            <a:r>
              <a:rPr b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SQL injection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3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Prepare</a:t>
            </a:r>
            <a:endParaRPr/>
          </a:p>
        </p:txBody>
      </p:sp>
      <p:sp>
        <p:nvSpPr>
          <p:cNvPr id="389" name="Google Shape;389;p63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funzione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è utilizzata per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preparare una query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SQL per l'esecuzione.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preparazione di una query consente al sistema di gestione del database (DBMS) di </a:t>
            </a:r>
            <a:r>
              <a:rPr b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analizzare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ottimizzare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l'istruzione SQL, creando un </a:t>
            </a:r>
            <a:r>
              <a:rPr b="1" lang="it" sz="2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piano di esecuzione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processo può migliorare le prestazioni quando la stessa query viene eseguita più volte, in quanto il piano di esecuzione può essere memorizzato in cache.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Prepare → parametri</a:t>
            </a:r>
            <a:endParaRPr/>
          </a:p>
        </p:txBody>
      </p:sp>
      <p:sp>
        <p:nvSpPr>
          <p:cNvPr id="395" name="Google Shape;395;p64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Query (stringa)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la query SQL da preparare. Può contenere segnaposto per i parametri, che verranno successivamente associati utilizzando il metodo bind_param.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Connessione al database (oggetto mysqli)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l'oggetto di connessione al database restituito da mysqli_connect o mysqli_init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5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Prepare → valori di ritorno</a:t>
            </a:r>
            <a:endParaRPr/>
          </a:p>
        </p:txBody>
      </p:sp>
      <p:sp>
        <p:nvSpPr>
          <p:cNvPr id="401" name="Google Shape;401;p65"/>
          <p:cNvSpPr txBox="1"/>
          <p:nvPr>
            <p:ph idx="1" type="body"/>
          </p:nvPr>
        </p:nvSpPr>
        <p:spPr>
          <a:xfrm>
            <a:off x="311700" y="67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funzione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restituisce un oggetto di tipo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mysqli_stmt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(oggetto statement).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Questo oggetto rappresenta la </a:t>
            </a:r>
            <a:r>
              <a:rPr b="1" lang="it" sz="2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query SQL preparata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 può essere utilizzato per associare i parametri e eseguire la query in modo sicuro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2" name="Google Shape;40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475" y="2571750"/>
            <a:ext cx="725805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MySQli - statement</a:t>
            </a:r>
            <a:endParaRPr/>
          </a:p>
        </p:txBody>
      </p:sp>
      <p:pic>
        <p:nvPicPr>
          <p:cNvPr id="408" name="Google Shape;40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50" y="51050"/>
            <a:ext cx="5329475" cy="504139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6"/>
          <p:cNvSpPr txBox="1"/>
          <p:nvPr/>
        </p:nvSpPr>
        <p:spPr>
          <a:xfrm>
            <a:off x="5763800" y="127525"/>
            <a:ext cx="31596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MySqli statement contiene proprietà e funzioni tra cui </a:t>
            </a:r>
            <a:r>
              <a:rPr b="1" lang="it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execute()</a:t>
            </a:r>
            <a:endParaRPr b="1"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 Bind_param → descrizione</a:t>
            </a:r>
            <a:endParaRPr/>
          </a:p>
        </p:txBody>
      </p:sp>
      <p:sp>
        <p:nvSpPr>
          <p:cNvPr id="415" name="Google Shape;415;p67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simboli “?” sono utilizzati al posto dei valori veri e propri;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funzione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bind_param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è utilizzata per sostituire ai segnaposto identificati dal simbolo “?” i valori veri e propri.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0" y="2527188"/>
            <a:ext cx="822007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8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 Bind_param → parametri</a:t>
            </a:r>
            <a:endParaRPr/>
          </a:p>
        </p:txBody>
      </p:sp>
      <p:sp>
        <p:nvSpPr>
          <p:cNvPr id="422" name="Google Shape;422;p68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Tipi di dati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(stringa): una stringa che specifica i tipi di dati dei parametri. Può includere i seguenti caratteri: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➢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": Stringa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➢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": Intero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➢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": Numero a virgola mobile (double)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➢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": Blob (dati binari)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Parametri (variabili miste)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gli argomenti successivi sono le variabili da associare ai segnaposto nella query. Il numero e il tipo di parametri devono corrispondere alla stringa dei tipi di dati.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9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 Bind_param → valori di ritorno</a:t>
            </a:r>
            <a:endParaRPr/>
          </a:p>
        </p:txBody>
      </p:sp>
      <p:sp>
        <p:nvSpPr>
          <p:cNvPr id="428" name="Google Shape;428;p69"/>
          <p:cNvSpPr txBox="1"/>
          <p:nvPr>
            <p:ph idx="1" type="body"/>
          </p:nvPr>
        </p:nvSpPr>
        <p:spPr>
          <a:xfrm>
            <a:off x="311700" y="8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funzione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execute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è un metodo della classe mysqli_stmt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Esegue una istruzione SQL precedentemente preparata. 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L'istruzione deve essere preparata prima dell'esecuzione, utilizzando la funzione mysqli_prepare().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Restituisce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true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l'associazione dei parametri è avvenuta con successo.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❖"/>
            </a:pP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Restituisce </a:t>
            </a:r>
            <a:r>
              <a:rPr b="1"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false </a:t>
            </a:r>
            <a:r>
              <a:rPr lang="it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caso di errore.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 Bind_param → valori di ritorno</a:t>
            </a:r>
            <a:endParaRPr/>
          </a:p>
        </p:txBody>
      </p:sp>
      <p:pic>
        <p:nvPicPr>
          <p:cNvPr id="434" name="Google Shape;43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00" y="655400"/>
            <a:ext cx="5583895" cy="415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1"/>
          <p:cNvSpPr txBox="1"/>
          <p:nvPr>
            <p:ph type="title"/>
          </p:nvPr>
        </p:nvSpPr>
        <p:spPr>
          <a:xfrm>
            <a:off x="311700" y="63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  Bind_param → valori di ritorno</a:t>
            </a:r>
            <a:endParaRPr/>
          </a:p>
        </p:txBody>
      </p:sp>
      <p:pic>
        <p:nvPicPr>
          <p:cNvPr id="440" name="Google Shape;44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50" y="768675"/>
            <a:ext cx="5100579" cy="415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